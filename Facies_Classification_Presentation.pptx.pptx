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Calibri (MS)" panose="020B0604020202020204" charset="0"/>
      <p:regular r:id="rId21"/>
    </p:embeddedFont>
    <p:embeddedFont>
      <p:font typeface="Calibri (MS) Bold" panose="020B0604020202020204" charset="0"/>
      <p:regular r:id="rId22"/>
    </p:embeddedFont>
    <p:embeddedFont>
      <p:font typeface="Calibri (MS) Italics" panose="020B0604020202020204" charset="0"/>
      <p:regular r:id="rId23"/>
    </p:embeddedFont>
    <p:embeddedFont>
      <p:font typeface="Consolas" panose="020B0609020204030204" pitchFamily="49" charset="0"/>
      <p:regular r:id="rId24"/>
      <p:bold r:id="rId25"/>
      <p:italic r:id="rId26"/>
      <p:boldItalic r:id="rId27"/>
    </p:embeddedFont>
    <p:embeddedFont>
      <p:font typeface="Consolas Bold" panose="020B0709020204030204" pitchFamily="49" charset="0"/>
      <p:regular r:id="rId28"/>
      <p:bold r:id="rId29"/>
    </p:embeddedFont>
    <p:embeddedFont>
      <p:font typeface="Trebuchet MS" panose="020B0603020202020204" pitchFamily="34" charset="0"/>
      <p:regular r:id="rId30"/>
      <p:bold r:id="rId31"/>
      <p:italic r:id="rId32"/>
      <p:boldItalic r:id="rId33"/>
    </p:embeddedFont>
    <p:embeddedFont>
      <p:font typeface="Trebuchet MS Bold" panose="020B0703020202020204" pitchFamily="34" charset="0"/>
      <p:regular r:id="rId34"/>
      <p:bold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1" d="100"/>
          <a:sy n="41" d="100"/>
        </p:scale>
        <p:origin x="820" y="1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ableStyles" Target="tableStyle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537467" cy="10312403"/>
            <a:chOff x="0" y="0"/>
            <a:chExt cx="716623" cy="137498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6661" cy="13749910"/>
            </a:xfrm>
            <a:custGeom>
              <a:avLst/>
              <a:gdLst/>
              <a:ahLst/>
              <a:cxnLst/>
              <a:rect l="l" t="t" r="r" b="b"/>
              <a:pathLst>
                <a:path w="716661" h="13749910">
                  <a:moveTo>
                    <a:pt x="0" y="0"/>
                  </a:moveTo>
                  <a:lnTo>
                    <a:pt x="716661" y="0"/>
                  </a:lnTo>
                  <a:lnTo>
                    <a:pt x="71666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0B6E6E"/>
            </a:solid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2789537" y="1737360"/>
            <a:ext cx="13217486" cy="2011680"/>
            <a:chOff x="0" y="0"/>
            <a:chExt cx="17623315" cy="26822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623315" cy="2682240"/>
            </a:xfrm>
            <a:custGeom>
              <a:avLst/>
              <a:gdLst/>
              <a:ahLst/>
              <a:cxnLst/>
              <a:rect l="l" t="t" r="r" b="b"/>
              <a:pathLst>
                <a:path w="17623315" h="2682240">
                  <a:moveTo>
                    <a:pt x="0" y="0"/>
                  </a:moveTo>
                  <a:lnTo>
                    <a:pt x="17623315" y="0"/>
                  </a:lnTo>
                  <a:lnTo>
                    <a:pt x="17623315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r="-21758" b="-10588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7623315" cy="27012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120"/>
                </a:lnSpc>
              </a:pPr>
              <a:r>
                <a:rPr lang="en-US" sz="7600" b="1">
                  <a:solidFill>
                    <a:srgbClr val="00357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Well Log Facies Classification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05840" y="3749040"/>
            <a:ext cx="14996160" cy="1188720"/>
            <a:chOff x="0" y="0"/>
            <a:chExt cx="19994880" cy="15849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994880" cy="1584960"/>
            </a:xfrm>
            <a:custGeom>
              <a:avLst/>
              <a:gdLst/>
              <a:ahLst/>
              <a:cxnLst/>
              <a:rect l="l" t="t" r="r" b="b"/>
              <a:pathLst>
                <a:path w="19994880" h="1584960">
                  <a:moveTo>
                    <a:pt x="0" y="0"/>
                  </a:moveTo>
                  <a:lnTo>
                    <a:pt x="19994880" y="0"/>
                  </a:lnTo>
                  <a:lnTo>
                    <a:pt x="1999488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9994880" cy="1651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i="1">
                  <a:solidFill>
                    <a:srgbClr val="00357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Lithology Prediction in Sandy-Shaly Basins using Machine Learning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86790" y="5138166"/>
            <a:ext cx="16131540" cy="38100"/>
            <a:chOff x="0" y="0"/>
            <a:chExt cx="21508720" cy="50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508720" cy="50800"/>
            </a:xfrm>
            <a:custGeom>
              <a:avLst/>
              <a:gdLst/>
              <a:ahLst/>
              <a:cxnLst/>
              <a:rect l="l" t="t" r="r" b="b"/>
              <a:pathLst>
                <a:path w="21508720" h="50800">
                  <a:moveTo>
                    <a:pt x="0" y="0"/>
                  </a:moveTo>
                  <a:lnTo>
                    <a:pt x="2150872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8199965" b="-8199965"/>
              </a:stretch>
            </a:blipFill>
            <a:ln w="381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005840" y="5577840"/>
            <a:ext cx="2926080" cy="658368"/>
            <a:chOff x="0" y="0"/>
            <a:chExt cx="3901440" cy="87782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901440" cy="877824"/>
            </a:xfrm>
            <a:custGeom>
              <a:avLst/>
              <a:gdLst/>
              <a:ahLst/>
              <a:cxnLst/>
              <a:rect l="l" t="t" r="r" b="b"/>
              <a:pathLst>
                <a:path w="3901440" h="877824">
                  <a:moveTo>
                    <a:pt x="0" y="0"/>
                  </a:moveTo>
                  <a:lnTo>
                    <a:pt x="3901440" y="0"/>
                  </a:lnTo>
                  <a:lnTo>
                    <a:pt x="39014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600" b="-3660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90144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E8A7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023360" y="5577840"/>
            <a:ext cx="13167360" cy="658368"/>
            <a:chOff x="0" y="0"/>
            <a:chExt cx="17556480" cy="87782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556480" cy="877824"/>
            </a:xfrm>
            <a:custGeom>
              <a:avLst/>
              <a:gdLst/>
              <a:ahLst/>
              <a:cxnLst/>
              <a:rect l="l" t="t" r="r" b="b"/>
              <a:pathLst>
                <a:path w="17556480" h="877824">
                  <a:moveTo>
                    <a:pt x="0" y="0"/>
                  </a:moveTo>
                  <a:lnTo>
                    <a:pt x="17556480" y="0"/>
                  </a:lnTo>
                  <a:lnTo>
                    <a:pt x="175564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755648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35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Sameer Modi  ·  B.Tech 2nd Year, Geological Technology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05840" y="6327648"/>
            <a:ext cx="2926080" cy="658368"/>
            <a:chOff x="0" y="0"/>
            <a:chExt cx="3901440" cy="87782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901440" cy="877824"/>
            </a:xfrm>
            <a:custGeom>
              <a:avLst/>
              <a:gdLst/>
              <a:ahLst/>
              <a:cxnLst/>
              <a:rect l="l" t="t" r="r" b="b"/>
              <a:pathLst>
                <a:path w="3901440" h="877824">
                  <a:moveTo>
                    <a:pt x="0" y="0"/>
                  </a:moveTo>
                  <a:lnTo>
                    <a:pt x="3901440" y="0"/>
                  </a:lnTo>
                  <a:lnTo>
                    <a:pt x="39014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600" b="-36600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90144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E8A7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Roll No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023360" y="6327648"/>
            <a:ext cx="13167360" cy="658368"/>
            <a:chOff x="0" y="0"/>
            <a:chExt cx="17556480" cy="87782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7556480" cy="877824"/>
            </a:xfrm>
            <a:custGeom>
              <a:avLst/>
              <a:gdLst/>
              <a:ahLst/>
              <a:cxnLst/>
              <a:rect l="l" t="t" r="r" b="b"/>
              <a:pathLst>
                <a:path w="17556480" h="877824">
                  <a:moveTo>
                    <a:pt x="0" y="0"/>
                  </a:moveTo>
                  <a:lnTo>
                    <a:pt x="17556480" y="0"/>
                  </a:lnTo>
                  <a:lnTo>
                    <a:pt x="175564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755648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35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23410030 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05840" y="7077456"/>
            <a:ext cx="2926080" cy="658368"/>
            <a:chOff x="0" y="0"/>
            <a:chExt cx="3901440" cy="87782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901440" cy="877824"/>
            </a:xfrm>
            <a:custGeom>
              <a:avLst/>
              <a:gdLst/>
              <a:ahLst/>
              <a:cxnLst/>
              <a:rect l="l" t="t" r="r" b="b"/>
              <a:pathLst>
                <a:path w="3901440" h="877824">
                  <a:moveTo>
                    <a:pt x="0" y="0"/>
                  </a:moveTo>
                  <a:lnTo>
                    <a:pt x="3901440" y="0"/>
                  </a:lnTo>
                  <a:lnTo>
                    <a:pt x="39014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600" b="-36600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390144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E8A7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Supervisor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023360" y="7186041"/>
            <a:ext cx="13167360" cy="549783"/>
            <a:chOff x="0" y="0"/>
            <a:chExt cx="17556480" cy="73304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7556480" cy="733044"/>
            </a:xfrm>
            <a:custGeom>
              <a:avLst/>
              <a:gdLst/>
              <a:ahLst/>
              <a:cxnLst/>
              <a:rect l="l" t="t" r="r" b="b"/>
              <a:pathLst>
                <a:path w="17556480" h="733044">
                  <a:moveTo>
                    <a:pt x="0" y="0"/>
                  </a:moveTo>
                  <a:lnTo>
                    <a:pt x="17556480" y="0"/>
                  </a:lnTo>
                  <a:lnTo>
                    <a:pt x="17556480" y="733044"/>
                  </a:lnTo>
                  <a:lnTo>
                    <a:pt x="0" y="7330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6793" b="-426543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7556480" cy="7711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35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Prof. Ravi Sharma  ·  Dept. of Earth Sciences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28700" y="8599932"/>
            <a:ext cx="2926080" cy="658368"/>
            <a:chOff x="0" y="0"/>
            <a:chExt cx="3901440" cy="87782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901440" cy="877824"/>
            </a:xfrm>
            <a:custGeom>
              <a:avLst/>
              <a:gdLst/>
              <a:ahLst/>
              <a:cxnLst/>
              <a:rect l="l" t="t" r="r" b="b"/>
              <a:pathLst>
                <a:path w="3901440" h="877824">
                  <a:moveTo>
                    <a:pt x="0" y="0"/>
                  </a:moveTo>
                  <a:lnTo>
                    <a:pt x="3901440" y="0"/>
                  </a:lnTo>
                  <a:lnTo>
                    <a:pt x="39014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600" b="-36600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90144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E8A7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Organization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954780" y="8665464"/>
            <a:ext cx="13167360" cy="658368"/>
            <a:chOff x="0" y="0"/>
            <a:chExt cx="17556480" cy="87782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7556480" cy="877824"/>
            </a:xfrm>
            <a:custGeom>
              <a:avLst/>
              <a:gdLst/>
              <a:ahLst/>
              <a:cxnLst/>
              <a:rect l="l" t="t" r="r" b="b"/>
              <a:pathLst>
                <a:path w="17556480" h="877824">
                  <a:moveTo>
                    <a:pt x="0" y="0"/>
                  </a:moveTo>
                  <a:lnTo>
                    <a:pt x="17556480" y="0"/>
                  </a:lnTo>
                  <a:lnTo>
                    <a:pt x="175564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755648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35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Rock &amp; Fluid Multiphysics Lab  ·  IIT Roorkee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05840" y="9401175"/>
            <a:ext cx="2926080" cy="658368"/>
            <a:chOff x="0" y="0"/>
            <a:chExt cx="3901440" cy="87782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901440" cy="877824"/>
            </a:xfrm>
            <a:custGeom>
              <a:avLst/>
              <a:gdLst/>
              <a:ahLst/>
              <a:cxnLst/>
              <a:rect l="l" t="t" r="r" b="b"/>
              <a:pathLst>
                <a:path w="3901440" h="877824">
                  <a:moveTo>
                    <a:pt x="0" y="0"/>
                  </a:moveTo>
                  <a:lnTo>
                    <a:pt x="3901440" y="0"/>
                  </a:lnTo>
                  <a:lnTo>
                    <a:pt x="39014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600" b="-36600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390144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E8A7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Date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912870" y="9390507"/>
            <a:ext cx="13167360" cy="658368"/>
            <a:chOff x="0" y="0"/>
            <a:chExt cx="17556480" cy="87782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7556480" cy="877824"/>
            </a:xfrm>
            <a:custGeom>
              <a:avLst/>
              <a:gdLst/>
              <a:ahLst/>
              <a:cxnLst/>
              <a:rect l="l" t="t" r="r" b="b"/>
              <a:pathLst>
                <a:path w="17556480" h="877824">
                  <a:moveTo>
                    <a:pt x="0" y="0"/>
                  </a:moveTo>
                  <a:lnTo>
                    <a:pt x="17556480" y="0"/>
                  </a:lnTo>
                  <a:lnTo>
                    <a:pt x="175564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1755648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35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June 2025</a:t>
              </a:r>
            </a:p>
          </p:txBody>
        </p:sp>
      </p:grpSp>
      <p:sp>
        <p:nvSpPr>
          <p:cNvPr id="42" name="Freeform 42"/>
          <p:cNvSpPr/>
          <p:nvPr/>
        </p:nvSpPr>
        <p:spPr>
          <a:xfrm>
            <a:off x="1028700" y="276205"/>
            <a:ext cx="1760837" cy="1504989"/>
          </a:xfrm>
          <a:custGeom>
            <a:avLst/>
            <a:gdLst/>
            <a:ahLst/>
            <a:cxnLst/>
            <a:rect l="l" t="t" r="r" b="b"/>
            <a:pathLst>
              <a:path w="1760837" h="1504989">
                <a:moveTo>
                  <a:pt x="0" y="0"/>
                </a:moveTo>
                <a:lnTo>
                  <a:pt x="1760837" y="0"/>
                </a:lnTo>
                <a:lnTo>
                  <a:pt x="1760837" y="1504990"/>
                </a:lnTo>
                <a:lnTo>
                  <a:pt x="0" y="15049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5562094" y="197924"/>
            <a:ext cx="2160466" cy="2160466"/>
          </a:xfrm>
          <a:custGeom>
            <a:avLst/>
            <a:gdLst/>
            <a:ahLst/>
            <a:cxnLst/>
            <a:rect l="l" t="t" r="r" b="b"/>
            <a:pathLst>
              <a:path w="2160466" h="2160466">
                <a:moveTo>
                  <a:pt x="0" y="0"/>
                </a:moveTo>
                <a:lnTo>
                  <a:pt x="2160466" y="0"/>
                </a:lnTo>
                <a:lnTo>
                  <a:pt x="2160466" y="2160466"/>
                </a:lnTo>
                <a:lnTo>
                  <a:pt x="0" y="21604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986790" y="7874889"/>
            <a:ext cx="2926080" cy="658368"/>
            <a:chOff x="0" y="0"/>
            <a:chExt cx="3901440" cy="87782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901440" cy="877824"/>
            </a:xfrm>
            <a:custGeom>
              <a:avLst/>
              <a:gdLst/>
              <a:ahLst/>
              <a:cxnLst/>
              <a:rect l="l" t="t" r="r" b="b"/>
              <a:pathLst>
                <a:path w="3901440" h="877824">
                  <a:moveTo>
                    <a:pt x="0" y="0"/>
                  </a:moveTo>
                  <a:lnTo>
                    <a:pt x="3901440" y="0"/>
                  </a:lnTo>
                  <a:lnTo>
                    <a:pt x="39014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600" b="-36600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3901440" cy="9159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E8A7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Mentor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023360" y="7935849"/>
            <a:ext cx="13167360" cy="597408"/>
            <a:chOff x="0" y="0"/>
            <a:chExt cx="17556480" cy="79654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7556480" cy="796544"/>
            </a:xfrm>
            <a:custGeom>
              <a:avLst/>
              <a:gdLst/>
              <a:ahLst/>
              <a:cxnLst/>
              <a:rect l="l" t="t" r="r" b="b"/>
              <a:pathLst>
                <a:path w="17556480" h="796544">
                  <a:moveTo>
                    <a:pt x="0" y="0"/>
                  </a:moveTo>
                  <a:lnTo>
                    <a:pt x="17556480" y="0"/>
                  </a:lnTo>
                  <a:lnTo>
                    <a:pt x="17556480" y="796544"/>
                  </a:lnTo>
                  <a:lnTo>
                    <a:pt x="0" y="7965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364" b="-384568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17556480" cy="8346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35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Varun Dev Jamwal · Dept. of Earth Sciences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329184"/>
            <a:ext cx="16459200" cy="1188720"/>
            <a:chOff x="0" y="0"/>
            <a:chExt cx="21945600" cy="1584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84960"/>
            </a:xfrm>
            <a:custGeom>
              <a:avLst/>
              <a:gdLst/>
              <a:ahLst/>
              <a:cxnLst/>
              <a:rect l="l" t="t" r="r" b="b"/>
              <a:pathLst>
                <a:path w="21945600" h="158496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792" b="-21979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94560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Project Objectives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578359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79510" cy="33909"/>
            </a:xfrm>
            <a:custGeom>
              <a:avLst/>
              <a:gdLst/>
              <a:ahLst/>
              <a:cxnLst/>
              <a:rect l="l" t="t" r="r" b="b"/>
              <a:pathLst>
                <a:path w="21979510" h="33909">
                  <a:moveTo>
                    <a:pt x="0" y="0"/>
                  </a:moveTo>
                  <a:lnTo>
                    <a:pt x="21979510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12580060" b="-12579948"/>
              </a:stretch>
            </a:blip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718823" y="1816103"/>
            <a:ext cx="16850363" cy="1945643"/>
            <a:chOff x="0" y="0"/>
            <a:chExt cx="22467151" cy="259419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67188" cy="2594229"/>
            </a:xfrm>
            <a:custGeom>
              <a:avLst/>
              <a:gdLst/>
              <a:ahLst/>
              <a:cxnLst/>
              <a:rect l="l" t="t" r="r" b="b"/>
              <a:pathLst>
                <a:path w="22467188" h="2594229">
                  <a:moveTo>
                    <a:pt x="0" y="0"/>
                  </a:moveTo>
                  <a:lnTo>
                    <a:pt x="22467188" y="0"/>
                  </a:lnTo>
                  <a:lnTo>
                    <a:pt x="22467188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D6F0EE"/>
            </a:solidFill>
            <a:ln w="25400" cap="sq">
              <a:solidFill>
                <a:srgbClr val="D6F0EE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18823" y="1816103"/>
            <a:ext cx="427739" cy="1945643"/>
            <a:chOff x="0" y="0"/>
            <a:chExt cx="570319" cy="259419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0357" cy="2594229"/>
            </a:xfrm>
            <a:custGeom>
              <a:avLst/>
              <a:gdLst/>
              <a:ahLst/>
              <a:cxnLst/>
              <a:rect l="l" t="t" r="r" b="b"/>
              <a:pathLst>
                <a:path w="570357" h="2594229">
                  <a:moveTo>
                    <a:pt x="0" y="0"/>
                  </a:moveTo>
                  <a:lnTo>
                    <a:pt x="570357" y="0"/>
                  </a:lnTo>
                  <a:lnTo>
                    <a:pt x="570357" y="2594229"/>
                  </a:lnTo>
                  <a:lnTo>
                    <a:pt x="0" y="2594229"/>
                  </a:lnTo>
                  <a:close/>
                </a:path>
              </a:pathLst>
            </a:custGeom>
            <a:solidFill>
              <a:srgbClr val="0B6E6E"/>
            </a:solid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371600" y="1920240"/>
            <a:ext cx="4572000" cy="548640"/>
            <a:chOff x="0" y="0"/>
            <a:chExt cx="6096000" cy="7315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096000" cy="731520"/>
            </a:xfrm>
            <a:custGeom>
              <a:avLst/>
              <a:gdLst/>
              <a:ahLst/>
              <a:cxnLst/>
              <a:rect l="l" t="t" r="r" b="b"/>
              <a:pathLst>
                <a:path w="6096000" h="73152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60960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300">
                  <a:solidFill>
                    <a:srgbClr val="0B6E6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PRIMARY OBJECTIVE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71600" y="2468880"/>
            <a:ext cx="15910560" cy="1060704"/>
            <a:chOff x="0" y="0"/>
            <a:chExt cx="21214080" cy="14142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214080" cy="1414272"/>
            </a:xfrm>
            <a:custGeom>
              <a:avLst/>
              <a:gdLst/>
              <a:ahLst/>
              <a:cxnLst/>
              <a:rect l="l" t="t" r="r" b="b"/>
              <a:pathLst>
                <a:path w="21214080" h="1414272">
                  <a:moveTo>
                    <a:pt x="0" y="0"/>
                  </a:moveTo>
                  <a:lnTo>
                    <a:pt x="21214080" y="0"/>
                  </a:lnTo>
                  <a:lnTo>
                    <a:pt x="212140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1214080" cy="14714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D21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Develop and evaluate ML models that classify 6 sedimentary facies from 6 wireline logs across 4 Gondwana Basin wells — with cross-well generalization (Leave-One-Well-Out validation).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4400" y="4023360"/>
            <a:ext cx="7315200" cy="548640"/>
            <a:chOff x="0" y="0"/>
            <a:chExt cx="9753600" cy="7315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753600" cy="731520"/>
            </a:xfrm>
            <a:custGeom>
              <a:avLst/>
              <a:gdLst/>
              <a:ahLst/>
              <a:cxnLst/>
              <a:rect l="l" t="t" r="r" b="b"/>
              <a:pathLst>
                <a:path w="9753600" h="73152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800" b="-20980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975360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300">
                  <a:solidFill>
                    <a:srgbClr val="0B6E6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SECONDARY OBJECTIVES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10263" y="4687319"/>
            <a:ext cx="354587" cy="354587"/>
            <a:chOff x="0" y="0"/>
            <a:chExt cx="472783" cy="47278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72821" cy="472821"/>
            </a:xfrm>
            <a:custGeom>
              <a:avLst/>
              <a:gdLst/>
              <a:ahLst/>
              <a:cxnLst/>
              <a:rect l="l" t="t" r="r" b="b"/>
              <a:pathLst>
                <a:path w="472821" h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0B6E6E"/>
            </a:solid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371600" y="4608576"/>
            <a:ext cx="16276320" cy="694944"/>
            <a:chOff x="0" y="0"/>
            <a:chExt cx="21701760" cy="92659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701761" cy="926592"/>
            </a:xfrm>
            <a:custGeom>
              <a:avLst/>
              <a:gdLst/>
              <a:ahLst/>
              <a:cxnLst/>
              <a:rect l="l" t="t" r="r" b="b"/>
              <a:pathLst>
                <a:path w="21701761" h="926592">
                  <a:moveTo>
                    <a:pt x="0" y="0"/>
                  </a:moveTo>
                  <a:lnTo>
                    <a:pt x="21701761" y="0"/>
                  </a:lnTo>
                  <a:lnTo>
                    <a:pt x="21701761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6360" b="-406360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2170176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 a rule-based lithology classifier mapping raw log descriptions to 6 standardised facies classes.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0263" y="5528567"/>
            <a:ext cx="354587" cy="354587"/>
            <a:chOff x="0" y="0"/>
            <a:chExt cx="472783" cy="47278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72821" cy="472821"/>
            </a:xfrm>
            <a:custGeom>
              <a:avLst/>
              <a:gdLst/>
              <a:ahLst/>
              <a:cxnLst/>
              <a:rect l="l" t="t" r="r" b="b"/>
              <a:pathLst>
                <a:path w="472821" h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0B6E6E"/>
            </a:solid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371600" y="5449824"/>
            <a:ext cx="16276320" cy="694944"/>
            <a:chOff x="0" y="0"/>
            <a:chExt cx="21701760" cy="92659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701761" cy="926592"/>
            </a:xfrm>
            <a:custGeom>
              <a:avLst/>
              <a:gdLst/>
              <a:ahLst/>
              <a:cxnLst/>
              <a:rect l="l" t="t" r="r" b="b"/>
              <a:pathLst>
                <a:path w="21701761" h="926592">
                  <a:moveTo>
                    <a:pt x="0" y="0"/>
                  </a:moveTo>
                  <a:lnTo>
                    <a:pt x="21701761" y="0"/>
                  </a:lnTo>
                  <a:lnTo>
                    <a:pt x="21701761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6360" b="-406360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2170176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Engineer 7 derived petrophysical features (log-ratios, products, anomaly indices) to improve model separability.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10263" y="6369815"/>
            <a:ext cx="354587" cy="354587"/>
            <a:chOff x="0" y="0"/>
            <a:chExt cx="472783" cy="47278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72821" cy="472821"/>
            </a:xfrm>
            <a:custGeom>
              <a:avLst/>
              <a:gdLst/>
              <a:ahLst/>
              <a:cxnLst/>
              <a:rect l="l" t="t" r="r" b="b"/>
              <a:pathLst>
                <a:path w="472821" h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0B6E6E"/>
            </a:solid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371600" y="6291072"/>
            <a:ext cx="16276320" cy="694944"/>
            <a:chOff x="0" y="0"/>
            <a:chExt cx="21701760" cy="92659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1701761" cy="926592"/>
            </a:xfrm>
            <a:custGeom>
              <a:avLst/>
              <a:gdLst/>
              <a:ahLst/>
              <a:cxnLst/>
              <a:rect l="l" t="t" r="r" b="b"/>
              <a:pathLst>
                <a:path w="21701761" h="926592">
                  <a:moveTo>
                    <a:pt x="0" y="0"/>
                  </a:moveTo>
                  <a:lnTo>
                    <a:pt x="21701761" y="0"/>
                  </a:lnTo>
                  <a:lnTo>
                    <a:pt x="21701761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6360" b="-406360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2170176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Evaluate 6 ML models (Random Forest, XGBoost, SVM×2, KNN, 1D CNN) under LOWO cross-validation.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10263" y="7211063"/>
            <a:ext cx="354587" cy="354587"/>
            <a:chOff x="0" y="0"/>
            <a:chExt cx="472783" cy="47278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72821" cy="472821"/>
            </a:xfrm>
            <a:custGeom>
              <a:avLst/>
              <a:gdLst/>
              <a:ahLst/>
              <a:cxnLst/>
              <a:rect l="l" t="t" r="r" b="b"/>
              <a:pathLst>
                <a:path w="472821" h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0B6E6E"/>
            </a:solid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371600" y="7132320"/>
            <a:ext cx="16276320" cy="694944"/>
            <a:chOff x="0" y="0"/>
            <a:chExt cx="21701760" cy="92659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701761" cy="926592"/>
            </a:xfrm>
            <a:custGeom>
              <a:avLst/>
              <a:gdLst/>
              <a:ahLst/>
              <a:cxnLst/>
              <a:rect l="l" t="t" r="r" b="b"/>
              <a:pathLst>
                <a:path w="21701761" h="926592">
                  <a:moveTo>
                    <a:pt x="0" y="0"/>
                  </a:moveTo>
                  <a:lnTo>
                    <a:pt x="21701761" y="0"/>
                  </a:lnTo>
                  <a:lnTo>
                    <a:pt x="21701761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6360" b="-406360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2170176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Identify the most discriminating well logs and derived features via feature importance analysis.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10263" y="8052311"/>
            <a:ext cx="354587" cy="354587"/>
            <a:chOff x="0" y="0"/>
            <a:chExt cx="472783" cy="47278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72821" cy="472821"/>
            </a:xfrm>
            <a:custGeom>
              <a:avLst/>
              <a:gdLst/>
              <a:ahLst/>
              <a:cxnLst/>
              <a:rect l="l" t="t" r="r" b="b"/>
              <a:pathLst>
                <a:path w="472821" h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0B6E6E"/>
            </a:solid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1371600" y="7970139"/>
            <a:ext cx="16276320" cy="694944"/>
            <a:chOff x="0" y="0"/>
            <a:chExt cx="21701760" cy="92659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1701761" cy="926592"/>
            </a:xfrm>
            <a:custGeom>
              <a:avLst/>
              <a:gdLst/>
              <a:ahLst/>
              <a:cxnLst/>
              <a:rect l="l" t="t" r="r" b="b"/>
              <a:pathLst>
                <a:path w="21701761" h="926592">
                  <a:moveTo>
                    <a:pt x="0" y="0"/>
                  </a:moveTo>
                  <a:lnTo>
                    <a:pt x="21701761" y="0"/>
                  </a:lnTo>
                  <a:lnTo>
                    <a:pt x="21701761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6360" b="-406360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2170176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Produce depth-track visualisations comparing actual vs. predicted facies for geological validation.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329184"/>
            <a:ext cx="16459200" cy="1188720"/>
            <a:chOff x="0" y="0"/>
            <a:chExt cx="21945600" cy="1584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84960"/>
            </a:xfrm>
            <a:custGeom>
              <a:avLst/>
              <a:gdLst/>
              <a:ahLst/>
              <a:cxnLst/>
              <a:rect l="l" t="t" r="r" b="b"/>
              <a:pathLst>
                <a:path w="21945600" h="158496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792" b="-21979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94560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Dataset Overview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578359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79510" cy="33909"/>
            </a:xfrm>
            <a:custGeom>
              <a:avLst/>
              <a:gdLst/>
              <a:ahLst/>
              <a:cxnLst/>
              <a:rect l="l" t="t" r="r" b="b"/>
              <a:pathLst>
                <a:path w="21979510" h="33909">
                  <a:moveTo>
                    <a:pt x="0" y="0"/>
                  </a:moveTo>
                  <a:lnTo>
                    <a:pt x="21979510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12580060" b="-12579948"/>
              </a:stretch>
            </a:blip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718823" y="1816103"/>
            <a:ext cx="3865883" cy="2311403"/>
            <a:chOff x="0" y="0"/>
            <a:chExt cx="5154511" cy="30818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154549" cy="3081909"/>
            </a:xfrm>
            <a:custGeom>
              <a:avLst/>
              <a:gdLst/>
              <a:ahLst/>
              <a:cxnLst/>
              <a:rect l="l" t="t" r="r" b="b"/>
              <a:pathLst>
                <a:path w="5154549" h="3081909">
                  <a:moveTo>
                    <a:pt x="0" y="0"/>
                  </a:moveTo>
                  <a:lnTo>
                    <a:pt x="5154549" y="0"/>
                  </a:lnTo>
                  <a:lnTo>
                    <a:pt x="5154549" y="3081909"/>
                  </a:lnTo>
                  <a:lnTo>
                    <a:pt x="0" y="3081909"/>
                  </a:lnTo>
                  <a:close/>
                </a:path>
              </a:pathLst>
            </a:custGeom>
            <a:solidFill>
              <a:srgbClr val="0D2137"/>
            </a:solidFill>
            <a:ln w="25400" cap="sq">
              <a:solidFill>
                <a:srgbClr val="536696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31520" y="2048256"/>
            <a:ext cx="3840480" cy="1005840"/>
            <a:chOff x="0" y="0"/>
            <a:chExt cx="5120640" cy="13411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120640" cy="1341120"/>
            </a:xfrm>
            <a:custGeom>
              <a:avLst/>
              <a:gdLst/>
              <a:ahLst/>
              <a:cxnLst/>
              <a:rect l="l" t="t" r="r" b="b"/>
              <a:pathLst>
                <a:path w="5120640" h="1341120">
                  <a:moveTo>
                    <a:pt x="0" y="0"/>
                  </a:moveTo>
                  <a:lnTo>
                    <a:pt x="5120640" y="0"/>
                  </a:lnTo>
                  <a:lnTo>
                    <a:pt x="51206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397" b="-24397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512064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680"/>
                </a:lnSpc>
              </a:pPr>
              <a:r>
                <a:rPr lang="en-US" sz="6400" b="1">
                  <a:solidFill>
                    <a:srgbClr val="14A89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4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31520" y="3054096"/>
            <a:ext cx="3840480" cy="512064"/>
            <a:chOff x="0" y="0"/>
            <a:chExt cx="5120640" cy="6827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120640" cy="682752"/>
            </a:xfrm>
            <a:custGeom>
              <a:avLst/>
              <a:gdLst/>
              <a:ahLst/>
              <a:cxnLst/>
              <a:rect l="l" t="t" r="r" b="b"/>
              <a:pathLst>
                <a:path w="5120640" h="682752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137" b="-96137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5120640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Wells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31520" y="3602736"/>
            <a:ext cx="3840480" cy="402336"/>
            <a:chOff x="0" y="0"/>
            <a:chExt cx="5120640" cy="53644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120640" cy="536448"/>
            </a:xfrm>
            <a:custGeom>
              <a:avLst/>
              <a:gdLst/>
              <a:ahLst/>
              <a:cxnLst/>
              <a:rect l="l" t="t" r="r" b="b"/>
              <a:pathLst>
                <a:path w="5120640" h="536448">
                  <a:moveTo>
                    <a:pt x="0" y="0"/>
                  </a:moveTo>
                  <a:lnTo>
                    <a:pt x="5120640" y="0"/>
                  </a:lnTo>
                  <a:lnTo>
                    <a:pt x="51206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993" b="-135993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1206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4A89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Gondwana Basin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61639" y="1816103"/>
            <a:ext cx="3865883" cy="2311403"/>
            <a:chOff x="0" y="0"/>
            <a:chExt cx="5154511" cy="308187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154549" cy="3081909"/>
            </a:xfrm>
            <a:custGeom>
              <a:avLst/>
              <a:gdLst/>
              <a:ahLst/>
              <a:cxnLst/>
              <a:rect l="l" t="t" r="r" b="b"/>
              <a:pathLst>
                <a:path w="5154549" h="3081909">
                  <a:moveTo>
                    <a:pt x="0" y="0"/>
                  </a:moveTo>
                  <a:lnTo>
                    <a:pt x="5154549" y="0"/>
                  </a:lnTo>
                  <a:lnTo>
                    <a:pt x="5154549" y="3081909"/>
                  </a:lnTo>
                  <a:lnTo>
                    <a:pt x="0" y="3081909"/>
                  </a:lnTo>
                  <a:close/>
                </a:path>
              </a:pathLst>
            </a:custGeom>
            <a:solidFill>
              <a:srgbClr val="0D2137"/>
            </a:solidFill>
            <a:ln w="25400" cap="sq">
              <a:solidFill>
                <a:srgbClr val="0D2137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4974336" y="2048256"/>
            <a:ext cx="3840480" cy="1005840"/>
            <a:chOff x="0" y="0"/>
            <a:chExt cx="5120640" cy="13411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120640" cy="1341120"/>
            </a:xfrm>
            <a:custGeom>
              <a:avLst/>
              <a:gdLst/>
              <a:ahLst/>
              <a:cxnLst/>
              <a:rect l="l" t="t" r="r" b="b"/>
              <a:pathLst>
                <a:path w="5120640" h="1341120">
                  <a:moveTo>
                    <a:pt x="0" y="0"/>
                  </a:moveTo>
                  <a:lnTo>
                    <a:pt x="5120640" y="0"/>
                  </a:lnTo>
                  <a:lnTo>
                    <a:pt x="51206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397" b="-2439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512064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680"/>
                </a:lnSpc>
              </a:pPr>
              <a:r>
                <a:rPr lang="en-US" sz="6400" b="1">
                  <a:solidFill>
                    <a:srgbClr val="14A89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162,829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974336" y="3054096"/>
            <a:ext cx="3840480" cy="512064"/>
            <a:chOff x="0" y="0"/>
            <a:chExt cx="5120640" cy="68275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120640" cy="682752"/>
            </a:xfrm>
            <a:custGeom>
              <a:avLst/>
              <a:gdLst/>
              <a:ahLst/>
              <a:cxnLst/>
              <a:rect l="l" t="t" r="r" b="b"/>
              <a:pathLst>
                <a:path w="5120640" h="682752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137" b="-96137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5120640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Log Samples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974336" y="3602736"/>
            <a:ext cx="3840480" cy="402336"/>
            <a:chOff x="0" y="0"/>
            <a:chExt cx="5120640" cy="53644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120640" cy="536448"/>
            </a:xfrm>
            <a:custGeom>
              <a:avLst/>
              <a:gdLst/>
              <a:ahLst/>
              <a:cxnLst/>
              <a:rect l="l" t="t" r="r" b="b"/>
              <a:pathLst>
                <a:path w="5120640" h="536448">
                  <a:moveTo>
                    <a:pt x="0" y="0"/>
                  </a:moveTo>
                  <a:lnTo>
                    <a:pt x="5120640" y="0"/>
                  </a:lnTo>
                  <a:lnTo>
                    <a:pt x="51206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993" b="-135993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1206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4A89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after cleaning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204455" y="1816103"/>
            <a:ext cx="3865883" cy="2311403"/>
            <a:chOff x="0" y="0"/>
            <a:chExt cx="5154511" cy="308187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154549" cy="3081909"/>
            </a:xfrm>
            <a:custGeom>
              <a:avLst/>
              <a:gdLst/>
              <a:ahLst/>
              <a:cxnLst/>
              <a:rect l="l" t="t" r="r" b="b"/>
              <a:pathLst>
                <a:path w="5154549" h="3081909">
                  <a:moveTo>
                    <a:pt x="0" y="0"/>
                  </a:moveTo>
                  <a:lnTo>
                    <a:pt x="5154549" y="0"/>
                  </a:lnTo>
                  <a:lnTo>
                    <a:pt x="5154549" y="3081909"/>
                  </a:lnTo>
                  <a:lnTo>
                    <a:pt x="0" y="3081909"/>
                  </a:lnTo>
                  <a:close/>
                </a:path>
              </a:pathLst>
            </a:custGeom>
            <a:solidFill>
              <a:srgbClr val="0D2137"/>
            </a:solidFill>
            <a:ln w="25400" cap="sq">
              <a:solidFill>
                <a:srgbClr val="0D2137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9217152" y="2048256"/>
            <a:ext cx="3840480" cy="1005840"/>
            <a:chOff x="0" y="0"/>
            <a:chExt cx="5120640" cy="134112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120640" cy="1341120"/>
            </a:xfrm>
            <a:custGeom>
              <a:avLst/>
              <a:gdLst/>
              <a:ahLst/>
              <a:cxnLst/>
              <a:rect l="l" t="t" r="r" b="b"/>
              <a:pathLst>
                <a:path w="5120640" h="1341120">
                  <a:moveTo>
                    <a:pt x="0" y="0"/>
                  </a:moveTo>
                  <a:lnTo>
                    <a:pt x="5120640" y="0"/>
                  </a:lnTo>
                  <a:lnTo>
                    <a:pt x="51206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397" b="-24397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512064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680"/>
                </a:lnSpc>
              </a:pPr>
              <a:r>
                <a:rPr lang="en-US" sz="6400" b="1">
                  <a:solidFill>
                    <a:srgbClr val="14A89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217152" y="3054096"/>
            <a:ext cx="3840480" cy="512064"/>
            <a:chOff x="0" y="0"/>
            <a:chExt cx="5120640" cy="68275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120640" cy="682752"/>
            </a:xfrm>
            <a:custGeom>
              <a:avLst/>
              <a:gdLst/>
              <a:ahLst/>
              <a:cxnLst/>
              <a:rect l="l" t="t" r="r" b="b"/>
              <a:pathLst>
                <a:path w="5120640" h="682752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137" b="-96137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5120640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Log Features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217152" y="3602736"/>
            <a:ext cx="3840480" cy="402336"/>
            <a:chOff x="0" y="0"/>
            <a:chExt cx="5120640" cy="53644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120640" cy="536448"/>
            </a:xfrm>
            <a:custGeom>
              <a:avLst/>
              <a:gdLst/>
              <a:ahLst/>
              <a:cxnLst/>
              <a:rect l="l" t="t" r="r" b="b"/>
              <a:pathLst>
                <a:path w="5120640" h="536448">
                  <a:moveTo>
                    <a:pt x="0" y="0"/>
                  </a:moveTo>
                  <a:lnTo>
                    <a:pt x="5120640" y="0"/>
                  </a:lnTo>
                  <a:lnTo>
                    <a:pt x="51206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993" b="-135993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51206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4A89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 inputs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447271" y="1816103"/>
            <a:ext cx="3865883" cy="2311403"/>
            <a:chOff x="0" y="0"/>
            <a:chExt cx="5154511" cy="308187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154549" cy="3081909"/>
            </a:xfrm>
            <a:custGeom>
              <a:avLst/>
              <a:gdLst/>
              <a:ahLst/>
              <a:cxnLst/>
              <a:rect l="l" t="t" r="r" b="b"/>
              <a:pathLst>
                <a:path w="5154549" h="3081909">
                  <a:moveTo>
                    <a:pt x="0" y="0"/>
                  </a:moveTo>
                  <a:lnTo>
                    <a:pt x="5154549" y="0"/>
                  </a:lnTo>
                  <a:lnTo>
                    <a:pt x="5154549" y="3081909"/>
                  </a:lnTo>
                  <a:lnTo>
                    <a:pt x="0" y="3081909"/>
                  </a:lnTo>
                  <a:close/>
                </a:path>
              </a:pathLst>
            </a:custGeom>
            <a:solidFill>
              <a:srgbClr val="0D2137"/>
            </a:solidFill>
            <a:ln w="25400" cap="sq">
              <a:solidFill>
                <a:srgbClr val="0D2137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13459968" y="2048256"/>
            <a:ext cx="3840480" cy="1005840"/>
            <a:chOff x="0" y="0"/>
            <a:chExt cx="5120640" cy="13411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120640" cy="1341120"/>
            </a:xfrm>
            <a:custGeom>
              <a:avLst/>
              <a:gdLst/>
              <a:ahLst/>
              <a:cxnLst/>
              <a:rect l="l" t="t" r="r" b="b"/>
              <a:pathLst>
                <a:path w="5120640" h="1341120">
                  <a:moveTo>
                    <a:pt x="0" y="0"/>
                  </a:moveTo>
                  <a:lnTo>
                    <a:pt x="5120640" y="0"/>
                  </a:lnTo>
                  <a:lnTo>
                    <a:pt x="51206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397" b="-24397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512064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680"/>
                </a:lnSpc>
              </a:pPr>
              <a:r>
                <a:rPr lang="en-US" sz="6400" b="1">
                  <a:solidFill>
                    <a:srgbClr val="14A89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13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3459968" y="3054096"/>
            <a:ext cx="3840480" cy="512064"/>
            <a:chOff x="0" y="0"/>
            <a:chExt cx="5120640" cy="68275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120640" cy="682752"/>
            </a:xfrm>
            <a:custGeom>
              <a:avLst/>
              <a:gdLst/>
              <a:ahLst/>
              <a:cxnLst/>
              <a:rect l="l" t="t" r="r" b="b"/>
              <a:pathLst>
                <a:path w="5120640" h="682752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137" b="-96137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9525"/>
              <a:ext cx="5120640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Total Features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3459968" y="3602736"/>
            <a:ext cx="3840480" cy="402336"/>
            <a:chOff x="0" y="0"/>
            <a:chExt cx="5120640" cy="53644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120640" cy="536448"/>
            </a:xfrm>
            <a:custGeom>
              <a:avLst/>
              <a:gdLst/>
              <a:ahLst/>
              <a:cxnLst/>
              <a:rect l="l" t="t" r="r" b="b"/>
              <a:pathLst>
                <a:path w="5120640" h="536448">
                  <a:moveTo>
                    <a:pt x="0" y="0"/>
                  </a:moveTo>
                  <a:lnTo>
                    <a:pt x="5120640" y="0"/>
                  </a:lnTo>
                  <a:lnTo>
                    <a:pt x="51206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993" b="-135993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512064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14A89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incl. derived</a:t>
              </a:r>
            </a:p>
          </p:txBody>
        </p:sp>
      </p:grpSp>
      <p:graphicFrame>
        <p:nvGraphicFramePr>
          <p:cNvPr id="51" name="Table 51"/>
          <p:cNvGraphicFramePr>
            <a:graphicFrameLocks noGrp="1"/>
          </p:cNvGraphicFramePr>
          <p:nvPr/>
        </p:nvGraphicFramePr>
        <p:xfrm>
          <a:off x="731520" y="4480560"/>
          <a:ext cx="16789400" cy="5080000"/>
        </p:xfrm>
        <a:graphic>
          <a:graphicData uri="http://schemas.openxmlformats.org/drawingml/2006/table">
            <a:tbl>
              <a:tblPr/>
              <a:tblGrid>
                <a:gridCol w="2195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79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70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79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42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88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16000"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Well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Basin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Sub-basin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State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Depth Range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Samples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Well 1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Gondwana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Raniganj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West Bengal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2.9 – 783.0 m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39,008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Well 2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Gondwana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Raniganj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West Bengal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3.4 – 918.0 m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45,731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Well 3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Gondwana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Jharia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Jharkhand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1.8 – 510.1 m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25,413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Well 4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Gondwana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Jharia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Jharkhand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70.0 – 1197.5 m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56,375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329184"/>
            <a:ext cx="16459200" cy="1188720"/>
            <a:chOff x="0" y="0"/>
            <a:chExt cx="21945600" cy="1584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84960"/>
            </a:xfrm>
            <a:custGeom>
              <a:avLst/>
              <a:gdLst/>
              <a:ahLst/>
              <a:cxnLst/>
              <a:rect l="l" t="t" r="r" b="b"/>
              <a:pathLst>
                <a:path w="21945600" h="158496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792" b="-21979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94560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Well Log Features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578359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79510" cy="33909"/>
            </a:xfrm>
            <a:custGeom>
              <a:avLst/>
              <a:gdLst/>
              <a:ahLst/>
              <a:cxnLst/>
              <a:rect l="l" t="t" r="r" b="b"/>
              <a:pathLst>
                <a:path w="21979510" h="33909">
                  <a:moveTo>
                    <a:pt x="0" y="0"/>
                  </a:moveTo>
                  <a:lnTo>
                    <a:pt x="21979510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12580060" b="-12579948"/>
              </a:stretch>
            </a:blip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718823" y="1907543"/>
            <a:ext cx="8255003" cy="2402843"/>
            <a:chOff x="0" y="0"/>
            <a:chExt cx="11006671" cy="320379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006709" cy="3203829"/>
            </a:xfrm>
            <a:custGeom>
              <a:avLst/>
              <a:gdLst/>
              <a:ahLst/>
              <a:cxnLst/>
              <a:rect l="l" t="t" r="r" b="b"/>
              <a:pathLst>
                <a:path w="11006709" h="3203829">
                  <a:moveTo>
                    <a:pt x="0" y="0"/>
                  </a:moveTo>
                  <a:lnTo>
                    <a:pt x="11006709" y="0"/>
                  </a:lnTo>
                  <a:lnTo>
                    <a:pt x="11006709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18823" y="1907543"/>
            <a:ext cx="354587" cy="2402843"/>
            <a:chOff x="0" y="0"/>
            <a:chExt cx="472783" cy="320379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72821" cy="3203829"/>
            </a:xfrm>
            <a:custGeom>
              <a:avLst/>
              <a:gdLst/>
              <a:ahLst/>
              <a:cxnLst/>
              <a:rect l="l" t="t" r="r" b="b"/>
              <a:pathLst>
                <a:path w="472821" h="3203829">
                  <a:moveTo>
                    <a:pt x="0" y="0"/>
                  </a:moveTo>
                  <a:lnTo>
                    <a:pt x="472821" y="0"/>
                  </a:lnTo>
                  <a:lnTo>
                    <a:pt x="472821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E8A723"/>
            </a:solidFill>
            <a:ln w="25400" cap="sq">
              <a:solidFill>
                <a:srgbClr val="E8A723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243584" y="2066544"/>
            <a:ext cx="2926080" cy="512064"/>
            <a:chOff x="0" y="0"/>
            <a:chExt cx="3901440" cy="6827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901440" cy="682752"/>
            </a:xfrm>
            <a:custGeom>
              <a:avLst/>
              <a:gdLst/>
              <a:ahLst/>
              <a:cxnLst/>
              <a:rect l="l" t="t" r="r" b="b"/>
              <a:pathLst>
                <a:path w="3901440" h="682752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1343" b="-6134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3901440" cy="7018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E8A72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GAM[API]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297680" y="2066544"/>
            <a:ext cx="4389120" cy="512064"/>
            <a:chOff x="0" y="0"/>
            <a:chExt cx="5852160" cy="68275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852160" cy="682752"/>
            </a:xfrm>
            <a:custGeom>
              <a:avLst/>
              <a:gdLst/>
              <a:ahLst/>
              <a:cxnLst/>
              <a:rect l="l" t="t" r="r" b="b"/>
              <a:pathLst>
                <a:path w="5852160" h="682752">
                  <a:moveTo>
                    <a:pt x="0" y="0"/>
                  </a:moveTo>
                  <a:lnTo>
                    <a:pt x="5852160" y="0"/>
                  </a:lnTo>
                  <a:lnTo>
                    <a:pt x="5852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14" b="-117014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585216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7A92A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Gamma Ray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43584" y="2596896"/>
            <a:ext cx="7498080" cy="457200"/>
            <a:chOff x="0" y="0"/>
            <a:chExt cx="9997440" cy="609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997440" cy="609600"/>
            </a:xfrm>
            <a:custGeom>
              <a:avLst/>
              <a:gdLst/>
              <a:ahLst/>
              <a:cxnLst/>
              <a:rect l="l" t="t" r="r" b="b"/>
              <a:pathLst>
                <a:path w="9997440" h="609600">
                  <a:moveTo>
                    <a:pt x="0" y="0"/>
                  </a:moveTo>
                  <a:lnTo>
                    <a:pt x="9997440" y="0"/>
                  </a:lnTo>
                  <a:lnTo>
                    <a:pt x="9997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999744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0D21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Unit: API  |  Range: 20 – 575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43584" y="3108960"/>
            <a:ext cx="7498080" cy="1005840"/>
            <a:chOff x="0" y="0"/>
            <a:chExt cx="9997440" cy="13411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997440" cy="1341120"/>
            </a:xfrm>
            <a:custGeom>
              <a:avLst/>
              <a:gdLst/>
              <a:ahLst/>
              <a:cxnLst/>
              <a:rect l="l" t="t" r="r" b="b"/>
              <a:pathLst>
                <a:path w="9997440" h="1341120">
                  <a:moveTo>
                    <a:pt x="0" y="0"/>
                  </a:moveTo>
                  <a:lnTo>
                    <a:pt x="9997440" y="0"/>
                  </a:lnTo>
                  <a:lnTo>
                    <a:pt x="9997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5252" b="-95252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999744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Primary shale indicator. High GR → shale; Low GR → clean sandstone.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314183" y="1907543"/>
            <a:ext cx="8255003" cy="2402843"/>
            <a:chOff x="0" y="0"/>
            <a:chExt cx="11006671" cy="320379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006709" cy="3203829"/>
            </a:xfrm>
            <a:custGeom>
              <a:avLst/>
              <a:gdLst/>
              <a:ahLst/>
              <a:cxnLst/>
              <a:rect l="l" t="t" r="r" b="b"/>
              <a:pathLst>
                <a:path w="11006709" h="3203829">
                  <a:moveTo>
                    <a:pt x="0" y="0"/>
                  </a:moveTo>
                  <a:lnTo>
                    <a:pt x="11006709" y="0"/>
                  </a:lnTo>
                  <a:lnTo>
                    <a:pt x="11006709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9314183" y="1907543"/>
            <a:ext cx="354587" cy="2402843"/>
            <a:chOff x="0" y="0"/>
            <a:chExt cx="472783" cy="320379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72821" cy="3203829"/>
            </a:xfrm>
            <a:custGeom>
              <a:avLst/>
              <a:gdLst/>
              <a:ahLst/>
              <a:cxnLst/>
              <a:rect l="l" t="t" r="r" b="b"/>
              <a:pathLst>
                <a:path w="472821" h="3203829">
                  <a:moveTo>
                    <a:pt x="0" y="0"/>
                  </a:moveTo>
                  <a:lnTo>
                    <a:pt x="472821" y="0"/>
                  </a:lnTo>
                  <a:lnTo>
                    <a:pt x="472821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0B6E6E"/>
            </a:solid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9838944" y="2066544"/>
            <a:ext cx="2926080" cy="512064"/>
            <a:chOff x="0" y="0"/>
            <a:chExt cx="3901440" cy="68275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901440" cy="682752"/>
            </a:xfrm>
            <a:custGeom>
              <a:avLst/>
              <a:gdLst/>
              <a:ahLst/>
              <a:cxnLst/>
              <a:rect l="l" t="t" r="r" b="b"/>
              <a:pathLst>
                <a:path w="3901440" h="682752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1343" b="-61343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3901440" cy="7018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0B6E6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DEN[G/CC]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893040" y="2066544"/>
            <a:ext cx="4389120" cy="512064"/>
            <a:chOff x="0" y="0"/>
            <a:chExt cx="5852160" cy="68275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852160" cy="682752"/>
            </a:xfrm>
            <a:custGeom>
              <a:avLst/>
              <a:gdLst/>
              <a:ahLst/>
              <a:cxnLst/>
              <a:rect l="l" t="t" r="r" b="b"/>
              <a:pathLst>
                <a:path w="5852160" h="682752">
                  <a:moveTo>
                    <a:pt x="0" y="0"/>
                  </a:moveTo>
                  <a:lnTo>
                    <a:pt x="5852160" y="0"/>
                  </a:lnTo>
                  <a:lnTo>
                    <a:pt x="5852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14" b="-117014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585216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7A92A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Bulk Density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838944" y="2596896"/>
            <a:ext cx="7498080" cy="457200"/>
            <a:chOff x="0" y="0"/>
            <a:chExt cx="9997440" cy="6096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997440" cy="609600"/>
            </a:xfrm>
            <a:custGeom>
              <a:avLst/>
              <a:gdLst/>
              <a:ahLst/>
              <a:cxnLst/>
              <a:rect l="l" t="t" r="r" b="b"/>
              <a:pathLst>
                <a:path w="9997440" h="609600">
                  <a:moveTo>
                    <a:pt x="0" y="0"/>
                  </a:moveTo>
                  <a:lnTo>
                    <a:pt x="9997440" y="0"/>
                  </a:lnTo>
                  <a:lnTo>
                    <a:pt x="9997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999744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0D21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Unit: g/cc  |  Range: 0.83 – 3.5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838944" y="3108960"/>
            <a:ext cx="7498080" cy="1005840"/>
            <a:chOff x="0" y="0"/>
            <a:chExt cx="9997440" cy="13411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997440" cy="1341120"/>
            </a:xfrm>
            <a:custGeom>
              <a:avLst/>
              <a:gdLst/>
              <a:ahLst/>
              <a:cxnLst/>
              <a:rect l="l" t="t" r="r" b="b"/>
              <a:pathLst>
                <a:path w="9997440" h="1341120">
                  <a:moveTo>
                    <a:pt x="0" y="0"/>
                  </a:moveTo>
                  <a:lnTo>
                    <a:pt x="9997440" y="0"/>
                  </a:lnTo>
                  <a:lnTo>
                    <a:pt x="9997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5252" b="-95252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999744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Differentiates coal (low ~2.14) from sandstone/shale (~2.4–2.6).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18823" y="4559303"/>
            <a:ext cx="8255003" cy="2402843"/>
            <a:chOff x="0" y="0"/>
            <a:chExt cx="11006671" cy="320379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1006709" cy="3203829"/>
            </a:xfrm>
            <a:custGeom>
              <a:avLst/>
              <a:gdLst/>
              <a:ahLst/>
              <a:cxnLst/>
              <a:rect l="l" t="t" r="r" b="b"/>
              <a:pathLst>
                <a:path w="11006709" h="3203829">
                  <a:moveTo>
                    <a:pt x="0" y="0"/>
                  </a:moveTo>
                  <a:lnTo>
                    <a:pt x="11006709" y="0"/>
                  </a:lnTo>
                  <a:lnTo>
                    <a:pt x="11006709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18823" y="4559303"/>
            <a:ext cx="354587" cy="2402843"/>
            <a:chOff x="0" y="0"/>
            <a:chExt cx="472783" cy="3203791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72821" cy="3203829"/>
            </a:xfrm>
            <a:custGeom>
              <a:avLst/>
              <a:gdLst/>
              <a:ahLst/>
              <a:cxnLst/>
              <a:rect l="l" t="t" r="r" b="b"/>
              <a:pathLst>
                <a:path w="472821" h="3203829">
                  <a:moveTo>
                    <a:pt x="0" y="0"/>
                  </a:moveTo>
                  <a:lnTo>
                    <a:pt x="472821" y="0"/>
                  </a:lnTo>
                  <a:lnTo>
                    <a:pt x="472821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14A89D"/>
            </a:solidFill>
            <a:ln w="25400" cap="sq">
              <a:solidFill>
                <a:srgbClr val="14A89D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1243584" y="4718304"/>
            <a:ext cx="2926080" cy="512064"/>
            <a:chOff x="0" y="0"/>
            <a:chExt cx="3901440" cy="68275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901440" cy="682752"/>
            </a:xfrm>
            <a:custGeom>
              <a:avLst/>
              <a:gdLst/>
              <a:ahLst/>
              <a:cxnLst/>
              <a:rect l="l" t="t" r="r" b="b"/>
              <a:pathLst>
                <a:path w="3901440" h="682752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1343" b="-61343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3901440" cy="7018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14A89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RES[OHM]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297680" y="4718304"/>
            <a:ext cx="4389120" cy="512064"/>
            <a:chOff x="0" y="0"/>
            <a:chExt cx="5852160" cy="68275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852160" cy="682752"/>
            </a:xfrm>
            <a:custGeom>
              <a:avLst/>
              <a:gdLst/>
              <a:ahLst/>
              <a:cxnLst/>
              <a:rect l="l" t="t" r="r" b="b"/>
              <a:pathLst>
                <a:path w="5852160" h="682752">
                  <a:moveTo>
                    <a:pt x="0" y="0"/>
                  </a:moveTo>
                  <a:lnTo>
                    <a:pt x="5852160" y="0"/>
                  </a:lnTo>
                  <a:lnTo>
                    <a:pt x="5852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14" b="-117014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585216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7A92A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Deep Resistivity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43584" y="5248656"/>
            <a:ext cx="7498080" cy="457200"/>
            <a:chOff x="0" y="0"/>
            <a:chExt cx="9997440" cy="6096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997440" cy="609600"/>
            </a:xfrm>
            <a:custGeom>
              <a:avLst/>
              <a:gdLst/>
              <a:ahLst/>
              <a:cxnLst/>
              <a:rect l="l" t="t" r="r" b="b"/>
              <a:pathLst>
                <a:path w="9997440" h="609600">
                  <a:moveTo>
                    <a:pt x="0" y="0"/>
                  </a:moveTo>
                  <a:lnTo>
                    <a:pt x="9997440" y="0"/>
                  </a:lnTo>
                  <a:lnTo>
                    <a:pt x="9997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999744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0D21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Unit: Ω·m  |  Range: 0.05 – 3527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43584" y="5760720"/>
            <a:ext cx="7498080" cy="1005840"/>
            <a:chOff x="0" y="0"/>
            <a:chExt cx="9997440" cy="134112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997440" cy="1341120"/>
            </a:xfrm>
            <a:custGeom>
              <a:avLst/>
              <a:gdLst/>
              <a:ahLst/>
              <a:cxnLst/>
              <a:rect l="l" t="t" r="r" b="b"/>
              <a:pathLst>
                <a:path w="9997440" h="1341120">
                  <a:moveTo>
                    <a:pt x="0" y="0"/>
                  </a:moveTo>
                  <a:lnTo>
                    <a:pt x="9997440" y="0"/>
                  </a:lnTo>
                  <a:lnTo>
                    <a:pt x="9997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5252" b="-95252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47625"/>
              <a:ext cx="999744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 resistivity → hydrocarbon-bearing sandstone or coal beds.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314183" y="4559303"/>
            <a:ext cx="8255003" cy="2402843"/>
            <a:chOff x="0" y="0"/>
            <a:chExt cx="11006671" cy="3203791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1006709" cy="3203829"/>
            </a:xfrm>
            <a:custGeom>
              <a:avLst/>
              <a:gdLst/>
              <a:ahLst/>
              <a:cxnLst/>
              <a:rect l="l" t="t" r="r" b="b"/>
              <a:pathLst>
                <a:path w="11006709" h="3203829">
                  <a:moveTo>
                    <a:pt x="0" y="0"/>
                  </a:moveTo>
                  <a:lnTo>
                    <a:pt x="11006709" y="0"/>
                  </a:lnTo>
                  <a:lnTo>
                    <a:pt x="11006709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9314183" y="4559303"/>
            <a:ext cx="354587" cy="2402843"/>
            <a:chOff x="0" y="0"/>
            <a:chExt cx="472783" cy="3203791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72821" cy="3203829"/>
            </a:xfrm>
            <a:custGeom>
              <a:avLst/>
              <a:gdLst/>
              <a:ahLst/>
              <a:cxnLst/>
              <a:rect l="l" t="t" r="r" b="b"/>
              <a:pathLst>
                <a:path w="472821" h="3203829">
                  <a:moveTo>
                    <a:pt x="0" y="0"/>
                  </a:moveTo>
                  <a:lnTo>
                    <a:pt x="472821" y="0"/>
                  </a:lnTo>
                  <a:lnTo>
                    <a:pt x="472821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1A5C5A"/>
            </a:solidFill>
            <a:ln w="25400" cap="sq">
              <a:solidFill>
                <a:srgbClr val="1A5C5A"/>
              </a:solidFill>
              <a:prstDash val="solid"/>
              <a:miter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9838944" y="4718304"/>
            <a:ext cx="2926080" cy="512064"/>
            <a:chOff x="0" y="0"/>
            <a:chExt cx="3901440" cy="68275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901440" cy="682752"/>
            </a:xfrm>
            <a:custGeom>
              <a:avLst/>
              <a:gdLst/>
              <a:ahLst/>
              <a:cxnLst/>
              <a:rect l="l" t="t" r="r" b="b"/>
              <a:pathLst>
                <a:path w="3901440" h="682752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1343" b="-61343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19050"/>
              <a:ext cx="3901440" cy="7018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1A5C5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RES(16N)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2893040" y="4718304"/>
            <a:ext cx="4389120" cy="512064"/>
            <a:chOff x="0" y="0"/>
            <a:chExt cx="5852160" cy="68275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852160" cy="682752"/>
            </a:xfrm>
            <a:custGeom>
              <a:avLst/>
              <a:gdLst/>
              <a:ahLst/>
              <a:cxnLst/>
              <a:rect l="l" t="t" r="r" b="b"/>
              <a:pathLst>
                <a:path w="5852160" h="682752">
                  <a:moveTo>
                    <a:pt x="0" y="0"/>
                  </a:moveTo>
                  <a:lnTo>
                    <a:pt x="5852160" y="0"/>
                  </a:lnTo>
                  <a:lnTo>
                    <a:pt x="5852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14" b="-117014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47625"/>
              <a:ext cx="585216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7A92A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Shallow Resistivity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838944" y="5248656"/>
            <a:ext cx="7498080" cy="457200"/>
            <a:chOff x="0" y="0"/>
            <a:chExt cx="9997440" cy="6096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9997440" cy="609600"/>
            </a:xfrm>
            <a:custGeom>
              <a:avLst/>
              <a:gdLst/>
              <a:ahLst/>
              <a:cxnLst/>
              <a:rect l="l" t="t" r="r" b="b"/>
              <a:pathLst>
                <a:path w="9997440" h="609600">
                  <a:moveTo>
                    <a:pt x="0" y="0"/>
                  </a:moveTo>
                  <a:lnTo>
                    <a:pt x="9997440" y="0"/>
                  </a:lnTo>
                  <a:lnTo>
                    <a:pt x="9997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999744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0D21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Unit: Ω·m  |  Range: 0.03 – 3496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838944" y="5760720"/>
            <a:ext cx="7498080" cy="1005840"/>
            <a:chOff x="0" y="0"/>
            <a:chExt cx="9997440" cy="134112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9997440" cy="1341120"/>
            </a:xfrm>
            <a:custGeom>
              <a:avLst/>
              <a:gdLst/>
              <a:ahLst/>
              <a:cxnLst/>
              <a:rect l="l" t="t" r="r" b="b"/>
              <a:pathLst>
                <a:path w="9997440" h="1341120">
                  <a:moveTo>
                    <a:pt x="0" y="0"/>
                  </a:moveTo>
                  <a:lnTo>
                    <a:pt x="9997440" y="0"/>
                  </a:lnTo>
                  <a:lnTo>
                    <a:pt x="9997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5252" b="-95252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47625"/>
              <a:ext cx="999744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16-inch spacing tool. Combined with deep RES to detect invasion zones.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18823" y="7211063"/>
            <a:ext cx="8255003" cy="2402843"/>
            <a:chOff x="0" y="0"/>
            <a:chExt cx="11006671" cy="3203791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1006709" cy="3203829"/>
            </a:xfrm>
            <a:custGeom>
              <a:avLst/>
              <a:gdLst/>
              <a:ahLst/>
              <a:cxnLst/>
              <a:rect l="l" t="t" r="r" b="b"/>
              <a:pathLst>
                <a:path w="11006709" h="3203829">
                  <a:moveTo>
                    <a:pt x="0" y="0"/>
                  </a:moveTo>
                  <a:lnTo>
                    <a:pt x="11006709" y="0"/>
                  </a:lnTo>
                  <a:lnTo>
                    <a:pt x="11006709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718823" y="7211063"/>
            <a:ext cx="354587" cy="2402843"/>
            <a:chOff x="0" y="0"/>
            <a:chExt cx="472783" cy="3203791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472821" cy="3203829"/>
            </a:xfrm>
            <a:custGeom>
              <a:avLst/>
              <a:gdLst/>
              <a:ahLst/>
              <a:cxnLst/>
              <a:rect l="l" t="t" r="r" b="b"/>
              <a:pathLst>
                <a:path w="472821" h="3203829">
                  <a:moveTo>
                    <a:pt x="0" y="0"/>
                  </a:moveTo>
                  <a:lnTo>
                    <a:pt x="472821" y="0"/>
                  </a:lnTo>
                  <a:lnTo>
                    <a:pt x="472821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6D6875"/>
            </a:solidFill>
            <a:ln w="25400" cap="sq">
              <a:solidFill>
                <a:srgbClr val="6D6875"/>
              </a:solidFill>
              <a:prstDash val="solid"/>
              <a:miter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1243584" y="7370064"/>
            <a:ext cx="2926080" cy="512064"/>
            <a:chOff x="0" y="0"/>
            <a:chExt cx="3901440" cy="682752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3901440" cy="682752"/>
            </a:xfrm>
            <a:custGeom>
              <a:avLst/>
              <a:gdLst/>
              <a:ahLst/>
              <a:cxnLst/>
              <a:rect l="l" t="t" r="r" b="b"/>
              <a:pathLst>
                <a:path w="3901440" h="682752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1343" b="-61343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19050"/>
              <a:ext cx="3901440" cy="7018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6D6875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SP[MV]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4297680" y="7370064"/>
            <a:ext cx="4389120" cy="512064"/>
            <a:chOff x="0" y="0"/>
            <a:chExt cx="5852160" cy="682752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5852160" cy="682752"/>
            </a:xfrm>
            <a:custGeom>
              <a:avLst/>
              <a:gdLst/>
              <a:ahLst/>
              <a:cxnLst/>
              <a:rect l="l" t="t" r="r" b="b"/>
              <a:pathLst>
                <a:path w="5852160" h="682752">
                  <a:moveTo>
                    <a:pt x="0" y="0"/>
                  </a:moveTo>
                  <a:lnTo>
                    <a:pt x="5852160" y="0"/>
                  </a:lnTo>
                  <a:lnTo>
                    <a:pt x="5852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14" b="-117014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47625"/>
              <a:ext cx="585216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7A92A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Spontaneous Potential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243584" y="7900416"/>
            <a:ext cx="7498080" cy="457200"/>
            <a:chOff x="0" y="0"/>
            <a:chExt cx="9997440" cy="60960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9997440" cy="609600"/>
            </a:xfrm>
            <a:custGeom>
              <a:avLst/>
              <a:gdLst/>
              <a:ahLst/>
              <a:cxnLst/>
              <a:rect l="l" t="t" r="r" b="b"/>
              <a:pathLst>
                <a:path w="9997440" h="609600">
                  <a:moveTo>
                    <a:pt x="0" y="0"/>
                  </a:moveTo>
                  <a:lnTo>
                    <a:pt x="9997440" y="0"/>
                  </a:lnTo>
                  <a:lnTo>
                    <a:pt x="9997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38100"/>
              <a:ext cx="999744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0D21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Unit: mV  |  Range: −314 – 143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243584" y="8412480"/>
            <a:ext cx="7498080" cy="1005840"/>
            <a:chOff x="0" y="0"/>
            <a:chExt cx="9997440" cy="134112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9997440" cy="1341120"/>
            </a:xfrm>
            <a:custGeom>
              <a:avLst/>
              <a:gdLst/>
              <a:ahLst/>
              <a:cxnLst/>
              <a:rect l="l" t="t" r="r" b="b"/>
              <a:pathLst>
                <a:path w="9997440" h="1341120">
                  <a:moveTo>
                    <a:pt x="0" y="0"/>
                  </a:moveTo>
                  <a:lnTo>
                    <a:pt x="9997440" y="0"/>
                  </a:lnTo>
                  <a:lnTo>
                    <a:pt x="9997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5252" b="-95252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47625"/>
              <a:ext cx="999744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Most important feature (0.154 importance). Strongly separates facies.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9314183" y="7211063"/>
            <a:ext cx="8255003" cy="2402843"/>
            <a:chOff x="0" y="0"/>
            <a:chExt cx="11006671" cy="3203791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11006709" cy="3203829"/>
            </a:xfrm>
            <a:custGeom>
              <a:avLst/>
              <a:gdLst/>
              <a:ahLst/>
              <a:cxnLst/>
              <a:rect l="l" t="t" r="r" b="b"/>
              <a:pathLst>
                <a:path w="11006709" h="3203829">
                  <a:moveTo>
                    <a:pt x="0" y="0"/>
                  </a:moveTo>
                  <a:lnTo>
                    <a:pt x="11006709" y="0"/>
                  </a:lnTo>
                  <a:lnTo>
                    <a:pt x="11006709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89" name="Group 89"/>
          <p:cNvGrpSpPr/>
          <p:nvPr/>
        </p:nvGrpSpPr>
        <p:grpSpPr>
          <a:xfrm>
            <a:off x="9314183" y="7211063"/>
            <a:ext cx="354587" cy="2402843"/>
            <a:chOff x="0" y="0"/>
            <a:chExt cx="472783" cy="3203791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472821" cy="3203829"/>
            </a:xfrm>
            <a:custGeom>
              <a:avLst/>
              <a:gdLst/>
              <a:ahLst/>
              <a:cxnLst/>
              <a:rect l="l" t="t" r="r" b="b"/>
              <a:pathLst>
                <a:path w="472821" h="3203829">
                  <a:moveTo>
                    <a:pt x="0" y="0"/>
                  </a:moveTo>
                  <a:lnTo>
                    <a:pt x="472821" y="0"/>
                  </a:lnTo>
                  <a:lnTo>
                    <a:pt x="472821" y="3203829"/>
                  </a:lnTo>
                  <a:lnTo>
                    <a:pt x="0" y="3203829"/>
                  </a:lnTo>
                  <a:close/>
                </a:path>
              </a:pathLst>
            </a:custGeom>
            <a:solidFill>
              <a:srgbClr val="F2A261"/>
            </a:solidFill>
            <a:ln w="25400" cap="sq">
              <a:solidFill>
                <a:srgbClr val="F2A261"/>
              </a:solidFill>
              <a:prstDash val="solid"/>
              <a:miter/>
            </a:ln>
          </p:spPr>
        </p:sp>
      </p:grpSp>
      <p:grpSp>
        <p:nvGrpSpPr>
          <p:cNvPr id="91" name="Group 91"/>
          <p:cNvGrpSpPr/>
          <p:nvPr/>
        </p:nvGrpSpPr>
        <p:grpSpPr>
          <a:xfrm>
            <a:off x="9838944" y="7370064"/>
            <a:ext cx="2926080" cy="512064"/>
            <a:chOff x="0" y="0"/>
            <a:chExt cx="3901440" cy="682752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3901440" cy="682752"/>
            </a:xfrm>
            <a:custGeom>
              <a:avLst/>
              <a:gdLst/>
              <a:ahLst/>
              <a:cxnLst/>
              <a:rect l="l" t="t" r="r" b="b"/>
              <a:pathLst>
                <a:path w="3901440" h="682752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1343" b="-61343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19050"/>
              <a:ext cx="3901440" cy="7018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2A261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CALIPER[CM]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2893040" y="7370064"/>
            <a:ext cx="4389120" cy="512064"/>
            <a:chOff x="0" y="0"/>
            <a:chExt cx="5852160" cy="682752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5852160" cy="682752"/>
            </a:xfrm>
            <a:custGeom>
              <a:avLst/>
              <a:gdLst/>
              <a:ahLst/>
              <a:cxnLst/>
              <a:rect l="l" t="t" r="r" b="b"/>
              <a:pathLst>
                <a:path w="5852160" h="682752">
                  <a:moveTo>
                    <a:pt x="0" y="0"/>
                  </a:moveTo>
                  <a:lnTo>
                    <a:pt x="5852160" y="0"/>
                  </a:lnTo>
                  <a:lnTo>
                    <a:pt x="5852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14" b="-117014"/>
              </a:stretch>
            </a:blipFill>
          </p:spPr>
        </p:sp>
        <p:sp>
          <p:nvSpPr>
            <p:cNvPr id="96" name="TextBox 96"/>
            <p:cNvSpPr txBox="1"/>
            <p:nvPr/>
          </p:nvSpPr>
          <p:spPr>
            <a:xfrm>
              <a:off x="0" y="-47625"/>
              <a:ext cx="585216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7A92A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Borehole Caliper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9838944" y="7900416"/>
            <a:ext cx="7498080" cy="457200"/>
            <a:chOff x="0" y="0"/>
            <a:chExt cx="9997440" cy="60960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9997440" cy="609600"/>
            </a:xfrm>
            <a:custGeom>
              <a:avLst/>
              <a:gdLst/>
              <a:ahLst/>
              <a:cxnLst/>
              <a:rect l="l" t="t" r="r" b="b"/>
              <a:pathLst>
                <a:path w="9997440" h="609600">
                  <a:moveTo>
                    <a:pt x="0" y="0"/>
                  </a:moveTo>
                  <a:lnTo>
                    <a:pt x="9997440" y="0"/>
                  </a:lnTo>
                  <a:lnTo>
                    <a:pt x="99974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-38100"/>
              <a:ext cx="999744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0D213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Unit: cm  |  Range: 12 – 54.4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9838944" y="8412480"/>
            <a:ext cx="7498080" cy="1005840"/>
            <a:chOff x="0" y="0"/>
            <a:chExt cx="9997440" cy="134112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9997440" cy="1341120"/>
            </a:xfrm>
            <a:custGeom>
              <a:avLst/>
              <a:gdLst/>
              <a:ahLst/>
              <a:cxnLst/>
              <a:rect l="l" t="t" r="r" b="b"/>
              <a:pathLst>
                <a:path w="9997440" h="1341120">
                  <a:moveTo>
                    <a:pt x="0" y="0"/>
                  </a:moveTo>
                  <a:lnTo>
                    <a:pt x="9997440" y="0"/>
                  </a:lnTo>
                  <a:lnTo>
                    <a:pt x="9997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5252" b="-95252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-47625"/>
              <a:ext cx="999744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Borehole diameter anomaly detects washouts. Converted from inches.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329184"/>
            <a:ext cx="16459200" cy="1188720"/>
            <a:chOff x="0" y="0"/>
            <a:chExt cx="21945600" cy="1584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84960"/>
            </a:xfrm>
            <a:custGeom>
              <a:avLst/>
              <a:gdLst/>
              <a:ahLst/>
              <a:cxnLst/>
              <a:rect l="l" t="t" r="r" b="b"/>
              <a:pathLst>
                <a:path w="21945600" h="158496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792" b="-21979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94560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Data Preprocessing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578359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79510" cy="33909"/>
            </a:xfrm>
            <a:custGeom>
              <a:avLst/>
              <a:gdLst/>
              <a:ahLst/>
              <a:cxnLst/>
              <a:rect l="l" t="t" r="r" b="b"/>
              <a:pathLst>
                <a:path w="21979510" h="33909">
                  <a:moveTo>
                    <a:pt x="0" y="0"/>
                  </a:moveTo>
                  <a:lnTo>
                    <a:pt x="21979510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12580060" b="-12579948"/>
              </a:stretch>
            </a:blip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718823" y="1907543"/>
            <a:ext cx="10998203" cy="1762763"/>
            <a:chOff x="0" y="0"/>
            <a:chExt cx="14664271" cy="235035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664310" cy="2350389"/>
            </a:xfrm>
            <a:custGeom>
              <a:avLst/>
              <a:gdLst/>
              <a:ahLst/>
              <a:cxnLst/>
              <a:rect l="l" t="t" r="r" b="b"/>
              <a:pathLst>
                <a:path w="14664310" h="2350389">
                  <a:moveTo>
                    <a:pt x="0" y="0"/>
                  </a:moveTo>
                  <a:lnTo>
                    <a:pt x="14664310" y="0"/>
                  </a:lnTo>
                  <a:lnTo>
                    <a:pt x="14664310" y="2350389"/>
                  </a:lnTo>
                  <a:lnTo>
                    <a:pt x="0" y="235038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18823" y="2236727"/>
            <a:ext cx="1031243" cy="1031243"/>
            <a:chOff x="0" y="0"/>
            <a:chExt cx="1374991" cy="137499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74902" cy="1374902"/>
            </a:xfrm>
            <a:custGeom>
              <a:avLst/>
              <a:gdLst/>
              <a:ahLst/>
              <a:cxnLst/>
              <a:rect l="l" t="t" r="r" b="b"/>
              <a:pathLst>
                <a:path w="1374902" h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0B6E6E"/>
            </a:solid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31520" y="2249424"/>
            <a:ext cx="1005840" cy="1005840"/>
            <a:chOff x="0" y="0"/>
            <a:chExt cx="1341120" cy="13411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34112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011680" y="2066544"/>
            <a:ext cx="9326880" cy="548640"/>
            <a:chOff x="0" y="0"/>
            <a:chExt cx="12435840" cy="7315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435840" cy="731520"/>
            </a:xfrm>
            <a:custGeom>
              <a:avLst/>
              <a:gdLst/>
              <a:ahLst/>
              <a:cxnLst/>
              <a:rect l="l" t="t" r="r" b="b"/>
              <a:pathLst>
                <a:path w="12435840" h="731520">
                  <a:moveTo>
                    <a:pt x="0" y="0"/>
                  </a:moveTo>
                  <a:lnTo>
                    <a:pt x="12435840" y="0"/>
                  </a:lnTo>
                  <a:lnTo>
                    <a:pt x="12435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245" b="-281245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243584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Sentinel Null Replacement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011680" y="2651760"/>
            <a:ext cx="9326880" cy="877824"/>
            <a:chOff x="0" y="0"/>
            <a:chExt cx="12435840" cy="117043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435840" cy="1170432"/>
            </a:xfrm>
            <a:custGeom>
              <a:avLst/>
              <a:gdLst/>
              <a:ahLst/>
              <a:cxnLst/>
              <a:rect l="l" t="t" r="r" b="b"/>
              <a:pathLst>
                <a:path w="12435840" h="1170432">
                  <a:moveTo>
                    <a:pt x="0" y="0"/>
                  </a:moveTo>
                  <a:lnTo>
                    <a:pt x="12435840" y="0"/>
                  </a:lnTo>
                  <a:lnTo>
                    <a:pt x="124358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028" b="-157028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2435840" cy="12180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−99999, −9999, −999, 9999, 99999 → NaN. LAS exporter leaves these as missing-data flags; pandas reads them as valid numbers without explicit replacement.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18823" y="3882647"/>
            <a:ext cx="10998203" cy="1762763"/>
            <a:chOff x="0" y="0"/>
            <a:chExt cx="14664271" cy="235035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664310" cy="2350389"/>
            </a:xfrm>
            <a:custGeom>
              <a:avLst/>
              <a:gdLst/>
              <a:ahLst/>
              <a:cxnLst/>
              <a:rect l="l" t="t" r="r" b="b"/>
              <a:pathLst>
                <a:path w="14664310" h="2350389">
                  <a:moveTo>
                    <a:pt x="0" y="0"/>
                  </a:moveTo>
                  <a:lnTo>
                    <a:pt x="14664310" y="0"/>
                  </a:lnTo>
                  <a:lnTo>
                    <a:pt x="14664310" y="2350389"/>
                  </a:lnTo>
                  <a:lnTo>
                    <a:pt x="0" y="235038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718823" y="4211831"/>
            <a:ext cx="1031243" cy="1031243"/>
            <a:chOff x="0" y="0"/>
            <a:chExt cx="1374991" cy="137499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74902" cy="1374902"/>
            </a:xfrm>
            <a:custGeom>
              <a:avLst/>
              <a:gdLst/>
              <a:ahLst/>
              <a:cxnLst/>
              <a:rect l="l" t="t" r="r" b="b"/>
              <a:pathLst>
                <a:path w="1374902" h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E8A723"/>
            </a:solidFill>
            <a:ln w="25400" cap="sq">
              <a:solidFill>
                <a:srgbClr val="E8A723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731520" y="4224528"/>
            <a:ext cx="1005840" cy="1005840"/>
            <a:chOff x="0" y="0"/>
            <a:chExt cx="1341120" cy="13411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134112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2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011680" y="4041648"/>
            <a:ext cx="9326880" cy="548640"/>
            <a:chOff x="0" y="0"/>
            <a:chExt cx="12435840" cy="7315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435840" cy="731520"/>
            </a:xfrm>
            <a:custGeom>
              <a:avLst/>
              <a:gdLst/>
              <a:ahLst/>
              <a:cxnLst/>
              <a:rect l="l" t="t" r="r" b="b"/>
              <a:pathLst>
                <a:path w="12435840" h="731520">
                  <a:moveTo>
                    <a:pt x="0" y="0"/>
                  </a:moveTo>
                  <a:lnTo>
                    <a:pt x="12435840" y="0"/>
                  </a:lnTo>
                  <a:lnTo>
                    <a:pt x="12435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245" b="-281245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1243584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Zero-Value Cleaning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011680" y="4626864"/>
            <a:ext cx="9326880" cy="877824"/>
            <a:chOff x="0" y="0"/>
            <a:chExt cx="12435840" cy="117043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435840" cy="1170432"/>
            </a:xfrm>
            <a:custGeom>
              <a:avLst/>
              <a:gdLst/>
              <a:ahLst/>
              <a:cxnLst/>
              <a:rect l="l" t="t" r="r" b="b"/>
              <a:pathLst>
                <a:path w="12435840" h="1170432">
                  <a:moveTo>
                    <a:pt x="0" y="0"/>
                  </a:moveTo>
                  <a:lnTo>
                    <a:pt x="12435840" y="0"/>
                  </a:lnTo>
                  <a:lnTo>
                    <a:pt x="124358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028" b="-157028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12435840" cy="12180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Zero is physically impossible for Caliper, GR, Density, Resistivity → replaced with NaN. SP excluded (0 mV is valid at shale baseline).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18823" y="5857751"/>
            <a:ext cx="10998203" cy="1762763"/>
            <a:chOff x="0" y="0"/>
            <a:chExt cx="14664271" cy="235035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4664310" cy="2350389"/>
            </a:xfrm>
            <a:custGeom>
              <a:avLst/>
              <a:gdLst/>
              <a:ahLst/>
              <a:cxnLst/>
              <a:rect l="l" t="t" r="r" b="b"/>
              <a:pathLst>
                <a:path w="14664310" h="2350389">
                  <a:moveTo>
                    <a:pt x="0" y="0"/>
                  </a:moveTo>
                  <a:lnTo>
                    <a:pt x="14664310" y="0"/>
                  </a:lnTo>
                  <a:lnTo>
                    <a:pt x="14664310" y="2350389"/>
                  </a:lnTo>
                  <a:lnTo>
                    <a:pt x="0" y="235038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718823" y="6186935"/>
            <a:ext cx="1031243" cy="1031243"/>
            <a:chOff x="0" y="0"/>
            <a:chExt cx="1374991" cy="137499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374902" cy="1374902"/>
            </a:xfrm>
            <a:custGeom>
              <a:avLst/>
              <a:gdLst/>
              <a:ahLst/>
              <a:cxnLst/>
              <a:rect l="l" t="t" r="r" b="b"/>
              <a:pathLst>
                <a:path w="1374902" h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1A5C5A"/>
            </a:solidFill>
            <a:ln w="25400" cap="sq">
              <a:solidFill>
                <a:srgbClr val="1A5C5A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731520" y="6199632"/>
            <a:ext cx="1005840" cy="1005840"/>
            <a:chOff x="0" y="0"/>
            <a:chExt cx="1341120" cy="134112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134112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3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011680" y="6016752"/>
            <a:ext cx="9326880" cy="548640"/>
            <a:chOff x="0" y="0"/>
            <a:chExt cx="12435840" cy="73152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2435840" cy="731520"/>
            </a:xfrm>
            <a:custGeom>
              <a:avLst/>
              <a:gdLst/>
              <a:ahLst/>
              <a:cxnLst/>
              <a:rect l="l" t="t" r="r" b="b"/>
              <a:pathLst>
                <a:path w="12435840" h="731520">
                  <a:moveTo>
                    <a:pt x="0" y="0"/>
                  </a:moveTo>
                  <a:lnTo>
                    <a:pt x="12435840" y="0"/>
                  </a:lnTo>
                  <a:lnTo>
                    <a:pt x="12435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245" b="-281245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1243584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Physical Bounds Check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011680" y="6601968"/>
            <a:ext cx="9326880" cy="877824"/>
            <a:chOff x="0" y="0"/>
            <a:chExt cx="12435840" cy="117043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2435840" cy="1170432"/>
            </a:xfrm>
            <a:custGeom>
              <a:avLst/>
              <a:gdLst/>
              <a:ahLst/>
              <a:cxnLst/>
              <a:rect l="l" t="t" r="r" b="b"/>
              <a:pathLst>
                <a:path w="12435840" h="1170432">
                  <a:moveTo>
                    <a:pt x="0" y="0"/>
                  </a:moveTo>
                  <a:lnTo>
                    <a:pt x="12435840" y="0"/>
                  </a:lnTo>
                  <a:lnTo>
                    <a:pt x="124358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028" b="-157028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12435840" cy="12180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Values outside instrument range → NaN. E.g., Density &gt; 3.5 or &lt; 0.8 g/cc is instrument error. Well 3 had 506 density outliers (2.0%).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18823" y="7832855"/>
            <a:ext cx="10998203" cy="1762763"/>
            <a:chOff x="0" y="0"/>
            <a:chExt cx="14664271" cy="2350351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4664310" cy="2350389"/>
            </a:xfrm>
            <a:custGeom>
              <a:avLst/>
              <a:gdLst/>
              <a:ahLst/>
              <a:cxnLst/>
              <a:rect l="l" t="t" r="r" b="b"/>
              <a:pathLst>
                <a:path w="14664310" h="2350389">
                  <a:moveTo>
                    <a:pt x="0" y="0"/>
                  </a:moveTo>
                  <a:lnTo>
                    <a:pt x="14664310" y="0"/>
                  </a:lnTo>
                  <a:lnTo>
                    <a:pt x="14664310" y="2350389"/>
                  </a:lnTo>
                  <a:lnTo>
                    <a:pt x="0" y="235038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718823" y="8162039"/>
            <a:ext cx="1031243" cy="1031243"/>
            <a:chOff x="0" y="0"/>
            <a:chExt cx="1374991" cy="1374991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374902" cy="1374902"/>
            </a:xfrm>
            <a:custGeom>
              <a:avLst/>
              <a:gdLst/>
              <a:ahLst/>
              <a:cxnLst/>
              <a:rect l="l" t="t" r="r" b="b"/>
              <a:pathLst>
                <a:path w="1374902" h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6D6875"/>
            </a:solidFill>
            <a:ln w="25400" cap="sq">
              <a:solidFill>
                <a:srgbClr val="6D6875"/>
              </a:solidFill>
              <a:prstDash val="solid"/>
              <a:miter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731520" y="8174736"/>
            <a:ext cx="1005840" cy="1005840"/>
            <a:chOff x="0" y="0"/>
            <a:chExt cx="1341120" cy="134112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0"/>
              <a:ext cx="1341120" cy="1341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4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011680" y="7991856"/>
            <a:ext cx="9326880" cy="548640"/>
            <a:chOff x="0" y="0"/>
            <a:chExt cx="12435840" cy="73152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2435840" cy="731520"/>
            </a:xfrm>
            <a:custGeom>
              <a:avLst/>
              <a:gdLst/>
              <a:ahLst/>
              <a:cxnLst/>
              <a:rect l="l" t="t" r="r" b="b"/>
              <a:pathLst>
                <a:path w="12435840" h="731520">
                  <a:moveTo>
                    <a:pt x="0" y="0"/>
                  </a:moveTo>
                  <a:lnTo>
                    <a:pt x="12435840" y="0"/>
                  </a:lnTo>
                  <a:lnTo>
                    <a:pt x="12435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245" b="-281245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1243584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Startup Row Removal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2011680" y="8577072"/>
            <a:ext cx="9326880" cy="877824"/>
            <a:chOff x="0" y="0"/>
            <a:chExt cx="12435840" cy="117043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2435840" cy="1170432"/>
            </a:xfrm>
            <a:custGeom>
              <a:avLst/>
              <a:gdLst/>
              <a:ahLst/>
              <a:cxnLst/>
              <a:rect l="l" t="t" r="r" b="b"/>
              <a:pathLst>
                <a:path w="12435840" h="1170432">
                  <a:moveTo>
                    <a:pt x="0" y="0"/>
                  </a:moveTo>
                  <a:lnTo>
                    <a:pt x="12435840" y="0"/>
                  </a:lnTo>
                  <a:lnTo>
                    <a:pt x="124358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028" b="-157028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47625"/>
              <a:ext cx="12435840" cy="12180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473 rows removed across 4 wells — logging tool stabilisation artifact at top/bottom of well. Cannot be imputed; no geological signal.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2148823" y="1907543"/>
            <a:ext cx="5328923" cy="7980683"/>
            <a:chOff x="0" y="0"/>
            <a:chExt cx="7105231" cy="10640911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7105269" cy="10640949"/>
            </a:xfrm>
            <a:custGeom>
              <a:avLst/>
              <a:gdLst/>
              <a:ahLst/>
              <a:cxnLst/>
              <a:rect l="l" t="t" r="r" b="b"/>
              <a:pathLst>
                <a:path w="7105269" h="10640949">
                  <a:moveTo>
                    <a:pt x="0" y="0"/>
                  </a:moveTo>
                  <a:lnTo>
                    <a:pt x="7105269" y="0"/>
                  </a:lnTo>
                  <a:lnTo>
                    <a:pt x="7105269" y="10640949"/>
                  </a:lnTo>
                  <a:lnTo>
                    <a:pt x="0" y="10640949"/>
                  </a:lnTo>
                  <a:close/>
                </a:path>
              </a:pathLst>
            </a:custGeom>
            <a:solidFill>
              <a:srgbClr val="0D2137"/>
            </a:solidFill>
            <a:ln w="25400" cap="sq">
              <a:solidFill>
                <a:srgbClr val="0D2137"/>
              </a:solidFill>
              <a:prstDash val="solid"/>
              <a:miter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12161520" y="2048256"/>
            <a:ext cx="5303520" cy="548640"/>
            <a:chOff x="0" y="0"/>
            <a:chExt cx="7071360" cy="73152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7071360" cy="731520"/>
            </a:xfrm>
            <a:custGeom>
              <a:avLst/>
              <a:gdLst/>
              <a:ahLst/>
              <a:cxnLst/>
              <a:rect l="l" t="t" r="r" b="b"/>
              <a:pathLst>
                <a:path w="7071360" h="73152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8355" b="-138355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19050"/>
              <a:ext cx="707136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 spc="199">
                  <a:solidFill>
                    <a:srgbClr val="14A89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FINAL NULL RATES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2344400" y="2834640"/>
            <a:ext cx="3017520" cy="548640"/>
            <a:chOff x="0" y="0"/>
            <a:chExt cx="4023360" cy="73152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4023360" cy="731520"/>
            </a:xfrm>
            <a:custGeom>
              <a:avLst/>
              <a:gdLst/>
              <a:ahLst/>
              <a:cxnLst/>
              <a:rect l="l" t="t" r="r" b="b"/>
              <a:pathLst>
                <a:path w="4023360" h="73152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47625"/>
              <a:ext cx="402336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CALIPER[CM]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5544800" y="2834640"/>
            <a:ext cx="1645920" cy="548640"/>
            <a:chOff x="0" y="0"/>
            <a:chExt cx="2194560" cy="73152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194560" cy="731520"/>
            </a:xfrm>
            <a:custGeom>
              <a:avLst/>
              <a:gdLst/>
              <a:ahLst/>
              <a:cxnLst/>
              <a:rect l="l" t="t" r="r" b="b"/>
              <a:pathLst>
                <a:path w="2194560" h="73152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47625"/>
              <a:ext cx="219456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760"/>
                </a:lnSpc>
              </a:pPr>
              <a:r>
                <a:rPr lang="en-US" sz="2300" b="1">
                  <a:solidFill>
                    <a:srgbClr val="E8A7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0.01%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2344400" y="3877056"/>
            <a:ext cx="3017520" cy="548640"/>
            <a:chOff x="0" y="0"/>
            <a:chExt cx="4023360" cy="73152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4023360" cy="731520"/>
            </a:xfrm>
            <a:custGeom>
              <a:avLst/>
              <a:gdLst/>
              <a:ahLst/>
              <a:cxnLst/>
              <a:rect l="l" t="t" r="r" b="b"/>
              <a:pathLst>
                <a:path w="4023360" h="73152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47625"/>
              <a:ext cx="402336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DEN[G/CC]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5544800" y="3877056"/>
            <a:ext cx="1645920" cy="548640"/>
            <a:chOff x="0" y="0"/>
            <a:chExt cx="2194560" cy="73152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194560" cy="731520"/>
            </a:xfrm>
            <a:custGeom>
              <a:avLst/>
              <a:gdLst/>
              <a:ahLst/>
              <a:cxnLst/>
              <a:rect l="l" t="t" r="r" b="b"/>
              <a:pathLst>
                <a:path w="2194560" h="73152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47625"/>
              <a:ext cx="219456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760"/>
                </a:lnSpc>
              </a:pPr>
              <a:r>
                <a:rPr lang="en-US" sz="2300" b="1">
                  <a:solidFill>
                    <a:srgbClr val="E8A7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0.31%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2344400" y="4919472"/>
            <a:ext cx="3017520" cy="548640"/>
            <a:chOff x="0" y="0"/>
            <a:chExt cx="4023360" cy="73152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023360" cy="731520"/>
            </a:xfrm>
            <a:custGeom>
              <a:avLst/>
              <a:gdLst/>
              <a:ahLst/>
              <a:cxnLst/>
              <a:rect l="l" t="t" r="r" b="b"/>
              <a:pathLst>
                <a:path w="4023360" h="73152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47625"/>
              <a:ext cx="402336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GAM[API]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5544800" y="4919472"/>
            <a:ext cx="1645920" cy="548640"/>
            <a:chOff x="0" y="0"/>
            <a:chExt cx="2194560" cy="73152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194560" cy="731520"/>
            </a:xfrm>
            <a:custGeom>
              <a:avLst/>
              <a:gdLst/>
              <a:ahLst/>
              <a:cxnLst/>
              <a:rect l="l" t="t" r="r" b="b"/>
              <a:pathLst>
                <a:path w="2194560" h="73152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47625"/>
              <a:ext cx="219456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760"/>
                </a:lnSpc>
              </a:pPr>
              <a:r>
                <a:rPr lang="en-US" sz="2300" b="1">
                  <a:solidFill>
                    <a:srgbClr val="14A89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0.00%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2344400" y="5961888"/>
            <a:ext cx="3017520" cy="548640"/>
            <a:chOff x="0" y="0"/>
            <a:chExt cx="4023360" cy="73152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4023360" cy="731520"/>
            </a:xfrm>
            <a:custGeom>
              <a:avLst/>
              <a:gdLst/>
              <a:ahLst/>
              <a:cxnLst/>
              <a:rect l="l" t="t" r="r" b="b"/>
              <a:pathLst>
                <a:path w="4023360" h="73152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47625"/>
              <a:ext cx="402336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RES(16N)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5544800" y="5961888"/>
            <a:ext cx="1645920" cy="548640"/>
            <a:chOff x="0" y="0"/>
            <a:chExt cx="2194560" cy="73152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2194560" cy="731520"/>
            </a:xfrm>
            <a:custGeom>
              <a:avLst/>
              <a:gdLst/>
              <a:ahLst/>
              <a:cxnLst/>
              <a:rect l="l" t="t" r="r" b="b"/>
              <a:pathLst>
                <a:path w="2194560" h="73152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-47625"/>
              <a:ext cx="219456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760"/>
                </a:lnSpc>
              </a:pPr>
              <a:r>
                <a:rPr lang="en-US" sz="2300" b="1">
                  <a:solidFill>
                    <a:srgbClr val="E8A7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0.05%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2344400" y="7004304"/>
            <a:ext cx="3017520" cy="548640"/>
            <a:chOff x="0" y="0"/>
            <a:chExt cx="4023360" cy="73152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4023360" cy="731520"/>
            </a:xfrm>
            <a:custGeom>
              <a:avLst/>
              <a:gdLst/>
              <a:ahLst/>
              <a:cxnLst/>
              <a:rect l="l" t="t" r="r" b="b"/>
              <a:pathLst>
                <a:path w="4023360" h="73152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</p:sp>
        <p:sp>
          <p:nvSpPr>
            <p:cNvPr id="90" name="TextBox 90"/>
            <p:cNvSpPr txBox="1"/>
            <p:nvPr/>
          </p:nvSpPr>
          <p:spPr>
            <a:xfrm>
              <a:off x="0" y="-47625"/>
              <a:ext cx="402336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RES[OHM]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5544800" y="7004304"/>
            <a:ext cx="1645920" cy="548640"/>
            <a:chOff x="0" y="0"/>
            <a:chExt cx="2194560" cy="73152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2194560" cy="731520"/>
            </a:xfrm>
            <a:custGeom>
              <a:avLst/>
              <a:gdLst/>
              <a:ahLst/>
              <a:cxnLst/>
              <a:rect l="l" t="t" r="r" b="b"/>
              <a:pathLst>
                <a:path w="2194560" h="73152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47625"/>
              <a:ext cx="219456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760"/>
                </a:lnSpc>
              </a:pPr>
              <a:r>
                <a:rPr lang="en-US" sz="2300" b="1">
                  <a:solidFill>
                    <a:srgbClr val="E8A7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0.01%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2344400" y="8046720"/>
            <a:ext cx="3017520" cy="548640"/>
            <a:chOff x="0" y="0"/>
            <a:chExt cx="4023360" cy="73152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4023360" cy="731520"/>
            </a:xfrm>
            <a:custGeom>
              <a:avLst/>
              <a:gdLst/>
              <a:ahLst/>
              <a:cxnLst/>
              <a:rect l="l" t="t" r="r" b="b"/>
              <a:pathLst>
                <a:path w="4023360" h="73152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167" b="-57167"/>
              </a:stretch>
            </a:blipFill>
          </p:spPr>
        </p:sp>
        <p:sp>
          <p:nvSpPr>
            <p:cNvPr id="96" name="TextBox 96"/>
            <p:cNvSpPr txBox="1"/>
            <p:nvPr/>
          </p:nvSpPr>
          <p:spPr>
            <a:xfrm>
              <a:off x="0" y="-47625"/>
              <a:ext cx="402336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SP[MV]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15544800" y="8046720"/>
            <a:ext cx="1645920" cy="548640"/>
            <a:chOff x="0" y="0"/>
            <a:chExt cx="2194560" cy="73152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2194560" cy="731520"/>
            </a:xfrm>
            <a:custGeom>
              <a:avLst/>
              <a:gdLst/>
              <a:ahLst/>
              <a:cxnLst/>
              <a:rect l="l" t="t" r="r" b="b"/>
              <a:pathLst>
                <a:path w="2194560" h="731520">
                  <a:moveTo>
                    <a:pt x="0" y="0"/>
                  </a:moveTo>
                  <a:lnTo>
                    <a:pt x="2194560" y="0"/>
                  </a:lnTo>
                  <a:lnTo>
                    <a:pt x="2194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55" b="-8455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-47625"/>
              <a:ext cx="219456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760"/>
                </a:lnSpc>
              </a:pPr>
              <a:r>
                <a:rPr lang="en-US" sz="2300" b="1">
                  <a:solidFill>
                    <a:srgbClr val="14A89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0.00%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12161520" y="9144000"/>
            <a:ext cx="5303520" cy="1005840"/>
            <a:chOff x="0" y="0"/>
            <a:chExt cx="7071360" cy="134112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7071360" cy="1341120"/>
            </a:xfrm>
            <a:custGeom>
              <a:avLst/>
              <a:gdLst/>
              <a:ahLst/>
              <a:cxnLst/>
              <a:rect l="l" t="t" r="r" b="b"/>
              <a:pathLst>
                <a:path w="7071360" h="1341120">
                  <a:moveTo>
                    <a:pt x="0" y="0"/>
                  </a:moveTo>
                  <a:lnTo>
                    <a:pt x="7071360" y="0"/>
                  </a:lnTo>
                  <a:lnTo>
                    <a:pt x="70713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739" b="-52739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-47625"/>
              <a:ext cx="707136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14A89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Remaining nulls imputed by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14A89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per-well median (Phase 2)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1703" y="2400374"/>
            <a:ext cx="17726297" cy="5982127"/>
          </a:xfrm>
          <a:custGeom>
            <a:avLst/>
            <a:gdLst/>
            <a:ahLst/>
            <a:cxnLst/>
            <a:rect l="l" t="t" r="r" b="b"/>
            <a:pathLst>
              <a:path w="17726297" h="5982127">
                <a:moveTo>
                  <a:pt x="0" y="0"/>
                </a:moveTo>
                <a:lnTo>
                  <a:pt x="17726297" y="0"/>
                </a:lnTo>
                <a:lnTo>
                  <a:pt x="17726297" y="5982128"/>
                </a:lnTo>
                <a:lnTo>
                  <a:pt x="0" y="59821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6" t="-828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50356" y="795940"/>
            <a:ext cx="9001522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6000" b="1">
                <a:solidFill>
                  <a:srgbClr val="00357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Exploratory Data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2331" y="1984847"/>
            <a:ext cx="11266928" cy="6985495"/>
          </a:xfrm>
          <a:custGeom>
            <a:avLst/>
            <a:gdLst/>
            <a:ahLst/>
            <a:cxnLst/>
            <a:rect l="l" t="t" r="r" b="b"/>
            <a:pathLst>
              <a:path w="11266928" h="6985495">
                <a:moveTo>
                  <a:pt x="0" y="0"/>
                </a:moveTo>
                <a:lnTo>
                  <a:pt x="11266927" y="0"/>
                </a:lnTo>
                <a:lnTo>
                  <a:pt x="11266927" y="6985496"/>
                </a:lnTo>
                <a:lnTo>
                  <a:pt x="0" y="69854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126368" y="1812194"/>
            <a:ext cx="6161632" cy="7330802"/>
          </a:xfrm>
          <a:custGeom>
            <a:avLst/>
            <a:gdLst/>
            <a:ahLst/>
            <a:cxnLst/>
            <a:rect l="l" t="t" r="r" b="b"/>
            <a:pathLst>
              <a:path w="6161632" h="7330802">
                <a:moveTo>
                  <a:pt x="0" y="0"/>
                </a:moveTo>
                <a:lnTo>
                  <a:pt x="6161632" y="0"/>
                </a:lnTo>
                <a:lnTo>
                  <a:pt x="6161632" y="7330802"/>
                </a:lnTo>
                <a:lnTo>
                  <a:pt x="0" y="73308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27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561975"/>
            <a:ext cx="9715500" cy="923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357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Exploratory Data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329184"/>
            <a:ext cx="16459200" cy="1188720"/>
            <a:chOff x="0" y="0"/>
            <a:chExt cx="21945600" cy="1584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84960"/>
            </a:xfrm>
            <a:custGeom>
              <a:avLst/>
              <a:gdLst/>
              <a:ahLst/>
              <a:cxnLst/>
              <a:rect l="l" t="t" r="r" b="b"/>
              <a:pathLst>
                <a:path w="21945600" h="158496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792" b="-21979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94560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Feature Engineering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578359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79510" cy="33909"/>
            </a:xfrm>
            <a:custGeom>
              <a:avLst/>
              <a:gdLst/>
              <a:ahLst/>
              <a:cxnLst/>
              <a:rect l="l" t="t" r="r" b="b"/>
              <a:pathLst>
                <a:path w="21979510" h="33909">
                  <a:moveTo>
                    <a:pt x="0" y="0"/>
                  </a:moveTo>
                  <a:lnTo>
                    <a:pt x="21979510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12580060" b="-12579948"/>
              </a:stretch>
            </a:blip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14400" y="1700784"/>
            <a:ext cx="16459200" cy="512064"/>
            <a:chOff x="0" y="0"/>
            <a:chExt cx="21945600" cy="68275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682752"/>
            </a:xfrm>
            <a:custGeom>
              <a:avLst/>
              <a:gdLst/>
              <a:ahLst/>
              <a:cxnLst/>
              <a:rect l="l" t="t" r="r" b="b"/>
              <a:pathLst>
                <a:path w="21945600" h="682752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6304" b="-576304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19456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i="1">
                  <a:solidFill>
                    <a:srgbClr val="7A92A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6 raw logs → 13 features via domain-informed petrophysical engineering</a:t>
              </a:r>
            </a:p>
          </p:txBody>
        </p:sp>
      </p:grp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731520" y="2286000"/>
          <a:ext cx="16789400" cy="6705600"/>
        </p:xfrm>
        <a:graphic>
          <a:graphicData uri="http://schemas.openxmlformats.org/drawingml/2006/table">
            <a:tbl>
              <a:tblPr/>
              <a:tblGrid>
                <a:gridCol w="4021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5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Feature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Formula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Petrophysical Rationale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0B6E6E"/>
                          </a:solidFill>
                          <a:latin typeface="Consolas Bold"/>
                          <a:ea typeface="Consolas Bold"/>
                          <a:cs typeface="Consolas Bold"/>
                          <a:sym typeface="Consolas Bold"/>
                        </a:rPr>
                        <a:t>GR_DEN_ratio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21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 / DEN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Amplifies shale vs. dense-sandstone contrast.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0B6E6E"/>
                          </a:solidFill>
                          <a:latin typeface="Consolas Bold"/>
                          <a:ea typeface="Consolas Bold"/>
                          <a:cs typeface="Consolas Bold"/>
                          <a:sym typeface="Consolas Bold"/>
                        </a:rPr>
                        <a:t>log_RES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21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log₁₀(RES[OHM])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Compresses wide resistivity range; linearises response.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0B6E6E"/>
                          </a:solidFill>
                          <a:latin typeface="Consolas Bold"/>
                          <a:ea typeface="Consolas Bold"/>
                          <a:cs typeface="Consolas Bold"/>
                          <a:sym typeface="Consolas Bold"/>
                        </a:rPr>
                        <a:t>log_RES16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21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log₁₀(RES(16N))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Same compression for shallow resistivity tool.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0B6E6E"/>
                          </a:solidFill>
                          <a:latin typeface="Consolas Bold"/>
                          <a:ea typeface="Consolas Bold"/>
                          <a:cs typeface="Consolas Bold"/>
                          <a:sym typeface="Consolas Bold"/>
                        </a:rPr>
                        <a:t>RES_ratio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21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RES[OHM] / RES(16N)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Invasion ratio — differentiates fluid-bearing vs. dry.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0B6E6E"/>
                          </a:solidFill>
                          <a:latin typeface="Consolas Bold"/>
                          <a:ea typeface="Consolas Bold"/>
                          <a:cs typeface="Consolas Bold"/>
                          <a:sym typeface="Consolas Bold"/>
                        </a:rPr>
                        <a:t>DEN_RES_product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21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DEN × log₁₀(RES)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Joint density-resistivity index for lithology typing.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0B6E6E"/>
                          </a:solidFill>
                          <a:latin typeface="Consolas Bold"/>
                          <a:ea typeface="Consolas Bold"/>
                          <a:cs typeface="Consolas Bold"/>
                          <a:sym typeface="Consolas Bold"/>
                        </a:rPr>
                        <a:t>GR_DEN_product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21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 × DEN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Separates carbonaceous shale from clean formations.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1">
                          <a:solidFill>
                            <a:srgbClr val="0B6E6E"/>
                          </a:solidFill>
                          <a:latin typeface="Consolas Bold"/>
                          <a:ea typeface="Consolas Bold"/>
                          <a:cs typeface="Consolas Bold"/>
                          <a:sym typeface="Consolas Bold"/>
                        </a:rPr>
                        <a:t>CALP_anomaly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0D21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CALIPER − median(CALIPER)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Borehole enlargement anomaly; flags washout intervals.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329184"/>
            <a:ext cx="16459200" cy="1188720"/>
            <a:chOff x="0" y="0"/>
            <a:chExt cx="21945600" cy="1584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84960"/>
            </a:xfrm>
            <a:custGeom>
              <a:avLst/>
              <a:gdLst/>
              <a:ahLst/>
              <a:cxnLst/>
              <a:rect l="l" t="t" r="r" b="b"/>
              <a:pathLst>
                <a:path w="21945600" h="158496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792" b="-21979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94560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Machine Learning Workflow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578359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79510" cy="33909"/>
            </a:xfrm>
            <a:custGeom>
              <a:avLst/>
              <a:gdLst/>
              <a:ahLst/>
              <a:cxnLst/>
              <a:rect l="l" t="t" r="r" b="b"/>
              <a:pathLst>
                <a:path w="21979510" h="33909">
                  <a:moveTo>
                    <a:pt x="0" y="0"/>
                  </a:moveTo>
                  <a:lnTo>
                    <a:pt x="21979510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12580060" b="-12579948"/>
              </a:stretch>
            </a:blip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82247" y="2090423"/>
            <a:ext cx="2219963" cy="2860043"/>
            <a:chOff x="0" y="0"/>
            <a:chExt cx="2959951" cy="381339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59989" cy="3813429"/>
            </a:xfrm>
            <a:custGeom>
              <a:avLst/>
              <a:gdLst/>
              <a:ahLst/>
              <a:cxnLst/>
              <a:rect l="l" t="t" r="r" b="b"/>
              <a:pathLst>
                <a:path w="2959989" h="3813429">
                  <a:moveTo>
                    <a:pt x="0" y="0"/>
                  </a:moveTo>
                  <a:lnTo>
                    <a:pt x="2959989" y="0"/>
                  </a:lnTo>
                  <a:lnTo>
                    <a:pt x="2959989" y="3813429"/>
                  </a:lnTo>
                  <a:lnTo>
                    <a:pt x="0" y="3813429"/>
                  </a:lnTo>
                  <a:close/>
                </a:path>
              </a:pathLst>
            </a:custGeom>
            <a:solidFill>
              <a:srgbClr val="0D2137"/>
            </a:solidFill>
            <a:ln w="25400" cap="sq">
              <a:solidFill>
                <a:srgbClr val="0D2137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94944" y="2231136"/>
            <a:ext cx="2194560" cy="1280160"/>
            <a:chOff x="0" y="0"/>
            <a:chExt cx="2926080" cy="17068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926080" cy="1706880"/>
            </a:xfrm>
            <a:custGeom>
              <a:avLst/>
              <a:gdLst/>
              <a:ahLst/>
              <a:cxnLst/>
              <a:rect l="l" t="t" r="r" b="b"/>
              <a:pathLst>
                <a:path w="2926080" h="1706880">
                  <a:moveTo>
                    <a:pt x="0" y="0"/>
                  </a:moveTo>
                  <a:lnTo>
                    <a:pt x="2926080" y="0"/>
                  </a:lnTo>
                  <a:lnTo>
                    <a:pt x="29260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926080" cy="1725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Raw Well Logs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45741" y="3523993"/>
            <a:ext cx="2092957" cy="11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CCEEEC"/>
                </a:solidFill>
                <a:latin typeface="Calibri (MS)"/>
                <a:ea typeface="Calibri (MS)"/>
                <a:cs typeface="Calibri (MS)"/>
                <a:sym typeface="Calibri (MS)"/>
              </a:rPr>
              <a:t>4 wells · 6 logs each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900677" y="3504181"/>
            <a:ext cx="197101" cy="50797"/>
            <a:chOff x="0" y="0"/>
            <a:chExt cx="262801" cy="6772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62763" cy="67691"/>
            </a:xfrm>
            <a:custGeom>
              <a:avLst/>
              <a:gdLst/>
              <a:ahLst/>
              <a:cxnLst/>
              <a:rect l="l" t="t" r="r" b="b"/>
              <a:pathLst>
                <a:path w="262763" h="67691">
                  <a:moveTo>
                    <a:pt x="0" y="0"/>
                  </a:moveTo>
                  <a:lnTo>
                    <a:pt x="262763" y="676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25619" r="-14" b="-25676"/>
              </a:stretch>
            </a:blipFill>
            <a:ln w="508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096263" y="2090423"/>
            <a:ext cx="2219963" cy="2860043"/>
            <a:chOff x="0" y="0"/>
            <a:chExt cx="2959951" cy="381339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959989" cy="3813429"/>
            </a:xfrm>
            <a:custGeom>
              <a:avLst/>
              <a:gdLst/>
              <a:ahLst/>
              <a:cxnLst/>
              <a:rect l="l" t="t" r="r" b="b"/>
              <a:pathLst>
                <a:path w="2959989" h="3813429">
                  <a:moveTo>
                    <a:pt x="0" y="0"/>
                  </a:moveTo>
                  <a:lnTo>
                    <a:pt x="2959989" y="0"/>
                  </a:lnTo>
                  <a:lnTo>
                    <a:pt x="2959989" y="3813429"/>
                  </a:lnTo>
                  <a:lnTo>
                    <a:pt x="0" y="3813429"/>
                  </a:lnTo>
                  <a:close/>
                </a:path>
              </a:pathLst>
            </a:custGeom>
            <a:solidFill>
              <a:srgbClr val="0B6E6E"/>
            </a:solid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3108960" y="2231136"/>
            <a:ext cx="2194560" cy="1280160"/>
            <a:chOff x="0" y="0"/>
            <a:chExt cx="2926080" cy="17068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926080" cy="1706880"/>
            </a:xfrm>
            <a:custGeom>
              <a:avLst/>
              <a:gdLst/>
              <a:ahLst/>
              <a:cxnLst/>
              <a:rect l="l" t="t" r="r" b="b"/>
              <a:pathLst>
                <a:path w="2926080" h="1706880">
                  <a:moveTo>
                    <a:pt x="0" y="0"/>
                  </a:moveTo>
                  <a:lnTo>
                    <a:pt x="2926080" y="0"/>
                  </a:lnTo>
                  <a:lnTo>
                    <a:pt x="29260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2926080" cy="1725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Cleaning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3159757" y="3523993"/>
            <a:ext cx="2092957" cy="11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CCEEEC"/>
                </a:solidFill>
                <a:latin typeface="Calibri (MS)"/>
                <a:ea typeface="Calibri (MS)"/>
                <a:cs typeface="Calibri (MS)"/>
                <a:sym typeface="Calibri (MS)"/>
              </a:rPr>
              <a:t>Null, bounds, startup removal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314693" y="3504181"/>
            <a:ext cx="197101" cy="50797"/>
            <a:chOff x="0" y="0"/>
            <a:chExt cx="262801" cy="6772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62763" cy="67691"/>
            </a:xfrm>
            <a:custGeom>
              <a:avLst/>
              <a:gdLst/>
              <a:ahLst/>
              <a:cxnLst/>
              <a:rect l="l" t="t" r="r" b="b"/>
              <a:pathLst>
                <a:path w="262763" h="67691">
                  <a:moveTo>
                    <a:pt x="0" y="0"/>
                  </a:moveTo>
                  <a:lnTo>
                    <a:pt x="262763" y="676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25619" r="-14" b="-25676"/>
              </a:stretch>
            </a:blipFill>
            <a:ln w="508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5510279" y="2090423"/>
            <a:ext cx="2219963" cy="2860043"/>
            <a:chOff x="0" y="0"/>
            <a:chExt cx="2959951" cy="381339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959989" cy="3813429"/>
            </a:xfrm>
            <a:custGeom>
              <a:avLst/>
              <a:gdLst/>
              <a:ahLst/>
              <a:cxnLst/>
              <a:rect l="l" t="t" r="r" b="b"/>
              <a:pathLst>
                <a:path w="2959989" h="3813429">
                  <a:moveTo>
                    <a:pt x="0" y="0"/>
                  </a:moveTo>
                  <a:lnTo>
                    <a:pt x="2959989" y="0"/>
                  </a:lnTo>
                  <a:lnTo>
                    <a:pt x="2959989" y="3813429"/>
                  </a:lnTo>
                  <a:lnTo>
                    <a:pt x="0" y="3813429"/>
                  </a:lnTo>
                  <a:close/>
                </a:path>
              </a:pathLst>
            </a:custGeom>
            <a:solidFill>
              <a:srgbClr val="14A89D"/>
            </a:solidFill>
            <a:ln w="25400" cap="sq">
              <a:solidFill>
                <a:srgbClr val="14A89D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5522976" y="2231136"/>
            <a:ext cx="2194560" cy="1280160"/>
            <a:chOff x="0" y="0"/>
            <a:chExt cx="2926080" cy="170688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926080" cy="1706880"/>
            </a:xfrm>
            <a:custGeom>
              <a:avLst/>
              <a:gdLst/>
              <a:ahLst/>
              <a:cxnLst/>
              <a:rect l="l" t="t" r="r" b="b"/>
              <a:pathLst>
                <a:path w="2926080" h="1706880">
                  <a:moveTo>
                    <a:pt x="0" y="0"/>
                  </a:moveTo>
                  <a:lnTo>
                    <a:pt x="2926080" y="0"/>
                  </a:lnTo>
                  <a:lnTo>
                    <a:pt x="29260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2926080" cy="1725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Feature Engineering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573773" y="3523993"/>
            <a:ext cx="2092957" cy="11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CCEEEC"/>
                </a:solidFill>
                <a:latin typeface="Calibri (MS)"/>
                <a:ea typeface="Calibri (MS)"/>
                <a:cs typeface="Calibri (MS)"/>
                <a:sym typeface="Calibri (MS)"/>
              </a:rPr>
              <a:t>13 features (6 raw + 7 derived)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728709" y="3504181"/>
            <a:ext cx="197101" cy="50797"/>
            <a:chOff x="0" y="0"/>
            <a:chExt cx="262801" cy="6772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62763" cy="67691"/>
            </a:xfrm>
            <a:custGeom>
              <a:avLst/>
              <a:gdLst/>
              <a:ahLst/>
              <a:cxnLst/>
              <a:rect l="l" t="t" r="r" b="b"/>
              <a:pathLst>
                <a:path w="262763" h="67691">
                  <a:moveTo>
                    <a:pt x="0" y="0"/>
                  </a:moveTo>
                  <a:lnTo>
                    <a:pt x="262763" y="676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25619" r="-14" b="-25676"/>
              </a:stretch>
            </a:blipFill>
            <a:ln w="508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7924295" y="2090423"/>
            <a:ext cx="2219963" cy="2860043"/>
            <a:chOff x="0" y="0"/>
            <a:chExt cx="2959951" cy="381339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959989" cy="3813429"/>
            </a:xfrm>
            <a:custGeom>
              <a:avLst/>
              <a:gdLst/>
              <a:ahLst/>
              <a:cxnLst/>
              <a:rect l="l" t="t" r="r" b="b"/>
              <a:pathLst>
                <a:path w="2959989" h="3813429">
                  <a:moveTo>
                    <a:pt x="0" y="0"/>
                  </a:moveTo>
                  <a:lnTo>
                    <a:pt x="2959989" y="0"/>
                  </a:lnTo>
                  <a:lnTo>
                    <a:pt x="2959989" y="3813429"/>
                  </a:lnTo>
                  <a:lnTo>
                    <a:pt x="0" y="3813429"/>
                  </a:lnTo>
                  <a:close/>
                </a:path>
              </a:pathLst>
            </a:custGeom>
            <a:solidFill>
              <a:srgbClr val="1A5C5A"/>
            </a:solidFill>
            <a:ln w="25400" cap="sq">
              <a:solidFill>
                <a:srgbClr val="1A5C5A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7936992" y="2231136"/>
            <a:ext cx="2194560" cy="1280160"/>
            <a:chOff x="0" y="0"/>
            <a:chExt cx="2926080" cy="170688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926080" cy="1706880"/>
            </a:xfrm>
            <a:custGeom>
              <a:avLst/>
              <a:gdLst/>
              <a:ahLst/>
              <a:cxnLst/>
              <a:rect l="l" t="t" r="r" b="b"/>
              <a:pathLst>
                <a:path w="2926080" h="1706880">
                  <a:moveTo>
                    <a:pt x="0" y="0"/>
                  </a:moveTo>
                  <a:lnTo>
                    <a:pt x="2926080" y="0"/>
                  </a:lnTo>
                  <a:lnTo>
                    <a:pt x="29260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2926080" cy="1725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LOWO Split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7987789" y="3523993"/>
            <a:ext cx="2092957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CCEEEC"/>
                </a:solidFill>
                <a:latin typeface="Calibri (MS)"/>
                <a:ea typeface="Calibri (MS)"/>
                <a:cs typeface="Calibri (MS)"/>
                <a:sym typeface="Calibri (MS)"/>
              </a:rPr>
              <a:t>Wells 1–3 train, 1 test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0142725" y="3504181"/>
            <a:ext cx="197101" cy="50797"/>
            <a:chOff x="0" y="0"/>
            <a:chExt cx="262801" cy="6772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62763" cy="67691"/>
            </a:xfrm>
            <a:custGeom>
              <a:avLst/>
              <a:gdLst/>
              <a:ahLst/>
              <a:cxnLst/>
              <a:rect l="l" t="t" r="r" b="b"/>
              <a:pathLst>
                <a:path w="262763" h="67691">
                  <a:moveTo>
                    <a:pt x="0" y="0"/>
                  </a:moveTo>
                  <a:lnTo>
                    <a:pt x="262763" y="676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25619" r="-14" b="-25676"/>
              </a:stretch>
            </a:blipFill>
            <a:ln w="508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10338311" y="2090423"/>
            <a:ext cx="2219963" cy="2860043"/>
            <a:chOff x="0" y="0"/>
            <a:chExt cx="2959951" cy="381339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959989" cy="3813429"/>
            </a:xfrm>
            <a:custGeom>
              <a:avLst/>
              <a:gdLst/>
              <a:ahLst/>
              <a:cxnLst/>
              <a:rect l="l" t="t" r="r" b="b"/>
              <a:pathLst>
                <a:path w="2959989" h="3813429">
                  <a:moveTo>
                    <a:pt x="0" y="0"/>
                  </a:moveTo>
                  <a:lnTo>
                    <a:pt x="2959989" y="0"/>
                  </a:lnTo>
                  <a:lnTo>
                    <a:pt x="2959989" y="3813429"/>
                  </a:lnTo>
                  <a:lnTo>
                    <a:pt x="0" y="3813429"/>
                  </a:lnTo>
                  <a:close/>
                </a:path>
              </a:pathLst>
            </a:custGeom>
            <a:solidFill>
              <a:srgbClr val="E8A723"/>
            </a:solidFill>
            <a:ln w="25400" cap="sq">
              <a:solidFill>
                <a:srgbClr val="E8A723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0351008" y="2231136"/>
            <a:ext cx="2194560" cy="1280160"/>
            <a:chOff x="0" y="0"/>
            <a:chExt cx="2926080" cy="170688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926080" cy="1706880"/>
            </a:xfrm>
            <a:custGeom>
              <a:avLst/>
              <a:gdLst/>
              <a:ahLst/>
              <a:cxnLst/>
              <a:rect l="l" t="t" r="r" b="b"/>
              <a:pathLst>
                <a:path w="2926080" h="1706880">
                  <a:moveTo>
                    <a:pt x="0" y="0"/>
                  </a:moveTo>
                  <a:lnTo>
                    <a:pt x="2926080" y="0"/>
                  </a:lnTo>
                  <a:lnTo>
                    <a:pt x="29260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2926080" cy="1725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Model Training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0401805" y="3523993"/>
            <a:ext cx="2092957" cy="11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CCEEEC"/>
                </a:solidFill>
                <a:latin typeface="Calibri (MS)"/>
                <a:ea typeface="Calibri (MS)"/>
                <a:cs typeface="Calibri (MS)"/>
                <a:sym typeface="Calibri (MS)"/>
              </a:rPr>
              <a:t>RF · XGB · SVM · KNN · CNN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2556741" y="3504181"/>
            <a:ext cx="197101" cy="50797"/>
            <a:chOff x="0" y="0"/>
            <a:chExt cx="262801" cy="67729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62763" cy="67691"/>
            </a:xfrm>
            <a:custGeom>
              <a:avLst/>
              <a:gdLst/>
              <a:ahLst/>
              <a:cxnLst/>
              <a:rect l="l" t="t" r="r" b="b"/>
              <a:pathLst>
                <a:path w="262763" h="67691">
                  <a:moveTo>
                    <a:pt x="0" y="0"/>
                  </a:moveTo>
                  <a:lnTo>
                    <a:pt x="262763" y="676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25619" r="-14" b="-25676"/>
              </a:stretch>
            </a:blipFill>
            <a:ln w="508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12752327" y="2090423"/>
            <a:ext cx="2219963" cy="2860043"/>
            <a:chOff x="0" y="0"/>
            <a:chExt cx="2959951" cy="3813391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959989" cy="3813429"/>
            </a:xfrm>
            <a:custGeom>
              <a:avLst/>
              <a:gdLst/>
              <a:ahLst/>
              <a:cxnLst/>
              <a:rect l="l" t="t" r="r" b="b"/>
              <a:pathLst>
                <a:path w="2959989" h="3813429">
                  <a:moveTo>
                    <a:pt x="0" y="0"/>
                  </a:moveTo>
                  <a:lnTo>
                    <a:pt x="2959989" y="0"/>
                  </a:lnTo>
                  <a:lnTo>
                    <a:pt x="2959989" y="3813429"/>
                  </a:lnTo>
                  <a:lnTo>
                    <a:pt x="0" y="3813429"/>
                  </a:lnTo>
                  <a:close/>
                </a:path>
              </a:pathLst>
            </a:custGeom>
            <a:solidFill>
              <a:srgbClr val="F2A261"/>
            </a:solidFill>
            <a:ln w="25400" cap="sq">
              <a:solidFill>
                <a:srgbClr val="F2A261"/>
              </a:solidFill>
              <a:prstDash val="solid"/>
              <a:miter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12765024" y="2231136"/>
            <a:ext cx="2194560" cy="1280160"/>
            <a:chOff x="0" y="0"/>
            <a:chExt cx="2926080" cy="170688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926080" cy="1706880"/>
            </a:xfrm>
            <a:custGeom>
              <a:avLst/>
              <a:gdLst/>
              <a:ahLst/>
              <a:cxnLst/>
              <a:rect l="l" t="t" r="r" b="b"/>
              <a:pathLst>
                <a:path w="2926080" h="1706880">
                  <a:moveTo>
                    <a:pt x="0" y="0"/>
                  </a:moveTo>
                  <a:lnTo>
                    <a:pt x="2926080" y="0"/>
                  </a:lnTo>
                  <a:lnTo>
                    <a:pt x="29260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2926080" cy="1725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LOWO Validation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2815821" y="3523993"/>
            <a:ext cx="2092957" cy="11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CCEEEC"/>
                </a:solidFill>
                <a:latin typeface="Calibri (MS)"/>
                <a:ea typeface="Calibri (MS)"/>
                <a:cs typeface="Calibri (MS)"/>
                <a:sym typeface="Calibri (MS)"/>
              </a:rPr>
              <a:t>4-fold avg F1-weighted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14970757" y="3504181"/>
            <a:ext cx="197101" cy="50797"/>
            <a:chOff x="0" y="0"/>
            <a:chExt cx="262801" cy="6772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62763" cy="67691"/>
            </a:xfrm>
            <a:custGeom>
              <a:avLst/>
              <a:gdLst/>
              <a:ahLst/>
              <a:cxnLst/>
              <a:rect l="l" t="t" r="r" b="b"/>
              <a:pathLst>
                <a:path w="262763" h="67691">
                  <a:moveTo>
                    <a:pt x="0" y="0"/>
                  </a:moveTo>
                  <a:lnTo>
                    <a:pt x="262763" y="6769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25619" r="-14" b="-25676"/>
              </a:stretch>
            </a:blipFill>
            <a:ln w="508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15166343" y="2090423"/>
            <a:ext cx="2219963" cy="2860043"/>
            <a:chOff x="0" y="0"/>
            <a:chExt cx="2959951" cy="3813391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959989" cy="3813429"/>
            </a:xfrm>
            <a:custGeom>
              <a:avLst/>
              <a:gdLst/>
              <a:ahLst/>
              <a:cxnLst/>
              <a:rect l="l" t="t" r="r" b="b"/>
              <a:pathLst>
                <a:path w="2959989" h="3813429">
                  <a:moveTo>
                    <a:pt x="0" y="0"/>
                  </a:moveTo>
                  <a:lnTo>
                    <a:pt x="2959989" y="0"/>
                  </a:lnTo>
                  <a:lnTo>
                    <a:pt x="2959989" y="3813429"/>
                  </a:lnTo>
                  <a:lnTo>
                    <a:pt x="0" y="3813429"/>
                  </a:lnTo>
                  <a:close/>
                </a:path>
              </a:pathLst>
            </a:custGeom>
            <a:solidFill>
              <a:srgbClr val="6D6875"/>
            </a:solidFill>
            <a:ln w="25400" cap="sq">
              <a:solidFill>
                <a:srgbClr val="6D6875"/>
              </a:solidFill>
              <a:prstDash val="solid"/>
              <a:miter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15179040" y="2231136"/>
            <a:ext cx="2194560" cy="1280160"/>
            <a:chOff x="0" y="0"/>
            <a:chExt cx="2926080" cy="170688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926080" cy="1706880"/>
            </a:xfrm>
            <a:custGeom>
              <a:avLst/>
              <a:gdLst/>
              <a:ahLst/>
              <a:cxnLst/>
              <a:rect l="l" t="t" r="r" b="b"/>
              <a:pathLst>
                <a:path w="2926080" h="1706880">
                  <a:moveTo>
                    <a:pt x="0" y="0"/>
                  </a:moveTo>
                  <a:lnTo>
                    <a:pt x="2926080" y="0"/>
                  </a:lnTo>
                  <a:lnTo>
                    <a:pt x="29260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r="-24843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2926080" cy="1725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Best Model: RF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5229837" y="3523993"/>
            <a:ext cx="2092957" cy="112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>
                <a:solidFill>
                  <a:srgbClr val="CCEEEC"/>
                </a:solidFill>
                <a:latin typeface="Calibri (MS)"/>
                <a:ea typeface="Calibri (MS)"/>
                <a:cs typeface="Calibri (MS)"/>
                <a:sym typeface="Calibri (MS)"/>
              </a:rPr>
              <a:t>Mean F1 = 53.5%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731520" y="5436241"/>
            <a:ext cx="9144000" cy="690239"/>
            <a:chOff x="0" y="0"/>
            <a:chExt cx="12192000" cy="920318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2192000" cy="920318"/>
            </a:xfrm>
            <a:custGeom>
              <a:avLst/>
              <a:gdLst/>
              <a:ahLst/>
              <a:cxnLst/>
              <a:rect l="l" t="t" r="r" b="b"/>
              <a:pathLst>
                <a:path w="12192000" h="920318">
                  <a:moveTo>
                    <a:pt x="0" y="0"/>
                  </a:moveTo>
                  <a:lnTo>
                    <a:pt x="12192000" y="0"/>
                  </a:lnTo>
                  <a:lnTo>
                    <a:pt x="12192000" y="920318"/>
                  </a:lnTo>
                  <a:lnTo>
                    <a:pt x="0" y="9203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1763" b="-204496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9525"/>
              <a:ext cx="12192000" cy="9298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Leave-One-Well-Out (LOWO) Cross-Validation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10263" y="6241799"/>
            <a:ext cx="281435" cy="281435"/>
            <a:chOff x="0" y="0"/>
            <a:chExt cx="375247" cy="375247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B6E6E"/>
            </a:solid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1280160" y="6181344"/>
            <a:ext cx="9144000" cy="694944"/>
            <a:chOff x="0" y="0"/>
            <a:chExt cx="12192000" cy="926592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2192000" cy="926592"/>
            </a:xfrm>
            <a:custGeom>
              <a:avLst/>
              <a:gdLst/>
              <a:ahLst/>
              <a:cxnLst/>
              <a:rect l="l" t="t" r="r" b="b"/>
              <a:pathLst>
                <a:path w="12192000" h="926592">
                  <a:moveTo>
                    <a:pt x="0" y="0"/>
                  </a:moveTo>
                  <a:lnTo>
                    <a:pt x="12192000" y="0"/>
                  </a:lnTo>
                  <a:lnTo>
                    <a:pt x="12192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382" b="-206382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1219200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 on 3 wells → Predict unseen 4th well. Repeated 4 times.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810263" y="7119623"/>
            <a:ext cx="281435" cy="281435"/>
            <a:chOff x="0" y="0"/>
            <a:chExt cx="375247" cy="375247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B6E6E"/>
            </a:solid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1280160" y="7059168"/>
            <a:ext cx="9144000" cy="694944"/>
            <a:chOff x="0" y="0"/>
            <a:chExt cx="12192000" cy="92659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2192000" cy="926592"/>
            </a:xfrm>
            <a:custGeom>
              <a:avLst/>
              <a:gdLst/>
              <a:ahLst/>
              <a:cxnLst/>
              <a:rect l="l" t="t" r="r" b="b"/>
              <a:pathLst>
                <a:path w="12192000" h="926592">
                  <a:moveTo>
                    <a:pt x="0" y="0"/>
                  </a:moveTo>
                  <a:lnTo>
                    <a:pt x="12192000" y="0"/>
                  </a:lnTo>
                  <a:lnTo>
                    <a:pt x="12192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382" b="-206382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1219200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Tests true cross-basin generalization (Raniganj ↔ Jharia basins).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810263" y="7997447"/>
            <a:ext cx="281435" cy="281435"/>
            <a:chOff x="0" y="0"/>
            <a:chExt cx="375247" cy="375247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B6E6E"/>
            </a:solid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1280160" y="7936992"/>
            <a:ext cx="9144000" cy="694944"/>
            <a:chOff x="0" y="0"/>
            <a:chExt cx="12192000" cy="926592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2192000" cy="926592"/>
            </a:xfrm>
            <a:custGeom>
              <a:avLst/>
              <a:gdLst/>
              <a:ahLst/>
              <a:cxnLst/>
              <a:rect l="l" t="t" r="r" b="b"/>
              <a:pathLst>
                <a:path w="12192000" h="926592">
                  <a:moveTo>
                    <a:pt x="0" y="0"/>
                  </a:moveTo>
                  <a:lnTo>
                    <a:pt x="12192000" y="0"/>
                  </a:lnTo>
                  <a:lnTo>
                    <a:pt x="12192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382" b="-206382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1219200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24,000 balanced training samples per fold (via class_weight='balanced').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10263" y="8875271"/>
            <a:ext cx="281435" cy="281435"/>
            <a:chOff x="0" y="0"/>
            <a:chExt cx="375247" cy="375247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0B6E6E"/>
            </a:solid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81" name="Group 81"/>
          <p:cNvGrpSpPr/>
          <p:nvPr/>
        </p:nvGrpSpPr>
        <p:grpSpPr>
          <a:xfrm>
            <a:off x="1280160" y="8814816"/>
            <a:ext cx="9144000" cy="694944"/>
            <a:chOff x="0" y="0"/>
            <a:chExt cx="12192000" cy="926592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2192000" cy="926592"/>
            </a:xfrm>
            <a:custGeom>
              <a:avLst/>
              <a:gdLst/>
              <a:ahLst/>
              <a:cxnLst/>
              <a:rect l="l" t="t" r="r" b="b"/>
              <a:pathLst>
                <a:path w="12192000" h="926592">
                  <a:moveTo>
                    <a:pt x="0" y="0"/>
                  </a:moveTo>
                  <a:lnTo>
                    <a:pt x="12192000" y="0"/>
                  </a:lnTo>
                  <a:lnTo>
                    <a:pt x="12192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382" b="-206382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38100"/>
              <a:ext cx="1219200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 test set: Wells 3 &amp; 4 (Jharia) — unseen during training.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0777223" y="5473703"/>
            <a:ext cx="6700523" cy="4597403"/>
            <a:chOff x="0" y="0"/>
            <a:chExt cx="8934031" cy="6129871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8934069" cy="6129909"/>
            </a:xfrm>
            <a:custGeom>
              <a:avLst/>
              <a:gdLst/>
              <a:ahLst/>
              <a:cxnLst/>
              <a:rect l="l" t="t" r="r" b="b"/>
              <a:pathLst>
                <a:path w="8934069" h="6129909">
                  <a:moveTo>
                    <a:pt x="0" y="0"/>
                  </a:moveTo>
                  <a:lnTo>
                    <a:pt x="8934069" y="0"/>
                  </a:lnTo>
                  <a:lnTo>
                    <a:pt x="8934069" y="6129909"/>
                  </a:lnTo>
                  <a:lnTo>
                    <a:pt x="0" y="6129909"/>
                  </a:lnTo>
                  <a:close/>
                </a:path>
              </a:pathLst>
            </a:custGeom>
            <a:solidFill>
              <a:srgbClr val="0D2137"/>
            </a:solidFill>
            <a:ln w="25400" cap="sq">
              <a:solidFill>
                <a:srgbClr val="0D2137"/>
              </a:solidFill>
              <a:prstDash val="solid"/>
              <a:miter/>
            </a:ln>
          </p:spPr>
        </p:sp>
      </p:grpSp>
      <p:grpSp>
        <p:nvGrpSpPr>
          <p:cNvPr id="86" name="Group 86"/>
          <p:cNvGrpSpPr/>
          <p:nvPr/>
        </p:nvGrpSpPr>
        <p:grpSpPr>
          <a:xfrm>
            <a:off x="10789920" y="5614416"/>
            <a:ext cx="6675120" cy="548640"/>
            <a:chOff x="0" y="0"/>
            <a:chExt cx="8900160" cy="73152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8900160" cy="731520"/>
            </a:xfrm>
            <a:custGeom>
              <a:avLst/>
              <a:gdLst/>
              <a:ahLst/>
              <a:cxnLst/>
              <a:rect l="l" t="t" r="r" b="b"/>
              <a:pathLst>
                <a:path w="8900160" h="731520">
                  <a:moveTo>
                    <a:pt x="0" y="0"/>
                  </a:moveTo>
                  <a:lnTo>
                    <a:pt x="8900160" y="0"/>
                  </a:lnTo>
                  <a:lnTo>
                    <a:pt x="8900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7067" b="-187067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19050"/>
              <a:ext cx="890016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 spc="300">
                  <a:solidFill>
                    <a:srgbClr val="14A89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FOLD SUMMARY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0972800" y="6254496"/>
            <a:ext cx="914400" cy="585216"/>
            <a:chOff x="0" y="0"/>
            <a:chExt cx="1219200" cy="780288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1219200" cy="780288"/>
            </a:xfrm>
            <a:custGeom>
              <a:avLst/>
              <a:gdLst/>
              <a:ahLst/>
              <a:cxnLst/>
              <a:rect l="l" t="t" r="r" b="b"/>
              <a:pathLst>
                <a:path w="1219200" h="780288">
                  <a:moveTo>
                    <a:pt x="0" y="0"/>
                  </a:moveTo>
                  <a:lnTo>
                    <a:pt x="1219200" y="0"/>
                  </a:lnTo>
                  <a:lnTo>
                    <a:pt x="1219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114" r="-32114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47625"/>
              <a:ext cx="121920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4A89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Fold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1978640" y="6254496"/>
            <a:ext cx="3657600" cy="585216"/>
            <a:chOff x="0" y="0"/>
            <a:chExt cx="4876800" cy="780288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4876800" cy="780288"/>
            </a:xfrm>
            <a:custGeom>
              <a:avLst/>
              <a:gdLst/>
              <a:ahLst/>
              <a:cxnLst/>
              <a:rect l="l" t="t" r="r" b="b"/>
              <a:pathLst>
                <a:path w="4876800" h="780288">
                  <a:moveTo>
                    <a:pt x="0" y="0"/>
                  </a:moveTo>
                  <a:lnTo>
                    <a:pt x="4876800" y="0"/>
                  </a:lnTo>
                  <a:lnTo>
                    <a:pt x="4876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81" b="-71781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47625"/>
              <a:ext cx="487680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14A89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Well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5727680" y="6254496"/>
            <a:ext cx="1463040" cy="585216"/>
            <a:chOff x="0" y="0"/>
            <a:chExt cx="1950720" cy="780288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1950720" cy="780288"/>
            </a:xfrm>
            <a:custGeom>
              <a:avLst/>
              <a:gdLst/>
              <a:ahLst/>
              <a:cxnLst/>
              <a:rect l="l" t="t" r="r" b="b"/>
              <a:pathLst>
                <a:path w="1950720" h="780288">
                  <a:moveTo>
                    <a:pt x="0" y="0"/>
                  </a:moveTo>
                  <a:lnTo>
                    <a:pt x="1950720" y="0"/>
                  </a:lnTo>
                  <a:lnTo>
                    <a:pt x="19507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r="-1321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-47625"/>
              <a:ext cx="195072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640"/>
                </a:lnSpc>
              </a:pPr>
              <a:r>
                <a:rPr lang="en-US" sz="2200" b="1">
                  <a:solidFill>
                    <a:srgbClr val="14A89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Rows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0972800" y="7004304"/>
            <a:ext cx="914400" cy="585216"/>
            <a:chOff x="0" y="0"/>
            <a:chExt cx="1219200" cy="780288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1219200" cy="780288"/>
            </a:xfrm>
            <a:custGeom>
              <a:avLst/>
              <a:gdLst/>
              <a:ahLst/>
              <a:cxnLst/>
              <a:rect l="l" t="t" r="r" b="b"/>
              <a:pathLst>
                <a:path w="1219200" h="780288">
                  <a:moveTo>
                    <a:pt x="0" y="0"/>
                  </a:moveTo>
                  <a:lnTo>
                    <a:pt x="1219200" y="0"/>
                  </a:lnTo>
                  <a:lnTo>
                    <a:pt x="1219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114" r="-32114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-47625"/>
              <a:ext cx="121920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1978640" y="7004304"/>
            <a:ext cx="3657600" cy="585216"/>
            <a:chOff x="0" y="0"/>
            <a:chExt cx="4876800" cy="780288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4876800" cy="780288"/>
            </a:xfrm>
            <a:custGeom>
              <a:avLst/>
              <a:gdLst/>
              <a:ahLst/>
              <a:cxnLst/>
              <a:rect l="l" t="t" r="r" b="b"/>
              <a:pathLst>
                <a:path w="4876800" h="780288">
                  <a:moveTo>
                    <a:pt x="0" y="0"/>
                  </a:moveTo>
                  <a:lnTo>
                    <a:pt x="4876800" y="0"/>
                  </a:lnTo>
                  <a:lnTo>
                    <a:pt x="4876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81" b="-71781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-47625"/>
              <a:ext cx="487680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Well 1 (Raniganj)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5727680" y="7004304"/>
            <a:ext cx="1463040" cy="585216"/>
            <a:chOff x="0" y="0"/>
            <a:chExt cx="1950720" cy="780288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1950720" cy="780288"/>
            </a:xfrm>
            <a:custGeom>
              <a:avLst/>
              <a:gdLst/>
              <a:ahLst/>
              <a:cxnLst/>
              <a:rect l="l" t="t" r="r" b="b"/>
              <a:pathLst>
                <a:path w="1950720" h="780288">
                  <a:moveTo>
                    <a:pt x="0" y="0"/>
                  </a:moveTo>
                  <a:lnTo>
                    <a:pt x="1950720" y="0"/>
                  </a:lnTo>
                  <a:lnTo>
                    <a:pt x="19507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r="-1321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-47625"/>
              <a:ext cx="195072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E8A72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37,242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0972800" y="7754112"/>
            <a:ext cx="914400" cy="585216"/>
            <a:chOff x="0" y="0"/>
            <a:chExt cx="1219200" cy="780288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1219200" cy="780288"/>
            </a:xfrm>
            <a:custGeom>
              <a:avLst/>
              <a:gdLst/>
              <a:ahLst/>
              <a:cxnLst/>
              <a:rect l="l" t="t" r="r" b="b"/>
              <a:pathLst>
                <a:path w="1219200" h="780288">
                  <a:moveTo>
                    <a:pt x="0" y="0"/>
                  </a:moveTo>
                  <a:lnTo>
                    <a:pt x="1219200" y="0"/>
                  </a:lnTo>
                  <a:lnTo>
                    <a:pt x="1219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114" r="-32114"/>
              </a:stretch>
            </a:blipFill>
          </p:spPr>
        </p:sp>
        <p:sp>
          <p:nvSpPr>
            <p:cNvPr id="109" name="TextBox 109"/>
            <p:cNvSpPr txBox="1"/>
            <p:nvPr/>
          </p:nvSpPr>
          <p:spPr>
            <a:xfrm>
              <a:off x="0" y="-47625"/>
              <a:ext cx="121920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1978640" y="7754112"/>
            <a:ext cx="3657600" cy="585216"/>
            <a:chOff x="0" y="0"/>
            <a:chExt cx="4876800" cy="780288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4876800" cy="780288"/>
            </a:xfrm>
            <a:custGeom>
              <a:avLst/>
              <a:gdLst/>
              <a:ahLst/>
              <a:cxnLst/>
              <a:rect l="l" t="t" r="r" b="b"/>
              <a:pathLst>
                <a:path w="4876800" h="780288">
                  <a:moveTo>
                    <a:pt x="0" y="0"/>
                  </a:moveTo>
                  <a:lnTo>
                    <a:pt x="4876800" y="0"/>
                  </a:lnTo>
                  <a:lnTo>
                    <a:pt x="4876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81" b="-71781"/>
              </a:stretch>
            </a:blipFill>
          </p:spPr>
        </p:sp>
        <p:sp>
          <p:nvSpPr>
            <p:cNvPr id="112" name="TextBox 112"/>
            <p:cNvSpPr txBox="1"/>
            <p:nvPr/>
          </p:nvSpPr>
          <p:spPr>
            <a:xfrm>
              <a:off x="0" y="-47625"/>
              <a:ext cx="487680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Well 2 (Raniganj)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15727680" y="7754112"/>
            <a:ext cx="1463040" cy="585216"/>
            <a:chOff x="0" y="0"/>
            <a:chExt cx="1950720" cy="780288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1950720" cy="780288"/>
            </a:xfrm>
            <a:custGeom>
              <a:avLst/>
              <a:gdLst/>
              <a:ahLst/>
              <a:cxnLst/>
              <a:rect l="l" t="t" r="r" b="b"/>
              <a:pathLst>
                <a:path w="1950720" h="780288">
                  <a:moveTo>
                    <a:pt x="0" y="0"/>
                  </a:moveTo>
                  <a:lnTo>
                    <a:pt x="1950720" y="0"/>
                  </a:lnTo>
                  <a:lnTo>
                    <a:pt x="19507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r="-1321"/>
              </a:stretch>
            </a:blipFill>
          </p:spPr>
        </p:sp>
        <p:sp>
          <p:nvSpPr>
            <p:cNvPr id="115" name="TextBox 115"/>
            <p:cNvSpPr txBox="1"/>
            <p:nvPr/>
          </p:nvSpPr>
          <p:spPr>
            <a:xfrm>
              <a:off x="0" y="-47625"/>
              <a:ext cx="195072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E8A72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44,908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10972800" y="8503920"/>
            <a:ext cx="914400" cy="585216"/>
            <a:chOff x="0" y="0"/>
            <a:chExt cx="1219200" cy="780288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1219200" cy="780288"/>
            </a:xfrm>
            <a:custGeom>
              <a:avLst/>
              <a:gdLst/>
              <a:ahLst/>
              <a:cxnLst/>
              <a:rect l="l" t="t" r="r" b="b"/>
              <a:pathLst>
                <a:path w="1219200" h="780288">
                  <a:moveTo>
                    <a:pt x="0" y="0"/>
                  </a:moveTo>
                  <a:lnTo>
                    <a:pt x="1219200" y="0"/>
                  </a:lnTo>
                  <a:lnTo>
                    <a:pt x="1219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114" r="-32114"/>
              </a:stretch>
            </a:blipFill>
          </p:spPr>
        </p:sp>
        <p:sp>
          <p:nvSpPr>
            <p:cNvPr id="118" name="TextBox 118"/>
            <p:cNvSpPr txBox="1"/>
            <p:nvPr/>
          </p:nvSpPr>
          <p:spPr>
            <a:xfrm>
              <a:off x="0" y="-47625"/>
              <a:ext cx="121920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1978640" y="8503920"/>
            <a:ext cx="3657600" cy="585216"/>
            <a:chOff x="0" y="0"/>
            <a:chExt cx="4876800" cy="780288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4876800" cy="780288"/>
            </a:xfrm>
            <a:custGeom>
              <a:avLst/>
              <a:gdLst/>
              <a:ahLst/>
              <a:cxnLst/>
              <a:rect l="l" t="t" r="r" b="b"/>
              <a:pathLst>
                <a:path w="4876800" h="780288">
                  <a:moveTo>
                    <a:pt x="0" y="0"/>
                  </a:moveTo>
                  <a:lnTo>
                    <a:pt x="4876800" y="0"/>
                  </a:lnTo>
                  <a:lnTo>
                    <a:pt x="4876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81" b="-71781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-47625"/>
              <a:ext cx="487680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Well 3 (Jharia)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5727680" y="8503920"/>
            <a:ext cx="1463040" cy="585216"/>
            <a:chOff x="0" y="0"/>
            <a:chExt cx="1950720" cy="780288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1950720" cy="780288"/>
            </a:xfrm>
            <a:custGeom>
              <a:avLst/>
              <a:gdLst/>
              <a:ahLst/>
              <a:cxnLst/>
              <a:rect l="l" t="t" r="r" b="b"/>
              <a:pathLst>
                <a:path w="1950720" h="780288">
                  <a:moveTo>
                    <a:pt x="0" y="0"/>
                  </a:moveTo>
                  <a:lnTo>
                    <a:pt x="1950720" y="0"/>
                  </a:lnTo>
                  <a:lnTo>
                    <a:pt x="19507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r="-1321"/>
              </a:stretch>
            </a:blipFill>
          </p:spPr>
        </p:sp>
        <p:sp>
          <p:nvSpPr>
            <p:cNvPr id="124" name="TextBox 124"/>
            <p:cNvSpPr txBox="1"/>
            <p:nvPr/>
          </p:nvSpPr>
          <p:spPr>
            <a:xfrm>
              <a:off x="0" y="-47625"/>
              <a:ext cx="195072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E8A72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24,566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10972800" y="9253728"/>
            <a:ext cx="914400" cy="585216"/>
            <a:chOff x="0" y="0"/>
            <a:chExt cx="1219200" cy="780288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1219200" cy="780288"/>
            </a:xfrm>
            <a:custGeom>
              <a:avLst/>
              <a:gdLst/>
              <a:ahLst/>
              <a:cxnLst/>
              <a:rect l="l" t="t" r="r" b="b"/>
              <a:pathLst>
                <a:path w="1219200" h="780288">
                  <a:moveTo>
                    <a:pt x="0" y="0"/>
                  </a:moveTo>
                  <a:lnTo>
                    <a:pt x="1219200" y="0"/>
                  </a:lnTo>
                  <a:lnTo>
                    <a:pt x="1219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114" r="-32114"/>
              </a:stretch>
            </a:blipFill>
          </p:spPr>
        </p:sp>
        <p:sp>
          <p:nvSpPr>
            <p:cNvPr id="127" name="TextBox 127"/>
            <p:cNvSpPr txBox="1"/>
            <p:nvPr/>
          </p:nvSpPr>
          <p:spPr>
            <a:xfrm>
              <a:off x="0" y="-47625"/>
              <a:ext cx="121920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11978640" y="9253728"/>
            <a:ext cx="3657600" cy="585216"/>
            <a:chOff x="0" y="0"/>
            <a:chExt cx="4876800" cy="780288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4876800" cy="780288"/>
            </a:xfrm>
            <a:custGeom>
              <a:avLst/>
              <a:gdLst/>
              <a:ahLst/>
              <a:cxnLst/>
              <a:rect l="l" t="t" r="r" b="b"/>
              <a:pathLst>
                <a:path w="4876800" h="780288">
                  <a:moveTo>
                    <a:pt x="0" y="0"/>
                  </a:moveTo>
                  <a:lnTo>
                    <a:pt x="4876800" y="0"/>
                  </a:lnTo>
                  <a:lnTo>
                    <a:pt x="4876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81" b="-71781"/>
              </a:stretch>
            </a:blipFill>
          </p:spPr>
        </p:sp>
        <p:sp>
          <p:nvSpPr>
            <p:cNvPr id="130" name="TextBox 130"/>
            <p:cNvSpPr txBox="1"/>
            <p:nvPr/>
          </p:nvSpPr>
          <p:spPr>
            <a:xfrm>
              <a:off x="0" y="-47625"/>
              <a:ext cx="487680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Well 4 (Jharia)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15727680" y="9253728"/>
            <a:ext cx="1463040" cy="585216"/>
            <a:chOff x="0" y="0"/>
            <a:chExt cx="1950720" cy="780288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1950720" cy="780288"/>
            </a:xfrm>
            <a:custGeom>
              <a:avLst/>
              <a:gdLst/>
              <a:ahLst/>
              <a:cxnLst/>
              <a:rect l="l" t="t" r="r" b="b"/>
              <a:pathLst>
                <a:path w="1950720" h="780288">
                  <a:moveTo>
                    <a:pt x="0" y="0"/>
                  </a:moveTo>
                  <a:lnTo>
                    <a:pt x="1950720" y="0"/>
                  </a:lnTo>
                  <a:lnTo>
                    <a:pt x="19507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r="-1321"/>
              </a:stretch>
            </a:blipFill>
          </p:spPr>
        </p:sp>
        <p:sp>
          <p:nvSpPr>
            <p:cNvPr id="133" name="TextBox 133"/>
            <p:cNvSpPr txBox="1"/>
            <p:nvPr/>
          </p:nvSpPr>
          <p:spPr>
            <a:xfrm>
              <a:off x="0" y="-47625"/>
              <a:ext cx="195072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E8A72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56,113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329184"/>
            <a:ext cx="16459200" cy="1188720"/>
            <a:chOff x="0" y="0"/>
            <a:chExt cx="21945600" cy="1584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84960"/>
            </a:xfrm>
            <a:custGeom>
              <a:avLst/>
              <a:gdLst/>
              <a:ahLst/>
              <a:cxnLst/>
              <a:rect l="l" t="t" r="r" b="b"/>
              <a:pathLst>
                <a:path w="21945600" h="158496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792" b="-21979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94560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Models Evaluated — LOWO Results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578359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79510" cy="33909"/>
            </a:xfrm>
            <a:custGeom>
              <a:avLst/>
              <a:gdLst/>
              <a:ahLst/>
              <a:cxnLst/>
              <a:rect l="l" t="t" r="r" b="b"/>
              <a:pathLst>
                <a:path w="21979510" h="33909">
                  <a:moveTo>
                    <a:pt x="0" y="0"/>
                  </a:moveTo>
                  <a:lnTo>
                    <a:pt x="21979510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12580060" b="-12579948"/>
              </a:stretch>
            </a:blip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731520" y="1828800"/>
          <a:ext cx="16560802" cy="6045200"/>
        </p:xfrm>
        <a:graphic>
          <a:graphicData uri="http://schemas.openxmlformats.org/drawingml/2006/table">
            <a:tbl>
              <a:tblPr/>
              <a:tblGrid>
                <a:gridCol w="3986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5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57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57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5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857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5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636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Model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Well 1 F1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Well 2 F1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Well 3 F1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Well 4 F1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Mean F1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Std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B6E6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★ Random Forest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50.3%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74.8%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45.5%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43.2%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0B6E6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53.5%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7A92A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±12.6%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21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   SVM (Linear)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59.6%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67.9%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38.5%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43.1%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21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52.3%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7A92A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±12%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21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   XGBoost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38.1%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25.7%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44.6%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42.8%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21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37.8%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7A92A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±7.4%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21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   1D CNN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25.2%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22.2%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38.8%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38.2%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21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31.1%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7A92A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±7.5%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21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   SVM (RBF)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25.1%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25.2%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39.8%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36.9%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21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31.7%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7A92A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±6.7%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21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   KNN (k=5)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21.1%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22%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35.3%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41%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D21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29.9%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7A92A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±8.6%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70432" y="6876288"/>
            <a:ext cx="20628864" cy="48097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329184"/>
            <a:ext cx="16459200" cy="1188720"/>
            <a:chOff x="0" y="0"/>
            <a:chExt cx="21945600" cy="1584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84960"/>
            </a:xfrm>
            <a:custGeom>
              <a:avLst/>
              <a:gdLst/>
              <a:ahLst/>
              <a:cxnLst/>
              <a:rect l="l" t="t" r="r" b="b"/>
              <a:pathLst>
                <a:path w="21945600" h="158496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792" b="-21979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94560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Best Model: Random Forest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578359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79510" cy="33909"/>
            </a:xfrm>
            <a:custGeom>
              <a:avLst/>
              <a:gdLst/>
              <a:ahLst/>
              <a:cxnLst/>
              <a:rect l="l" t="t" r="r" b="b"/>
              <a:pathLst>
                <a:path w="21979510" h="33909">
                  <a:moveTo>
                    <a:pt x="0" y="0"/>
                  </a:moveTo>
                  <a:lnTo>
                    <a:pt x="21979510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12580060" b="-12579948"/>
              </a:stretch>
            </a:blip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718823" y="1816103"/>
            <a:ext cx="3865883" cy="2494283"/>
            <a:chOff x="0" y="0"/>
            <a:chExt cx="5154511" cy="33257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154549" cy="3325749"/>
            </a:xfrm>
            <a:custGeom>
              <a:avLst/>
              <a:gdLst/>
              <a:ahLst/>
              <a:cxnLst/>
              <a:rect l="l" t="t" r="r" b="b"/>
              <a:pathLst>
                <a:path w="5154549" h="3325749">
                  <a:moveTo>
                    <a:pt x="0" y="0"/>
                  </a:moveTo>
                  <a:lnTo>
                    <a:pt x="5154549" y="0"/>
                  </a:lnTo>
                  <a:lnTo>
                    <a:pt x="5154549" y="3325749"/>
                  </a:lnTo>
                  <a:lnTo>
                    <a:pt x="0" y="3325749"/>
                  </a:lnTo>
                  <a:close/>
                </a:path>
              </a:pathLst>
            </a:custGeom>
            <a:solidFill>
              <a:srgbClr val="0B6E6E"/>
            </a:solid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31520" y="2011680"/>
            <a:ext cx="3840480" cy="1188720"/>
            <a:chOff x="0" y="0"/>
            <a:chExt cx="5120640" cy="15849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120640" cy="1584960"/>
            </a:xfrm>
            <a:custGeom>
              <a:avLst/>
              <a:gdLst/>
              <a:ahLst/>
              <a:cxnLst/>
              <a:rect l="l" t="t" r="r" b="b"/>
              <a:pathLst>
                <a:path w="5120640" h="158496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951" b="-1295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512064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159"/>
                </a:lnSpc>
              </a:pPr>
              <a:r>
                <a:rPr lang="en-US" sz="68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53.5%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31520" y="3200400"/>
            <a:ext cx="3840480" cy="877824"/>
            <a:chOff x="0" y="0"/>
            <a:chExt cx="5120640" cy="1170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120640" cy="1170432"/>
            </a:xfrm>
            <a:custGeom>
              <a:avLst/>
              <a:gdLst/>
              <a:ahLst/>
              <a:cxnLst/>
              <a:rect l="l" t="t" r="r" b="b"/>
              <a:pathLst>
                <a:path w="5120640" h="1170432">
                  <a:moveTo>
                    <a:pt x="0" y="0"/>
                  </a:moveTo>
                  <a:lnTo>
                    <a:pt x="5120640" y="0"/>
                  </a:lnTo>
                  <a:lnTo>
                    <a:pt x="51206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247" b="-35247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5120640" cy="12180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CEEE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Mean F1-weighted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CEEE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4-fold LOWO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833623" y="1816103"/>
            <a:ext cx="3865883" cy="2494283"/>
            <a:chOff x="0" y="0"/>
            <a:chExt cx="5154511" cy="332571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154549" cy="3325749"/>
            </a:xfrm>
            <a:custGeom>
              <a:avLst/>
              <a:gdLst/>
              <a:ahLst/>
              <a:cxnLst/>
              <a:rect l="l" t="t" r="r" b="b"/>
              <a:pathLst>
                <a:path w="5154549" h="3325749">
                  <a:moveTo>
                    <a:pt x="0" y="0"/>
                  </a:moveTo>
                  <a:lnTo>
                    <a:pt x="5154549" y="0"/>
                  </a:lnTo>
                  <a:lnTo>
                    <a:pt x="5154549" y="3325749"/>
                  </a:lnTo>
                  <a:lnTo>
                    <a:pt x="0" y="3325749"/>
                  </a:lnTo>
                  <a:close/>
                </a:path>
              </a:pathLst>
            </a:custGeom>
            <a:solidFill>
              <a:srgbClr val="0D2137"/>
            </a:solidFill>
            <a:ln w="25400" cap="sq">
              <a:solidFill>
                <a:srgbClr val="0D2137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4846320" y="2011680"/>
            <a:ext cx="3840480" cy="1188720"/>
            <a:chOff x="0" y="0"/>
            <a:chExt cx="5120640" cy="15849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120640" cy="1584960"/>
            </a:xfrm>
            <a:custGeom>
              <a:avLst/>
              <a:gdLst/>
              <a:ahLst/>
              <a:cxnLst/>
              <a:rect l="l" t="t" r="r" b="b"/>
              <a:pathLst>
                <a:path w="5120640" h="158496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951" b="-1295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512064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159"/>
                </a:lnSpc>
              </a:pPr>
              <a:r>
                <a:rPr lang="en-US" sz="6800" b="1">
                  <a:solidFill>
                    <a:srgbClr val="E8A72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74.8%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846320" y="3200400"/>
            <a:ext cx="3840480" cy="877824"/>
            <a:chOff x="0" y="0"/>
            <a:chExt cx="5120640" cy="117043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120640" cy="1170432"/>
            </a:xfrm>
            <a:custGeom>
              <a:avLst/>
              <a:gdLst/>
              <a:ahLst/>
              <a:cxnLst/>
              <a:rect l="l" t="t" r="r" b="b"/>
              <a:pathLst>
                <a:path w="5120640" h="1170432">
                  <a:moveTo>
                    <a:pt x="0" y="0"/>
                  </a:moveTo>
                  <a:lnTo>
                    <a:pt x="5120640" y="0"/>
                  </a:lnTo>
                  <a:lnTo>
                    <a:pt x="51206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247" b="-3524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5120640" cy="12180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14A89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Best Fold F1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14A89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Well 2 (Raniganj)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948423" y="1816103"/>
            <a:ext cx="3865883" cy="2494283"/>
            <a:chOff x="0" y="0"/>
            <a:chExt cx="5154511" cy="332571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154549" cy="3325749"/>
            </a:xfrm>
            <a:custGeom>
              <a:avLst/>
              <a:gdLst/>
              <a:ahLst/>
              <a:cxnLst/>
              <a:rect l="l" t="t" r="r" b="b"/>
              <a:pathLst>
                <a:path w="5154549" h="3325749">
                  <a:moveTo>
                    <a:pt x="0" y="0"/>
                  </a:moveTo>
                  <a:lnTo>
                    <a:pt x="5154549" y="0"/>
                  </a:lnTo>
                  <a:lnTo>
                    <a:pt x="5154549" y="3325749"/>
                  </a:lnTo>
                  <a:lnTo>
                    <a:pt x="0" y="3325749"/>
                  </a:lnTo>
                  <a:close/>
                </a:path>
              </a:pathLst>
            </a:custGeom>
            <a:solidFill>
              <a:srgbClr val="1A5C5A"/>
            </a:solidFill>
            <a:ln w="25400" cap="sq">
              <a:solidFill>
                <a:srgbClr val="1A5C5A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8961120" y="2011680"/>
            <a:ext cx="3840480" cy="1188720"/>
            <a:chOff x="0" y="0"/>
            <a:chExt cx="5120640" cy="158496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120640" cy="1584960"/>
            </a:xfrm>
            <a:custGeom>
              <a:avLst/>
              <a:gdLst/>
              <a:ahLst/>
              <a:cxnLst/>
              <a:rect l="l" t="t" r="r" b="b"/>
              <a:pathLst>
                <a:path w="5120640" h="158496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951" b="-12951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512064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159"/>
                </a:lnSpc>
              </a:pPr>
              <a:r>
                <a:rPr lang="en-US" sz="68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53.5%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961120" y="3200400"/>
            <a:ext cx="3840480" cy="877824"/>
            <a:chOff x="0" y="0"/>
            <a:chExt cx="5120640" cy="117043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120640" cy="1170432"/>
            </a:xfrm>
            <a:custGeom>
              <a:avLst/>
              <a:gdLst/>
              <a:ahLst/>
              <a:cxnLst/>
              <a:rect l="l" t="t" r="r" b="b"/>
              <a:pathLst>
                <a:path w="5120640" h="1170432">
                  <a:moveTo>
                    <a:pt x="0" y="0"/>
                  </a:moveTo>
                  <a:lnTo>
                    <a:pt x="5120640" y="0"/>
                  </a:lnTo>
                  <a:lnTo>
                    <a:pt x="51206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247" b="-35247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5120640" cy="12180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CEEE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vs 52.3% SVM Lin.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CEEE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+1.2 pts margin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3063223" y="1816103"/>
            <a:ext cx="4231643" cy="2494283"/>
            <a:chOff x="0" y="0"/>
            <a:chExt cx="5642191" cy="332571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642229" cy="3325749"/>
            </a:xfrm>
            <a:custGeom>
              <a:avLst/>
              <a:gdLst/>
              <a:ahLst/>
              <a:cxnLst/>
              <a:rect l="l" t="t" r="r" b="b"/>
              <a:pathLst>
                <a:path w="5642229" h="3325749">
                  <a:moveTo>
                    <a:pt x="0" y="0"/>
                  </a:moveTo>
                  <a:lnTo>
                    <a:pt x="5642229" y="0"/>
                  </a:lnTo>
                  <a:lnTo>
                    <a:pt x="5642229" y="3325749"/>
                  </a:lnTo>
                  <a:lnTo>
                    <a:pt x="0" y="3325749"/>
                  </a:lnTo>
                  <a:close/>
                </a:path>
              </a:pathLst>
            </a:custGeom>
            <a:solidFill>
              <a:srgbClr val="6D6875"/>
            </a:solidFill>
            <a:ln w="25400" cap="sq">
              <a:solidFill>
                <a:srgbClr val="6D6875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3075920" y="2011680"/>
            <a:ext cx="4206240" cy="1188720"/>
            <a:chOff x="0" y="0"/>
            <a:chExt cx="5608320" cy="158496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608320" cy="1584960"/>
            </a:xfrm>
            <a:custGeom>
              <a:avLst/>
              <a:gdLst/>
              <a:ahLst/>
              <a:cxnLst/>
              <a:rect l="l" t="t" r="r" b="b"/>
              <a:pathLst>
                <a:path w="5608320" h="1584960">
                  <a:moveTo>
                    <a:pt x="0" y="0"/>
                  </a:moveTo>
                  <a:lnTo>
                    <a:pt x="5608320" y="0"/>
                  </a:lnTo>
                  <a:lnTo>
                    <a:pt x="56083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947" b="-18947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560832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159"/>
                </a:lnSpc>
              </a:pPr>
              <a:r>
                <a:rPr lang="en-US" sz="68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n=500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075920" y="3200400"/>
            <a:ext cx="4206240" cy="877824"/>
            <a:chOff x="0" y="0"/>
            <a:chExt cx="5608320" cy="117043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608320" cy="1170432"/>
            </a:xfrm>
            <a:custGeom>
              <a:avLst/>
              <a:gdLst/>
              <a:ahLst/>
              <a:cxnLst/>
              <a:rect l="l" t="t" r="r" b="b"/>
              <a:pathLst>
                <a:path w="5608320" h="1170432">
                  <a:moveTo>
                    <a:pt x="0" y="0"/>
                  </a:moveTo>
                  <a:lnTo>
                    <a:pt x="5608320" y="0"/>
                  </a:lnTo>
                  <a:lnTo>
                    <a:pt x="56083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365" b="-43365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5608320" cy="12180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CC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Trees · Depth 20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DCC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class_weight balanced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31520" y="4663440"/>
            <a:ext cx="10058400" cy="640080"/>
            <a:chOff x="0" y="0"/>
            <a:chExt cx="13411200" cy="8534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3411200" cy="853440"/>
            </a:xfrm>
            <a:custGeom>
              <a:avLst/>
              <a:gdLst/>
              <a:ahLst/>
              <a:cxnLst/>
              <a:rect l="l" t="t" r="r" b="b"/>
              <a:pathLst>
                <a:path w="13411200" h="853440">
                  <a:moveTo>
                    <a:pt x="0" y="0"/>
                  </a:moveTo>
                  <a:lnTo>
                    <a:pt x="13411200" y="0"/>
                  </a:lnTo>
                  <a:lnTo>
                    <a:pt x="13411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193" b="-256193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13411200" cy="862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Why Random Forest Outperforms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18823" y="5473703"/>
            <a:ext cx="281435" cy="756923"/>
            <a:chOff x="0" y="0"/>
            <a:chExt cx="375247" cy="1009231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75285" cy="1009269"/>
            </a:xfrm>
            <a:custGeom>
              <a:avLst/>
              <a:gdLst/>
              <a:ahLst/>
              <a:cxnLst/>
              <a:rect l="l" t="t" r="r" b="b"/>
              <a:pathLst>
                <a:path w="375285" h="1009269">
                  <a:moveTo>
                    <a:pt x="0" y="0"/>
                  </a:moveTo>
                  <a:lnTo>
                    <a:pt x="375285" y="0"/>
                  </a:lnTo>
                  <a:lnTo>
                    <a:pt x="375285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0B6E6E"/>
            </a:solid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188720" y="5486400"/>
            <a:ext cx="4023360" cy="365760"/>
            <a:chOff x="0" y="0"/>
            <a:chExt cx="5364480" cy="4876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364480" cy="487680"/>
            </a:xfrm>
            <a:custGeom>
              <a:avLst/>
              <a:gdLst/>
              <a:ahLst/>
              <a:cxnLst/>
              <a:rect l="l" t="t" r="r" b="b"/>
              <a:pathLst>
                <a:path w="5364480" h="487680">
                  <a:moveTo>
                    <a:pt x="0" y="0"/>
                  </a:moveTo>
                  <a:lnTo>
                    <a:pt x="5364480" y="0"/>
                  </a:lnTo>
                  <a:lnTo>
                    <a:pt x="53644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35" b="-164335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5364480" cy="497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Handles class imbalance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188720" y="5735320"/>
            <a:ext cx="9144000" cy="775208"/>
            <a:chOff x="0" y="0"/>
            <a:chExt cx="12192000" cy="1033611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2192000" cy="1033611"/>
            </a:xfrm>
            <a:custGeom>
              <a:avLst/>
              <a:gdLst/>
              <a:ahLst/>
              <a:cxnLst/>
              <a:rect l="l" t="t" r="r" b="b"/>
              <a:pathLst>
                <a:path w="12192000" h="1033611">
                  <a:moveTo>
                    <a:pt x="0" y="0"/>
                  </a:moveTo>
                  <a:lnTo>
                    <a:pt x="12192000" y="0"/>
                  </a:lnTo>
                  <a:lnTo>
                    <a:pt x="12192000" y="1033611"/>
                  </a:lnTo>
                  <a:lnTo>
                    <a:pt x="0" y="10336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808" b="-162863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12192000" cy="10812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class_weight='balanced' directly upweights rare Coal and Carb Shale classes without synthetic oversampling.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18823" y="6497831"/>
            <a:ext cx="281435" cy="756923"/>
            <a:chOff x="0" y="0"/>
            <a:chExt cx="375247" cy="1009231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75285" cy="1009269"/>
            </a:xfrm>
            <a:custGeom>
              <a:avLst/>
              <a:gdLst/>
              <a:ahLst/>
              <a:cxnLst/>
              <a:rect l="l" t="t" r="r" b="b"/>
              <a:pathLst>
                <a:path w="375285" h="1009269">
                  <a:moveTo>
                    <a:pt x="0" y="0"/>
                  </a:moveTo>
                  <a:lnTo>
                    <a:pt x="375285" y="0"/>
                  </a:lnTo>
                  <a:lnTo>
                    <a:pt x="375285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0B6E6E"/>
            </a:solid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1188720" y="6510528"/>
            <a:ext cx="4023360" cy="365760"/>
            <a:chOff x="0" y="0"/>
            <a:chExt cx="5364480" cy="48768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364480" cy="487680"/>
            </a:xfrm>
            <a:custGeom>
              <a:avLst/>
              <a:gdLst/>
              <a:ahLst/>
              <a:cxnLst/>
              <a:rect l="l" t="t" r="r" b="b"/>
              <a:pathLst>
                <a:path w="5364480" h="487680">
                  <a:moveTo>
                    <a:pt x="0" y="0"/>
                  </a:moveTo>
                  <a:lnTo>
                    <a:pt x="5364480" y="0"/>
                  </a:lnTo>
                  <a:lnTo>
                    <a:pt x="53644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35" b="-164335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9525"/>
              <a:ext cx="5364480" cy="497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Robust to log scale variability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188720" y="6912864"/>
            <a:ext cx="9144000" cy="512064"/>
            <a:chOff x="0" y="0"/>
            <a:chExt cx="12192000" cy="682752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2192000" cy="682752"/>
            </a:xfrm>
            <a:custGeom>
              <a:avLst/>
              <a:gdLst/>
              <a:ahLst/>
              <a:cxnLst/>
              <a:rect l="l" t="t" r="r" b="b"/>
              <a:pathLst>
                <a:path w="12192000" h="682752">
                  <a:moveTo>
                    <a:pt x="0" y="0"/>
                  </a:moveTo>
                  <a:lnTo>
                    <a:pt x="12192000" y="0"/>
                  </a:lnTo>
                  <a:lnTo>
                    <a:pt x="12192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947" b="-297947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47625"/>
              <a:ext cx="121920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Ensemble averaging reduces sensitivity to the 2σ caliper unit difference between Raniganj and Jharia wells.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18823" y="7521959"/>
            <a:ext cx="281435" cy="756923"/>
            <a:chOff x="0" y="0"/>
            <a:chExt cx="375247" cy="1009231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375285" cy="1009269"/>
            </a:xfrm>
            <a:custGeom>
              <a:avLst/>
              <a:gdLst/>
              <a:ahLst/>
              <a:cxnLst/>
              <a:rect l="l" t="t" r="r" b="b"/>
              <a:pathLst>
                <a:path w="375285" h="1009269">
                  <a:moveTo>
                    <a:pt x="0" y="0"/>
                  </a:moveTo>
                  <a:lnTo>
                    <a:pt x="375285" y="0"/>
                  </a:lnTo>
                  <a:lnTo>
                    <a:pt x="375285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0B6E6E"/>
            </a:solid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1188720" y="7534656"/>
            <a:ext cx="4023360" cy="365760"/>
            <a:chOff x="0" y="0"/>
            <a:chExt cx="5364480" cy="48768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5364480" cy="487680"/>
            </a:xfrm>
            <a:custGeom>
              <a:avLst/>
              <a:gdLst/>
              <a:ahLst/>
              <a:cxnLst/>
              <a:rect l="l" t="t" r="r" b="b"/>
              <a:pathLst>
                <a:path w="5364480" h="487680">
                  <a:moveTo>
                    <a:pt x="0" y="0"/>
                  </a:moveTo>
                  <a:lnTo>
                    <a:pt x="5364480" y="0"/>
                  </a:lnTo>
                  <a:lnTo>
                    <a:pt x="53644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35" b="-164335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9525"/>
              <a:ext cx="5364480" cy="497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Non-parametric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188720" y="7936992"/>
            <a:ext cx="9144000" cy="512064"/>
            <a:chOff x="0" y="0"/>
            <a:chExt cx="12192000" cy="68275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2192000" cy="682752"/>
            </a:xfrm>
            <a:custGeom>
              <a:avLst/>
              <a:gdLst/>
              <a:ahLst/>
              <a:cxnLst/>
              <a:rect l="l" t="t" r="r" b="b"/>
              <a:pathLst>
                <a:path w="12192000" h="682752">
                  <a:moveTo>
                    <a:pt x="0" y="0"/>
                  </a:moveTo>
                  <a:lnTo>
                    <a:pt x="12192000" y="0"/>
                  </a:lnTo>
                  <a:lnTo>
                    <a:pt x="12192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947" b="-297947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47625"/>
              <a:ext cx="121920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distributional assumptions — captures non-linear boundaries between facies in multidimensional log space.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18823" y="8546087"/>
            <a:ext cx="281435" cy="756923"/>
            <a:chOff x="0" y="0"/>
            <a:chExt cx="375247" cy="1009231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375285" cy="1009269"/>
            </a:xfrm>
            <a:custGeom>
              <a:avLst/>
              <a:gdLst/>
              <a:ahLst/>
              <a:cxnLst/>
              <a:rect l="l" t="t" r="r" b="b"/>
              <a:pathLst>
                <a:path w="375285" h="1009269">
                  <a:moveTo>
                    <a:pt x="0" y="0"/>
                  </a:moveTo>
                  <a:lnTo>
                    <a:pt x="375285" y="0"/>
                  </a:lnTo>
                  <a:lnTo>
                    <a:pt x="375285" y="1009269"/>
                  </a:lnTo>
                  <a:lnTo>
                    <a:pt x="0" y="1009269"/>
                  </a:lnTo>
                  <a:close/>
                </a:path>
              </a:pathLst>
            </a:custGeom>
            <a:solidFill>
              <a:srgbClr val="0B6E6E"/>
            </a:solid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1188720" y="8558784"/>
            <a:ext cx="4023360" cy="365760"/>
            <a:chOff x="0" y="0"/>
            <a:chExt cx="5364480" cy="48768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5364480" cy="487680"/>
            </a:xfrm>
            <a:custGeom>
              <a:avLst/>
              <a:gdLst/>
              <a:ahLst/>
              <a:cxnLst/>
              <a:rect l="l" t="t" r="r" b="b"/>
              <a:pathLst>
                <a:path w="5364480" h="487680">
                  <a:moveTo>
                    <a:pt x="0" y="0"/>
                  </a:moveTo>
                  <a:lnTo>
                    <a:pt x="5364480" y="0"/>
                  </a:lnTo>
                  <a:lnTo>
                    <a:pt x="536448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4335" b="-164335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5364480" cy="497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Interpretable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188720" y="8961120"/>
            <a:ext cx="9144000" cy="512064"/>
            <a:chOff x="0" y="0"/>
            <a:chExt cx="12192000" cy="68275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2192000" cy="682752"/>
            </a:xfrm>
            <a:custGeom>
              <a:avLst/>
              <a:gdLst/>
              <a:ahLst/>
              <a:cxnLst/>
              <a:rect l="l" t="t" r="r" b="b"/>
              <a:pathLst>
                <a:path w="12192000" h="682752">
                  <a:moveTo>
                    <a:pt x="0" y="0"/>
                  </a:moveTo>
                  <a:lnTo>
                    <a:pt x="12192000" y="0"/>
                  </a:lnTo>
                  <a:lnTo>
                    <a:pt x="12192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947" b="-297947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47625"/>
              <a:ext cx="121920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 importance scores provide direct geological validation of which logs drive classification.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0960103" y="4650743"/>
            <a:ext cx="6426203" cy="5511803"/>
            <a:chOff x="0" y="0"/>
            <a:chExt cx="8568271" cy="7349071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8568309" cy="7349109"/>
            </a:xfrm>
            <a:custGeom>
              <a:avLst/>
              <a:gdLst/>
              <a:ahLst/>
              <a:cxnLst/>
              <a:rect l="l" t="t" r="r" b="b"/>
              <a:pathLst>
                <a:path w="8568309" h="7349109">
                  <a:moveTo>
                    <a:pt x="0" y="0"/>
                  </a:moveTo>
                  <a:lnTo>
                    <a:pt x="8568309" y="0"/>
                  </a:lnTo>
                  <a:lnTo>
                    <a:pt x="8568309" y="7349109"/>
                  </a:lnTo>
                  <a:lnTo>
                    <a:pt x="0" y="7349109"/>
                  </a:lnTo>
                  <a:close/>
                </a:path>
              </a:pathLst>
            </a:custGeom>
            <a:solidFill>
              <a:srgbClr val="0D2137"/>
            </a:solidFill>
            <a:ln w="25400" cap="sq">
              <a:solidFill>
                <a:srgbClr val="0D2137"/>
              </a:solidFill>
              <a:prstDash val="solid"/>
              <a:miter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10972800" y="4791456"/>
            <a:ext cx="6400800" cy="585216"/>
            <a:chOff x="0" y="0"/>
            <a:chExt cx="8534400" cy="780288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8534400" cy="780288"/>
            </a:xfrm>
            <a:custGeom>
              <a:avLst/>
              <a:gdLst/>
              <a:ahLst/>
              <a:cxnLst/>
              <a:rect l="l" t="t" r="r" b="b"/>
              <a:pathLst>
                <a:path w="8534400" h="780288">
                  <a:moveTo>
                    <a:pt x="0" y="0"/>
                  </a:moveTo>
                  <a:lnTo>
                    <a:pt x="8534400" y="0"/>
                  </a:lnTo>
                  <a:lnTo>
                    <a:pt x="8534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3117" b="-163117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8534400" cy="7993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4A89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Why Others Fell Short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1155680" y="5632704"/>
            <a:ext cx="2011680" cy="438912"/>
            <a:chOff x="0" y="0"/>
            <a:chExt cx="2682240" cy="585216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682240" cy="585216"/>
            </a:xfrm>
            <a:custGeom>
              <a:avLst/>
              <a:gdLst/>
              <a:ahLst/>
              <a:cxnLst/>
              <a:rect l="l" t="t" r="r" b="b"/>
              <a:pathLst>
                <a:path w="2682240" h="585216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306" b="-39306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19050"/>
              <a:ext cx="2682240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XGBoost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3258800" y="5632704"/>
            <a:ext cx="1280160" cy="438912"/>
            <a:chOff x="0" y="0"/>
            <a:chExt cx="1706880" cy="585216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706880" cy="585216"/>
            </a:xfrm>
            <a:custGeom>
              <a:avLst/>
              <a:gdLst/>
              <a:ahLst/>
              <a:cxnLst/>
              <a:rect l="l" t="t" r="r" b="b"/>
              <a:pathLst>
                <a:path w="1706880" h="585216">
                  <a:moveTo>
                    <a:pt x="0" y="0"/>
                  </a:moveTo>
                  <a:lnTo>
                    <a:pt x="1706880" y="0"/>
                  </a:lnTo>
                  <a:lnTo>
                    <a:pt x="1706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31" b="-6831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47625"/>
              <a:ext cx="170688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E8A72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37.8%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1155680" y="6071616"/>
            <a:ext cx="5852160" cy="402336"/>
            <a:chOff x="0" y="0"/>
            <a:chExt cx="7802880" cy="536448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7802880" cy="536448"/>
            </a:xfrm>
            <a:custGeom>
              <a:avLst/>
              <a:gdLst/>
              <a:ahLst/>
              <a:cxnLst/>
              <a:rect l="l" t="t" r="r" b="b"/>
              <a:pathLst>
                <a:path w="7802880" h="536448">
                  <a:moveTo>
                    <a:pt x="0" y="0"/>
                  </a:moveTo>
                  <a:lnTo>
                    <a:pt x="7802880" y="0"/>
                  </a:lnTo>
                  <a:lnTo>
                    <a:pt x="7802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3418" b="-233418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-38100"/>
              <a:ext cx="780288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A92A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Sensitive to feature scaling across basins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1155680" y="6638544"/>
            <a:ext cx="2011680" cy="438912"/>
            <a:chOff x="0" y="0"/>
            <a:chExt cx="2682240" cy="585216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2682240" cy="585216"/>
            </a:xfrm>
            <a:custGeom>
              <a:avLst/>
              <a:gdLst/>
              <a:ahLst/>
              <a:cxnLst/>
              <a:rect l="l" t="t" r="r" b="b"/>
              <a:pathLst>
                <a:path w="2682240" h="585216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306" b="-39306"/>
              </a:stretch>
            </a:blipFill>
          </p:spPr>
        </p:sp>
        <p:sp>
          <p:nvSpPr>
            <p:cNvPr id="90" name="TextBox 90"/>
            <p:cNvSpPr txBox="1"/>
            <p:nvPr/>
          </p:nvSpPr>
          <p:spPr>
            <a:xfrm>
              <a:off x="0" y="-19050"/>
              <a:ext cx="2682240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SVM RBF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3258800" y="6638544"/>
            <a:ext cx="1280160" cy="438912"/>
            <a:chOff x="0" y="0"/>
            <a:chExt cx="1706880" cy="585216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1706880" cy="585216"/>
            </a:xfrm>
            <a:custGeom>
              <a:avLst/>
              <a:gdLst/>
              <a:ahLst/>
              <a:cxnLst/>
              <a:rect l="l" t="t" r="r" b="b"/>
              <a:pathLst>
                <a:path w="1706880" h="585216">
                  <a:moveTo>
                    <a:pt x="0" y="0"/>
                  </a:moveTo>
                  <a:lnTo>
                    <a:pt x="1706880" y="0"/>
                  </a:lnTo>
                  <a:lnTo>
                    <a:pt x="1706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31" b="-6831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47625"/>
              <a:ext cx="170688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E8A72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31.7%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1155680" y="7077456"/>
            <a:ext cx="5852160" cy="402336"/>
            <a:chOff x="0" y="0"/>
            <a:chExt cx="7802880" cy="536448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7802880" cy="536448"/>
            </a:xfrm>
            <a:custGeom>
              <a:avLst/>
              <a:gdLst/>
              <a:ahLst/>
              <a:cxnLst/>
              <a:rect l="l" t="t" r="r" b="b"/>
              <a:pathLst>
                <a:path w="7802880" h="536448">
                  <a:moveTo>
                    <a:pt x="0" y="0"/>
                  </a:moveTo>
                  <a:lnTo>
                    <a:pt x="7802880" y="0"/>
                  </a:lnTo>
                  <a:lnTo>
                    <a:pt x="7802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3418" b="-233418"/>
              </a:stretch>
            </a:blipFill>
          </p:spPr>
        </p:sp>
        <p:sp>
          <p:nvSpPr>
            <p:cNvPr id="96" name="TextBox 96"/>
            <p:cNvSpPr txBox="1"/>
            <p:nvPr/>
          </p:nvSpPr>
          <p:spPr>
            <a:xfrm>
              <a:off x="0" y="-38100"/>
              <a:ext cx="780288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A92A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Kernel bandwidth poorly calibrated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11155680" y="7644384"/>
            <a:ext cx="2011680" cy="438912"/>
            <a:chOff x="0" y="0"/>
            <a:chExt cx="2682240" cy="585216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2682240" cy="585216"/>
            </a:xfrm>
            <a:custGeom>
              <a:avLst/>
              <a:gdLst/>
              <a:ahLst/>
              <a:cxnLst/>
              <a:rect l="l" t="t" r="r" b="b"/>
              <a:pathLst>
                <a:path w="2682240" h="585216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306" b="-39306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-19050"/>
              <a:ext cx="2682240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KNN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13258800" y="7644384"/>
            <a:ext cx="1280160" cy="438912"/>
            <a:chOff x="0" y="0"/>
            <a:chExt cx="1706880" cy="585216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1706880" cy="585216"/>
            </a:xfrm>
            <a:custGeom>
              <a:avLst/>
              <a:gdLst/>
              <a:ahLst/>
              <a:cxnLst/>
              <a:rect l="l" t="t" r="r" b="b"/>
              <a:pathLst>
                <a:path w="1706880" h="585216">
                  <a:moveTo>
                    <a:pt x="0" y="0"/>
                  </a:moveTo>
                  <a:lnTo>
                    <a:pt x="1706880" y="0"/>
                  </a:lnTo>
                  <a:lnTo>
                    <a:pt x="1706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31" b="-6831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-47625"/>
              <a:ext cx="170688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E8A72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29.9%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1155680" y="8083296"/>
            <a:ext cx="5852160" cy="402336"/>
            <a:chOff x="0" y="0"/>
            <a:chExt cx="7802880" cy="536448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7802880" cy="536448"/>
            </a:xfrm>
            <a:custGeom>
              <a:avLst/>
              <a:gdLst/>
              <a:ahLst/>
              <a:cxnLst/>
              <a:rect l="l" t="t" r="r" b="b"/>
              <a:pathLst>
                <a:path w="7802880" h="536448">
                  <a:moveTo>
                    <a:pt x="0" y="0"/>
                  </a:moveTo>
                  <a:lnTo>
                    <a:pt x="7802880" y="0"/>
                  </a:lnTo>
                  <a:lnTo>
                    <a:pt x="7802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3418" b="-233418"/>
              </a:stretch>
            </a:blipFill>
          </p:spPr>
        </p:sp>
        <p:sp>
          <p:nvSpPr>
            <p:cNvPr id="105" name="TextBox 105"/>
            <p:cNvSpPr txBox="1"/>
            <p:nvPr/>
          </p:nvSpPr>
          <p:spPr>
            <a:xfrm>
              <a:off x="0" y="-38100"/>
              <a:ext cx="780288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A92A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Distance metric fails with 13D mixed-unit features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11155680" y="8650224"/>
            <a:ext cx="2011680" cy="438912"/>
            <a:chOff x="0" y="0"/>
            <a:chExt cx="2682240" cy="585216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2682240" cy="585216"/>
            </a:xfrm>
            <a:custGeom>
              <a:avLst/>
              <a:gdLst/>
              <a:ahLst/>
              <a:cxnLst/>
              <a:rect l="l" t="t" r="r" b="b"/>
              <a:pathLst>
                <a:path w="2682240" h="585216">
                  <a:moveTo>
                    <a:pt x="0" y="0"/>
                  </a:moveTo>
                  <a:lnTo>
                    <a:pt x="2682240" y="0"/>
                  </a:lnTo>
                  <a:lnTo>
                    <a:pt x="26822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306" b="-39306"/>
              </a:stretch>
            </a:blipFill>
          </p:spPr>
        </p:sp>
        <p:sp>
          <p:nvSpPr>
            <p:cNvPr id="108" name="TextBox 108"/>
            <p:cNvSpPr txBox="1"/>
            <p:nvPr/>
          </p:nvSpPr>
          <p:spPr>
            <a:xfrm>
              <a:off x="0" y="-19050"/>
              <a:ext cx="2682240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1D CNN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13258800" y="8650224"/>
            <a:ext cx="1280160" cy="438912"/>
            <a:chOff x="0" y="0"/>
            <a:chExt cx="1706880" cy="585216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1706880" cy="585216"/>
            </a:xfrm>
            <a:custGeom>
              <a:avLst/>
              <a:gdLst/>
              <a:ahLst/>
              <a:cxnLst/>
              <a:rect l="l" t="t" r="r" b="b"/>
              <a:pathLst>
                <a:path w="1706880" h="585216">
                  <a:moveTo>
                    <a:pt x="0" y="0"/>
                  </a:moveTo>
                  <a:lnTo>
                    <a:pt x="1706880" y="0"/>
                  </a:lnTo>
                  <a:lnTo>
                    <a:pt x="1706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31" b="-6831"/>
              </a:stretch>
            </a:blipFill>
          </p:spPr>
        </p:sp>
        <p:sp>
          <p:nvSpPr>
            <p:cNvPr id="111" name="TextBox 111"/>
            <p:cNvSpPr txBox="1"/>
            <p:nvPr/>
          </p:nvSpPr>
          <p:spPr>
            <a:xfrm>
              <a:off x="0" y="-47625"/>
              <a:ext cx="170688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E8A72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31.1%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11155680" y="9089136"/>
            <a:ext cx="5852160" cy="402336"/>
            <a:chOff x="0" y="0"/>
            <a:chExt cx="7802880" cy="536448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7802880" cy="536448"/>
            </a:xfrm>
            <a:custGeom>
              <a:avLst/>
              <a:gdLst/>
              <a:ahLst/>
              <a:cxnLst/>
              <a:rect l="l" t="t" r="r" b="b"/>
              <a:pathLst>
                <a:path w="7802880" h="536448">
                  <a:moveTo>
                    <a:pt x="0" y="0"/>
                  </a:moveTo>
                  <a:lnTo>
                    <a:pt x="7802880" y="0"/>
                  </a:lnTo>
                  <a:lnTo>
                    <a:pt x="7802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3418" b="-233418"/>
              </a:stretch>
            </a:blipFill>
          </p:spPr>
        </p:sp>
        <p:sp>
          <p:nvSpPr>
            <p:cNvPr id="114" name="TextBox 114"/>
            <p:cNvSpPr txBox="1"/>
            <p:nvPr/>
          </p:nvSpPr>
          <p:spPr>
            <a:xfrm>
              <a:off x="0" y="-38100"/>
              <a:ext cx="7802880" cy="574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A92A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Insufficient data per fold; no depth context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329184"/>
            <a:ext cx="16459200" cy="1188720"/>
            <a:chOff x="0" y="0"/>
            <a:chExt cx="21945600" cy="1584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84960"/>
            </a:xfrm>
            <a:custGeom>
              <a:avLst/>
              <a:gdLst/>
              <a:ahLst/>
              <a:cxnLst/>
              <a:rect l="l" t="t" r="r" b="b"/>
              <a:pathLst>
                <a:path w="21945600" h="158496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792" b="-21979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94560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Feature Importance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578359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79510" cy="33909"/>
            </a:xfrm>
            <a:custGeom>
              <a:avLst/>
              <a:gdLst/>
              <a:ahLst/>
              <a:cxnLst/>
              <a:rect l="l" t="t" r="r" b="b"/>
              <a:pathLst>
                <a:path w="21979510" h="33909">
                  <a:moveTo>
                    <a:pt x="0" y="0"/>
                  </a:moveTo>
                  <a:lnTo>
                    <a:pt x="21979510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12580060" b="-12579948"/>
              </a:stretch>
            </a:blip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731520" y="1700784"/>
            <a:ext cx="9144000" cy="512064"/>
            <a:chOff x="0" y="0"/>
            <a:chExt cx="12192000" cy="68275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192000" cy="682752"/>
            </a:xfrm>
            <a:custGeom>
              <a:avLst/>
              <a:gdLst/>
              <a:ahLst/>
              <a:cxnLst/>
              <a:rect l="l" t="t" r="r" b="b"/>
              <a:pathLst>
                <a:path w="12192000" h="682752">
                  <a:moveTo>
                    <a:pt x="0" y="0"/>
                  </a:moveTo>
                  <a:lnTo>
                    <a:pt x="12192000" y="0"/>
                  </a:lnTo>
                  <a:lnTo>
                    <a:pt x="12192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947" b="-297947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2192000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Random Forest Feature Importance</a:t>
              </a:r>
            </a:p>
          </p:txBody>
        </p:sp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1" y="1498949"/>
            <a:ext cx="9986649" cy="7265927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10058400" y="1700784"/>
            <a:ext cx="7315200" cy="512064"/>
            <a:chOff x="0" y="0"/>
            <a:chExt cx="9753600" cy="6827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753600" cy="682752"/>
            </a:xfrm>
            <a:custGeom>
              <a:avLst/>
              <a:gdLst/>
              <a:ahLst/>
              <a:cxnLst/>
              <a:rect l="l" t="t" r="r" b="b"/>
              <a:pathLst>
                <a:path w="9753600" h="682752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9753600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XGBoost Feature Importance</a:t>
              </a:r>
            </a:p>
          </p:txBody>
        </p:sp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1683200"/>
            <a:ext cx="8091678" cy="6913341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718823" y="8628845"/>
            <a:ext cx="244859" cy="244859"/>
            <a:chOff x="0" y="0"/>
            <a:chExt cx="326479" cy="32647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26517" cy="326517"/>
            </a:xfrm>
            <a:custGeom>
              <a:avLst/>
              <a:gdLst/>
              <a:ahLst/>
              <a:cxnLst/>
              <a:rect l="l" t="t" r="r" b="b"/>
              <a:pathLst>
                <a:path w="326517" h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B6E6E"/>
            </a:solid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052322" y="8434749"/>
            <a:ext cx="16540734" cy="928707"/>
            <a:chOff x="-108712" y="-555524"/>
            <a:chExt cx="22054312" cy="123827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945600" cy="682752"/>
            </a:xfrm>
            <a:custGeom>
              <a:avLst/>
              <a:gdLst/>
              <a:ahLst/>
              <a:cxnLst/>
              <a:rect l="l" t="t" r="r" b="b"/>
              <a:pathLst>
                <a:path w="21945600" h="682752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6304" b="-576304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-108712" y="-555524"/>
              <a:ext cx="219456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dirty="0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SP[MV] is the top feature for RF (15.4%) — captures electro-chemical contrasts between facies.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2074" y="9297261"/>
            <a:ext cx="244859" cy="244859"/>
            <a:chOff x="0" y="0"/>
            <a:chExt cx="326479" cy="32647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26517" cy="326517"/>
            </a:xfrm>
            <a:custGeom>
              <a:avLst/>
              <a:gdLst/>
              <a:ahLst/>
              <a:cxnLst/>
              <a:rect l="l" t="t" r="r" b="b"/>
              <a:pathLst>
                <a:path w="326517" h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B6E6E"/>
            </a:solid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067955" y="8907627"/>
            <a:ext cx="16501222" cy="767153"/>
            <a:chOff x="-56029" y="-340119"/>
            <a:chExt cx="22001629" cy="1022871"/>
          </a:xfrm>
        </p:grpSpPr>
        <p:sp>
          <p:nvSpPr>
            <p:cNvPr id="23" name="Freeform 23"/>
            <p:cNvSpPr/>
            <p:nvPr/>
          </p:nvSpPr>
          <p:spPr>
            <a:xfrm>
              <a:off x="-56029" y="-340119"/>
              <a:ext cx="21945600" cy="682752"/>
            </a:xfrm>
            <a:custGeom>
              <a:avLst/>
              <a:gdLst/>
              <a:ahLst/>
              <a:cxnLst/>
              <a:rect l="l" t="t" r="r" b="b"/>
              <a:pathLst>
                <a:path w="21945600" h="682752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6304" b="-576304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dirty="0" err="1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CALP_anomaly</a:t>
              </a:r>
              <a:r>
                <a:rPr lang="en-US" sz="2200" dirty="0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(derived) outperforms raw Caliper — engineered features add discriminative power.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31520" y="9890678"/>
            <a:ext cx="244859" cy="244859"/>
            <a:chOff x="0" y="0"/>
            <a:chExt cx="326479" cy="32647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26517" cy="326517"/>
            </a:xfrm>
            <a:custGeom>
              <a:avLst/>
              <a:gdLst/>
              <a:ahLst/>
              <a:cxnLst/>
              <a:rect l="l" t="t" r="r" b="b"/>
              <a:pathLst>
                <a:path w="326517" h="326517">
                  <a:moveTo>
                    <a:pt x="0" y="163195"/>
                  </a:moveTo>
                  <a:cubicBezTo>
                    <a:pt x="0" y="73025"/>
                    <a:pt x="73025" y="0"/>
                    <a:pt x="163195" y="0"/>
                  </a:cubicBezTo>
                  <a:cubicBezTo>
                    <a:pt x="253365" y="0"/>
                    <a:pt x="326517" y="73025"/>
                    <a:pt x="326517" y="163195"/>
                  </a:cubicBezTo>
                  <a:cubicBezTo>
                    <a:pt x="326517" y="253365"/>
                    <a:pt x="253365" y="326517"/>
                    <a:pt x="163195" y="326517"/>
                  </a:cubicBezTo>
                  <a:cubicBezTo>
                    <a:pt x="73025" y="326517"/>
                    <a:pt x="0" y="253365"/>
                    <a:pt x="0" y="163195"/>
                  </a:cubicBezTo>
                  <a:close/>
                </a:path>
              </a:pathLst>
            </a:custGeom>
            <a:solidFill>
              <a:srgbClr val="0B6E6E"/>
            </a:solid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104118" y="9739217"/>
            <a:ext cx="16488938" cy="794671"/>
            <a:chOff x="-39651" y="-376809"/>
            <a:chExt cx="21985251" cy="105956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945600" cy="682752"/>
            </a:xfrm>
            <a:custGeom>
              <a:avLst/>
              <a:gdLst/>
              <a:ahLst/>
              <a:cxnLst/>
              <a:rect l="l" t="t" r="r" b="b"/>
              <a:pathLst>
                <a:path w="21945600" h="682752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6304" b="-576304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-39651" y="-376809"/>
              <a:ext cx="219456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dirty="0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Both RF and </a:t>
              </a:r>
              <a:r>
                <a:rPr lang="en-US" sz="2200" dirty="0" err="1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XGBoost</a:t>
              </a:r>
              <a:r>
                <a:rPr lang="en-US" sz="2200" dirty="0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agree: SP + Caliper + log_RES16 form the core discriminating trio.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329184"/>
            <a:ext cx="16459200" cy="1188720"/>
            <a:chOff x="0" y="0"/>
            <a:chExt cx="21945600" cy="1584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84960"/>
            </a:xfrm>
            <a:custGeom>
              <a:avLst/>
              <a:gdLst/>
              <a:ahLst/>
              <a:cxnLst/>
              <a:rect l="l" t="t" r="r" b="b"/>
              <a:pathLst>
                <a:path w="21945600" h="158496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792" b="-21979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94560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Model Performance Metrics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578359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79510" cy="33909"/>
            </a:xfrm>
            <a:custGeom>
              <a:avLst/>
              <a:gdLst/>
              <a:ahLst/>
              <a:cxnLst/>
              <a:rect l="l" t="t" r="r" b="b"/>
              <a:pathLst>
                <a:path w="21979510" h="33909">
                  <a:moveTo>
                    <a:pt x="0" y="0"/>
                  </a:moveTo>
                  <a:lnTo>
                    <a:pt x="21979510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12580060" b="-12579948"/>
              </a:stretch>
            </a:blip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731520" y="1700784"/>
            <a:ext cx="16459200" cy="512064"/>
            <a:chOff x="0" y="0"/>
            <a:chExt cx="21945600" cy="68275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682752"/>
            </a:xfrm>
            <a:custGeom>
              <a:avLst/>
              <a:gdLst/>
              <a:ahLst/>
              <a:cxnLst/>
              <a:rect l="l" t="t" r="r" b="b"/>
              <a:pathLst>
                <a:path w="21945600" h="682752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6304" b="-576304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1945600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Random Forest — Per-Class F1 Scores by Test Well</a:t>
              </a:r>
            </a:p>
          </p:txBody>
        </p:sp>
      </p:grp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731520" y="2340864"/>
          <a:ext cx="16789401" cy="5574538"/>
        </p:xfrm>
        <a:graphic>
          <a:graphicData uri="http://schemas.openxmlformats.org/drawingml/2006/table">
            <a:tbl>
              <a:tblPr/>
              <a:tblGrid>
                <a:gridCol w="2376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3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3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3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3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78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Facies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Well 1 F1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Well 2 F1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Well 3 F1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Well 4 F1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FFFFFF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Observation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455A6B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SST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D21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0.554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B6E6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0.753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B6E6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0.706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B6E6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0.683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Best predicted class — dominant in training set (43.6%)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455A6B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GS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D21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0.589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B6E6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0.886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CC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0.000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CC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0.062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 in Raniganj; near-zero in Jharia — basin distribution shift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455A6B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SS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D21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0.401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D21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0.370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CC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0.223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CC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0.129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Transitional class — confused with SST and GS at boundaries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455A6B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Coal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CC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0.249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D21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0.318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CC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0.053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CC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0.033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 support in test set; distinctive signature helps partly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455A6B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Alt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CC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0.026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CC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0.000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CC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0.003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CC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0.010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Rare and heterogeneous — hardest class across all wells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455A6B"/>
                          </a:solidFill>
                          <a:latin typeface="Trebuchet MS Bold"/>
                          <a:ea typeface="Trebuchet MS Bold"/>
                          <a:cs typeface="Trebuchet MS Bold"/>
                          <a:sym typeface="Trebuchet MS Bold"/>
                        </a:rPr>
                        <a:t>Carb Shale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CC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0.000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CC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0.099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CC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0.000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CC4444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0.000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455A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Rarest class (0.8%) — insufficient training support</a:t>
                      </a:r>
                      <a:endParaRPr lang="en-US" sz="1100"/>
                    </a:p>
                  </a:txBody>
                  <a:tcPr marT="91440" marB="91440">
                    <a:lnL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1" name="Group 11"/>
          <p:cNvGrpSpPr/>
          <p:nvPr/>
        </p:nvGrpSpPr>
        <p:grpSpPr>
          <a:xfrm>
            <a:off x="731520" y="8193024"/>
            <a:ext cx="7315200" cy="512064"/>
            <a:chOff x="0" y="0"/>
            <a:chExt cx="9753600" cy="6827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753600" cy="682752"/>
            </a:xfrm>
            <a:custGeom>
              <a:avLst/>
              <a:gdLst/>
              <a:ahLst/>
              <a:cxnLst/>
              <a:rect l="l" t="t" r="r" b="b"/>
              <a:pathLst>
                <a:path w="9753600" h="682752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357" b="-22835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9753600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Overall Accuracy &amp; F1 per Test Well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18823" y="8856983"/>
            <a:ext cx="3865883" cy="1214123"/>
            <a:chOff x="0" y="0"/>
            <a:chExt cx="5154511" cy="161883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154549" cy="1618869"/>
            </a:xfrm>
            <a:custGeom>
              <a:avLst/>
              <a:gdLst/>
              <a:ahLst/>
              <a:cxnLst/>
              <a:rect l="l" t="t" r="r" b="b"/>
              <a:pathLst>
                <a:path w="5154549" h="1618869">
                  <a:moveTo>
                    <a:pt x="0" y="0"/>
                  </a:moveTo>
                  <a:lnTo>
                    <a:pt x="5154549" y="0"/>
                  </a:lnTo>
                  <a:lnTo>
                    <a:pt x="5154549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0D2137"/>
            </a:solidFill>
            <a:ln w="25400" cap="sq">
              <a:solidFill>
                <a:srgbClr val="0D2137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731520" y="8961120"/>
            <a:ext cx="3840480" cy="402336"/>
            <a:chOff x="0" y="0"/>
            <a:chExt cx="5120640" cy="53644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120640" cy="536448"/>
            </a:xfrm>
            <a:custGeom>
              <a:avLst/>
              <a:gdLst/>
              <a:ahLst/>
              <a:cxnLst/>
              <a:rect l="l" t="t" r="r" b="b"/>
              <a:pathLst>
                <a:path w="5120640" h="536448">
                  <a:moveTo>
                    <a:pt x="0" y="0"/>
                  </a:moveTo>
                  <a:lnTo>
                    <a:pt x="5120640" y="0"/>
                  </a:lnTo>
                  <a:lnTo>
                    <a:pt x="51206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993" b="-13599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5120640" cy="5554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4A89D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Well 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31520" y="9326880"/>
            <a:ext cx="3840480" cy="512064"/>
            <a:chOff x="0" y="0"/>
            <a:chExt cx="5120640" cy="68275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120640" cy="682752"/>
            </a:xfrm>
            <a:custGeom>
              <a:avLst/>
              <a:gdLst/>
              <a:ahLst/>
              <a:cxnLst/>
              <a:rect l="l" t="t" r="r" b="b"/>
              <a:pathLst>
                <a:path w="5120640" h="682752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137" b="-96137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512064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Acc: 49.3%  F1: 50.3%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25063" y="8856983"/>
            <a:ext cx="3865883" cy="1214123"/>
            <a:chOff x="0" y="0"/>
            <a:chExt cx="5154511" cy="161883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154549" cy="1618869"/>
            </a:xfrm>
            <a:custGeom>
              <a:avLst/>
              <a:gdLst/>
              <a:ahLst/>
              <a:cxnLst/>
              <a:rect l="l" t="t" r="r" b="b"/>
              <a:pathLst>
                <a:path w="5154549" h="1618869">
                  <a:moveTo>
                    <a:pt x="0" y="0"/>
                  </a:moveTo>
                  <a:lnTo>
                    <a:pt x="5154549" y="0"/>
                  </a:lnTo>
                  <a:lnTo>
                    <a:pt x="5154549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0D2137"/>
            </a:solidFill>
            <a:ln w="25400" cap="sq">
              <a:solidFill>
                <a:srgbClr val="0D2137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937760" y="8961120"/>
            <a:ext cx="3840480" cy="402336"/>
            <a:chOff x="0" y="0"/>
            <a:chExt cx="5120640" cy="53644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120640" cy="536448"/>
            </a:xfrm>
            <a:custGeom>
              <a:avLst/>
              <a:gdLst/>
              <a:ahLst/>
              <a:cxnLst/>
              <a:rect l="l" t="t" r="r" b="b"/>
              <a:pathLst>
                <a:path w="5120640" h="536448">
                  <a:moveTo>
                    <a:pt x="0" y="0"/>
                  </a:moveTo>
                  <a:lnTo>
                    <a:pt x="5120640" y="0"/>
                  </a:lnTo>
                  <a:lnTo>
                    <a:pt x="51206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993" b="-135993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5120640" cy="5554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4A89D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Well 2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37760" y="9326880"/>
            <a:ext cx="3840480" cy="512064"/>
            <a:chOff x="0" y="0"/>
            <a:chExt cx="5120640" cy="68275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120640" cy="682752"/>
            </a:xfrm>
            <a:custGeom>
              <a:avLst/>
              <a:gdLst/>
              <a:ahLst/>
              <a:cxnLst/>
              <a:rect l="l" t="t" r="r" b="b"/>
              <a:pathLst>
                <a:path w="5120640" h="682752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137" b="-96137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512064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Acc: 74.6%  F1: 74.8%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31303" y="8856983"/>
            <a:ext cx="3865883" cy="1214123"/>
            <a:chOff x="0" y="0"/>
            <a:chExt cx="5154511" cy="161883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154549" cy="1618869"/>
            </a:xfrm>
            <a:custGeom>
              <a:avLst/>
              <a:gdLst/>
              <a:ahLst/>
              <a:cxnLst/>
              <a:rect l="l" t="t" r="r" b="b"/>
              <a:pathLst>
                <a:path w="5154549" h="1618869">
                  <a:moveTo>
                    <a:pt x="0" y="0"/>
                  </a:moveTo>
                  <a:lnTo>
                    <a:pt x="5154549" y="0"/>
                  </a:lnTo>
                  <a:lnTo>
                    <a:pt x="5154549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0D2137"/>
            </a:solidFill>
            <a:ln w="25400" cap="sq">
              <a:solidFill>
                <a:srgbClr val="0D2137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9144000" y="8961120"/>
            <a:ext cx="3840480" cy="402336"/>
            <a:chOff x="0" y="0"/>
            <a:chExt cx="5120640" cy="53644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120640" cy="536448"/>
            </a:xfrm>
            <a:custGeom>
              <a:avLst/>
              <a:gdLst/>
              <a:ahLst/>
              <a:cxnLst/>
              <a:rect l="l" t="t" r="r" b="b"/>
              <a:pathLst>
                <a:path w="5120640" h="536448">
                  <a:moveTo>
                    <a:pt x="0" y="0"/>
                  </a:moveTo>
                  <a:lnTo>
                    <a:pt x="5120640" y="0"/>
                  </a:lnTo>
                  <a:lnTo>
                    <a:pt x="51206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993" b="-135993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5120640" cy="5554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4A89D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Well 3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144000" y="9326880"/>
            <a:ext cx="3840480" cy="512064"/>
            <a:chOff x="0" y="0"/>
            <a:chExt cx="5120640" cy="68275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120640" cy="682752"/>
            </a:xfrm>
            <a:custGeom>
              <a:avLst/>
              <a:gdLst/>
              <a:ahLst/>
              <a:cxnLst/>
              <a:rect l="l" t="t" r="r" b="b"/>
              <a:pathLst>
                <a:path w="5120640" h="682752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137" b="-96137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512064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Acc: 53.0%  F1: 45.5%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3337543" y="8856983"/>
            <a:ext cx="3865883" cy="1214123"/>
            <a:chOff x="0" y="0"/>
            <a:chExt cx="5154511" cy="161883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154549" cy="1618869"/>
            </a:xfrm>
            <a:custGeom>
              <a:avLst/>
              <a:gdLst/>
              <a:ahLst/>
              <a:cxnLst/>
              <a:rect l="l" t="t" r="r" b="b"/>
              <a:pathLst>
                <a:path w="5154549" h="1618869">
                  <a:moveTo>
                    <a:pt x="0" y="0"/>
                  </a:moveTo>
                  <a:lnTo>
                    <a:pt x="5154549" y="0"/>
                  </a:lnTo>
                  <a:lnTo>
                    <a:pt x="5154549" y="1618869"/>
                  </a:lnTo>
                  <a:lnTo>
                    <a:pt x="0" y="1618869"/>
                  </a:lnTo>
                  <a:close/>
                </a:path>
              </a:pathLst>
            </a:custGeom>
            <a:solidFill>
              <a:srgbClr val="0D2137"/>
            </a:solidFill>
            <a:ln w="25400" cap="sq">
              <a:solidFill>
                <a:srgbClr val="0D2137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3350240" y="8961120"/>
            <a:ext cx="3840480" cy="402336"/>
            <a:chOff x="0" y="0"/>
            <a:chExt cx="5120640" cy="53644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120640" cy="536448"/>
            </a:xfrm>
            <a:custGeom>
              <a:avLst/>
              <a:gdLst/>
              <a:ahLst/>
              <a:cxnLst/>
              <a:rect l="l" t="t" r="r" b="b"/>
              <a:pathLst>
                <a:path w="5120640" h="536448">
                  <a:moveTo>
                    <a:pt x="0" y="0"/>
                  </a:moveTo>
                  <a:lnTo>
                    <a:pt x="5120640" y="0"/>
                  </a:lnTo>
                  <a:lnTo>
                    <a:pt x="51206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5993" b="-135993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5120640" cy="5554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4A89D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Well 4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3350240" y="9326880"/>
            <a:ext cx="3840480" cy="512064"/>
            <a:chOff x="0" y="0"/>
            <a:chExt cx="5120640" cy="68275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120640" cy="682752"/>
            </a:xfrm>
            <a:custGeom>
              <a:avLst/>
              <a:gdLst/>
              <a:ahLst/>
              <a:cxnLst/>
              <a:rect l="l" t="t" r="r" b="b"/>
              <a:pathLst>
                <a:path w="5120640" h="682752">
                  <a:moveTo>
                    <a:pt x="0" y="0"/>
                  </a:moveTo>
                  <a:lnTo>
                    <a:pt x="5120640" y="0"/>
                  </a:lnTo>
                  <a:lnTo>
                    <a:pt x="51206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137" b="-96137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512064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Acc: 50.1%  F1: 43.2%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46669" y="9987906"/>
            <a:ext cx="4618241" cy="299094"/>
          </a:xfrm>
          <a:custGeom>
            <a:avLst/>
            <a:gdLst/>
            <a:ahLst/>
            <a:cxnLst/>
            <a:rect l="l" t="t" r="r" b="b"/>
            <a:pathLst>
              <a:path w="4618241" h="299094">
                <a:moveTo>
                  <a:pt x="0" y="0"/>
                </a:moveTo>
                <a:lnTo>
                  <a:pt x="4618241" y="0"/>
                </a:lnTo>
                <a:lnTo>
                  <a:pt x="4618241" y="299094"/>
                </a:lnTo>
                <a:lnTo>
                  <a:pt x="0" y="2990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10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998415" y="0"/>
            <a:ext cx="11289585" cy="10351358"/>
          </a:xfrm>
          <a:custGeom>
            <a:avLst/>
            <a:gdLst/>
            <a:ahLst/>
            <a:cxnLst/>
            <a:rect l="l" t="t" r="r" b="b"/>
            <a:pathLst>
              <a:path w="11289585" h="10351358">
                <a:moveTo>
                  <a:pt x="0" y="0"/>
                </a:moveTo>
                <a:lnTo>
                  <a:pt x="11289585" y="0"/>
                </a:lnTo>
                <a:lnTo>
                  <a:pt x="11289585" y="10351358"/>
                </a:lnTo>
                <a:lnTo>
                  <a:pt x="0" y="103513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698" b="-11315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02999" y="404430"/>
            <a:ext cx="6595416" cy="301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  <a:spcBef>
                <a:spcPct val="0"/>
              </a:spcBef>
            </a:pPr>
            <a:r>
              <a:rPr lang="en-US" sz="4999" b="1">
                <a:solidFill>
                  <a:srgbClr val="00357A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Well 2 (Raniganj) — Actual vs Predicted [Random Forest] LOWO fold F1=74.8%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329184"/>
            <a:ext cx="16459200" cy="1188720"/>
            <a:chOff x="0" y="0"/>
            <a:chExt cx="21945600" cy="1584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84960"/>
            </a:xfrm>
            <a:custGeom>
              <a:avLst/>
              <a:gdLst/>
              <a:ahLst/>
              <a:cxnLst/>
              <a:rect l="l" t="t" r="r" b="b"/>
              <a:pathLst>
                <a:path w="21945600" h="158496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792" b="-21979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94560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Generalization Capability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578359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79510" cy="33909"/>
            </a:xfrm>
            <a:custGeom>
              <a:avLst/>
              <a:gdLst/>
              <a:ahLst/>
              <a:cxnLst/>
              <a:rect l="l" t="t" r="r" b="b"/>
              <a:pathLst>
                <a:path w="21979510" h="33909">
                  <a:moveTo>
                    <a:pt x="0" y="0"/>
                  </a:moveTo>
                  <a:lnTo>
                    <a:pt x="21979510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12580060" b="-12579948"/>
              </a:stretch>
            </a:blip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01703" y="1517904"/>
            <a:ext cx="16850363" cy="7669787"/>
            <a:chOff x="0" y="0"/>
            <a:chExt cx="22467151" cy="10226383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1006671" cy="4910671"/>
              <a:chOff x="0" y="0"/>
              <a:chExt cx="11006671" cy="491067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1006709" cy="4910709"/>
              </a:xfrm>
              <a:custGeom>
                <a:avLst/>
                <a:gdLst/>
                <a:ahLst/>
                <a:cxnLst/>
                <a:rect l="l" t="t" r="r" b="b"/>
                <a:pathLst>
                  <a:path w="11006709" h="4910709">
                    <a:moveTo>
                      <a:pt x="0" y="0"/>
                    </a:moveTo>
                    <a:lnTo>
                      <a:pt x="11006709" y="0"/>
                    </a:lnTo>
                    <a:lnTo>
                      <a:pt x="11006709" y="4910709"/>
                    </a:lnTo>
                    <a:lnTo>
                      <a:pt x="0" y="4910709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sq">
                <a:solidFill>
                  <a:srgbClr val="FFFFFF"/>
                </a:solidFill>
                <a:prstDash val="solid"/>
                <a:miter/>
              </a:ln>
            </p:spPr>
          </p:sp>
        </p:grpSp>
        <p:grpSp>
          <p:nvGrpSpPr>
            <p:cNvPr id="10" name="Group 10"/>
            <p:cNvGrpSpPr/>
            <p:nvPr/>
          </p:nvGrpSpPr>
          <p:grpSpPr>
            <a:xfrm>
              <a:off x="487680" y="536448"/>
              <a:ext cx="1618831" cy="1618831"/>
              <a:chOff x="0" y="0"/>
              <a:chExt cx="1618831" cy="161883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618742" cy="1618742"/>
              </a:xfrm>
              <a:custGeom>
                <a:avLst/>
                <a:gdLst/>
                <a:ahLst/>
                <a:cxnLst/>
                <a:rect l="l" t="t" r="r" b="b"/>
                <a:pathLst>
                  <a:path w="1618742" h="1618742">
                    <a:moveTo>
                      <a:pt x="0" y="809371"/>
                    </a:moveTo>
                    <a:cubicBezTo>
                      <a:pt x="0" y="362331"/>
                      <a:pt x="362331" y="0"/>
                      <a:pt x="809371" y="0"/>
                    </a:cubicBezTo>
                    <a:cubicBezTo>
                      <a:pt x="1256411" y="0"/>
                      <a:pt x="1618742" y="362331"/>
                      <a:pt x="1618742" y="809371"/>
                    </a:cubicBezTo>
                    <a:cubicBezTo>
                      <a:pt x="1618742" y="1256411"/>
                      <a:pt x="1256411" y="1618742"/>
                      <a:pt x="809371" y="1618742"/>
                    </a:cubicBezTo>
                    <a:cubicBezTo>
                      <a:pt x="362331" y="1618742"/>
                      <a:pt x="0" y="1256411"/>
                      <a:pt x="0" y="809371"/>
                    </a:cubicBezTo>
                    <a:close/>
                  </a:path>
                </a:pathLst>
              </a:custGeom>
              <a:solidFill>
                <a:srgbClr val="D6F0EE"/>
              </a:solidFill>
              <a:ln w="25400" cap="sq">
                <a:solidFill>
                  <a:srgbClr val="D6F0EE"/>
                </a:solidFill>
                <a:prstDash val="solid"/>
                <a:miter/>
              </a:ln>
            </p:spPr>
          </p:sp>
        </p:grpSp>
        <p:grpSp>
          <p:nvGrpSpPr>
            <p:cNvPr id="12" name="Group 12"/>
            <p:cNvGrpSpPr/>
            <p:nvPr/>
          </p:nvGrpSpPr>
          <p:grpSpPr>
            <a:xfrm>
              <a:off x="504609" y="553377"/>
              <a:ext cx="1584960" cy="1584960"/>
              <a:chOff x="0" y="0"/>
              <a:chExt cx="1584960" cy="158496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584960" cy="1584960"/>
              </a:xfrm>
              <a:custGeom>
                <a:avLst/>
                <a:gdLst/>
                <a:ahLst/>
                <a:cxnLst/>
                <a:rect l="l" t="t" r="r" b="b"/>
                <a:pathLst>
                  <a:path w="1584960" h="1584960">
                    <a:moveTo>
                      <a:pt x="0" y="0"/>
                    </a:moveTo>
                    <a:lnTo>
                      <a:pt x="1584960" y="0"/>
                    </a:lnTo>
                    <a:lnTo>
                      <a:pt x="1584960" y="1584960"/>
                    </a:lnTo>
                    <a:lnTo>
                      <a:pt x="0" y="15849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r="-78303"/>
                </a:stretch>
              </a:blip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76200"/>
                <a:ext cx="1584960" cy="166116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800"/>
                  </a:lnSpc>
                </a:pPr>
                <a:r>
                  <a:rPr lang="en-US" sz="40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🌍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2455329" y="626529"/>
              <a:ext cx="8046720" cy="926592"/>
              <a:chOff x="0" y="0"/>
              <a:chExt cx="8046720" cy="92659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046720" cy="926592"/>
              </a:xfrm>
              <a:custGeom>
                <a:avLst/>
                <a:gdLst/>
                <a:ahLst/>
                <a:cxnLst/>
                <a:rect l="l" t="t" r="r" b="b"/>
                <a:pathLst>
                  <a:path w="8046720" h="926592">
                    <a:moveTo>
                      <a:pt x="0" y="0"/>
                    </a:moveTo>
                    <a:lnTo>
                      <a:pt x="8046720" y="0"/>
                    </a:lnTo>
                    <a:lnTo>
                      <a:pt x="8046720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19212" b="-119212"/>
                </a:stretch>
              </a:blip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9525"/>
                <a:ext cx="8046720" cy="93611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1">
                    <a:solidFill>
                      <a:srgbClr val="0D2137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Cross-Basin Transfer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04615" y="1998129"/>
              <a:ext cx="9997440" cy="2316480"/>
              <a:chOff x="0" y="0"/>
              <a:chExt cx="9997440" cy="231648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9997440" cy="2316480"/>
              </a:xfrm>
              <a:custGeom>
                <a:avLst/>
                <a:gdLst/>
                <a:ahLst/>
                <a:cxnLst/>
                <a:rect l="l" t="t" r="r" b="b"/>
                <a:pathLst>
                  <a:path w="9997440" h="2316480">
                    <a:moveTo>
                      <a:pt x="0" y="0"/>
                    </a:moveTo>
                    <a:lnTo>
                      <a:pt x="9997440" y="0"/>
                    </a:lnTo>
                    <a:lnTo>
                      <a:pt x="9997440" y="2316480"/>
                    </a:lnTo>
                    <a:lnTo>
                      <a:pt x="0" y="23164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4093" b="-34093"/>
                </a:stretch>
              </a:blip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9997440" cy="235458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879"/>
                  </a:lnSpc>
                </a:pPr>
                <a:r>
                  <a:rPr lang="en-US" sz="2400">
                    <a:solidFill>
                      <a:srgbClr val="455A6B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Model trained on Raniganj wells successfully predicts Jharia basin facies — log physics are transferable despite different depths and sub-basin geology.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1460480" y="0"/>
              <a:ext cx="11006671" cy="4910671"/>
              <a:chOff x="0" y="0"/>
              <a:chExt cx="11006671" cy="491067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1006709" cy="4910709"/>
              </a:xfrm>
              <a:custGeom>
                <a:avLst/>
                <a:gdLst/>
                <a:ahLst/>
                <a:cxnLst/>
                <a:rect l="l" t="t" r="r" b="b"/>
                <a:pathLst>
                  <a:path w="11006709" h="4910709">
                    <a:moveTo>
                      <a:pt x="0" y="0"/>
                    </a:moveTo>
                    <a:lnTo>
                      <a:pt x="11006709" y="0"/>
                    </a:lnTo>
                    <a:lnTo>
                      <a:pt x="11006709" y="4910709"/>
                    </a:lnTo>
                    <a:lnTo>
                      <a:pt x="0" y="4910709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sq">
                <a:solidFill>
                  <a:srgbClr val="FFFFFF"/>
                </a:solidFill>
                <a:prstDash val="solid"/>
                <a:miter/>
              </a:ln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11948160" y="536448"/>
              <a:ext cx="1618831" cy="1618831"/>
              <a:chOff x="0" y="0"/>
              <a:chExt cx="1618831" cy="161883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618742" cy="1618742"/>
              </a:xfrm>
              <a:custGeom>
                <a:avLst/>
                <a:gdLst/>
                <a:ahLst/>
                <a:cxnLst/>
                <a:rect l="l" t="t" r="r" b="b"/>
                <a:pathLst>
                  <a:path w="1618742" h="1618742">
                    <a:moveTo>
                      <a:pt x="0" y="809371"/>
                    </a:moveTo>
                    <a:cubicBezTo>
                      <a:pt x="0" y="362331"/>
                      <a:pt x="362331" y="0"/>
                      <a:pt x="809371" y="0"/>
                    </a:cubicBezTo>
                    <a:cubicBezTo>
                      <a:pt x="1256411" y="0"/>
                      <a:pt x="1618742" y="362331"/>
                      <a:pt x="1618742" y="809371"/>
                    </a:cubicBezTo>
                    <a:cubicBezTo>
                      <a:pt x="1618742" y="1256411"/>
                      <a:pt x="1256411" y="1618742"/>
                      <a:pt x="809371" y="1618742"/>
                    </a:cubicBezTo>
                    <a:cubicBezTo>
                      <a:pt x="362331" y="1618742"/>
                      <a:pt x="0" y="1256411"/>
                      <a:pt x="0" y="809371"/>
                    </a:cubicBezTo>
                    <a:close/>
                  </a:path>
                </a:pathLst>
              </a:custGeom>
              <a:solidFill>
                <a:srgbClr val="D6F0EE"/>
              </a:solidFill>
              <a:ln w="25400" cap="sq">
                <a:solidFill>
                  <a:srgbClr val="D6F0EE"/>
                </a:solidFill>
                <a:prstDash val="solid"/>
                <a:miter/>
              </a:ln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11965089" y="553377"/>
              <a:ext cx="1584960" cy="1584960"/>
              <a:chOff x="0" y="0"/>
              <a:chExt cx="1584960" cy="158496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584960" cy="1584960"/>
              </a:xfrm>
              <a:custGeom>
                <a:avLst/>
                <a:gdLst/>
                <a:ahLst/>
                <a:cxnLst/>
                <a:rect l="l" t="t" r="r" b="b"/>
                <a:pathLst>
                  <a:path w="1584960" h="1584960">
                    <a:moveTo>
                      <a:pt x="0" y="0"/>
                    </a:moveTo>
                    <a:lnTo>
                      <a:pt x="1584960" y="0"/>
                    </a:lnTo>
                    <a:lnTo>
                      <a:pt x="1584960" y="1584960"/>
                    </a:lnTo>
                    <a:lnTo>
                      <a:pt x="0" y="15849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r="-78303"/>
                </a:stretch>
              </a:blip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76200"/>
                <a:ext cx="1584960" cy="166116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800"/>
                  </a:lnSpc>
                </a:pPr>
                <a:r>
                  <a:rPr lang="en-US" sz="40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📏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3915809" y="626529"/>
              <a:ext cx="8046720" cy="926592"/>
              <a:chOff x="0" y="0"/>
              <a:chExt cx="8046720" cy="92659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046720" cy="926592"/>
              </a:xfrm>
              <a:custGeom>
                <a:avLst/>
                <a:gdLst/>
                <a:ahLst/>
                <a:cxnLst/>
                <a:rect l="l" t="t" r="r" b="b"/>
                <a:pathLst>
                  <a:path w="8046720" h="926592">
                    <a:moveTo>
                      <a:pt x="0" y="0"/>
                    </a:moveTo>
                    <a:lnTo>
                      <a:pt x="8046720" y="0"/>
                    </a:lnTo>
                    <a:lnTo>
                      <a:pt x="8046720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19212" b="-119212"/>
                </a:stretch>
              </a:blip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9525"/>
                <a:ext cx="8046720" cy="93611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1">
                    <a:solidFill>
                      <a:srgbClr val="0D2137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LOWO Validation Design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11965089" y="2089569"/>
              <a:ext cx="9997440" cy="2316480"/>
              <a:chOff x="0" y="0"/>
              <a:chExt cx="9997440" cy="231648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9997440" cy="2316480"/>
              </a:xfrm>
              <a:custGeom>
                <a:avLst/>
                <a:gdLst/>
                <a:ahLst/>
                <a:cxnLst/>
                <a:rect l="l" t="t" r="r" b="b"/>
                <a:pathLst>
                  <a:path w="9997440" h="2316480">
                    <a:moveTo>
                      <a:pt x="0" y="0"/>
                    </a:moveTo>
                    <a:lnTo>
                      <a:pt x="9997440" y="0"/>
                    </a:lnTo>
                    <a:lnTo>
                      <a:pt x="9997440" y="2316480"/>
                    </a:lnTo>
                    <a:lnTo>
                      <a:pt x="0" y="23164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4093" b="-34093"/>
                </a:stretch>
              </a:blip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9997440" cy="235458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879"/>
                  </a:lnSpc>
                </a:pPr>
                <a:r>
                  <a:rPr lang="en-US" sz="2400">
                    <a:solidFill>
                      <a:srgbClr val="455A6B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Leave-One-Well-Out is the industry-standard test for cross-well prediction. Each fold is a true blind test on a well the model has never seen.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5315712"/>
              <a:ext cx="11006671" cy="4910671"/>
              <a:chOff x="0" y="0"/>
              <a:chExt cx="11006671" cy="491067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1006709" cy="4910709"/>
              </a:xfrm>
              <a:custGeom>
                <a:avLst/>
                <a:gdLst/>
                <a:ahLst/>
                <a:cxnLst/>
                <a:rect l="l" t="t" r="r" b="b"/>
                <a:pathLst>
                  <a:path w="11006709" h="4910709">
                    <a:moveTo>
                      <a:pt x="0" y="0"/>
                    </a:moveTo>
                    <a:lnTo>
                      <a:pt x="11006709" y="0"/>
                    </a:lnTo>
                    <a:lnTo>
                      <a:pt x="11006709" y="4910709"/>
                    </a:lnTo>
                    <a:lnTo>
                      <a:pt x="0" y="4910709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sq">
                <a:solidFill>
                  <a:srgbClr val="FFFFFF"/>
                </a:solidFill>
                <a:prstDash val="solid"/>
                <a:miter/>
              </a:ln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487680" y="5852160"/>
              <a:ext cx="1618831" cy="1618831"/>
              <a:chOff x="0" y="0"/>
              <a:chExt cx="1618831" cy="1618831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618742" cy="1618742"/>
              </a:xfrm>
              <a:custGeom>
                <a:avLst/>
                <a:gdLst/>
                <a:ahLst/>
                <a:cxnLst/>
                <a:rect l="l" t="t" r="r" b="b"/>
                <a:pathLst>
                  <a:path w="1618742" h="1618742">
                    <a:moveTo>
                      <a:pt x="0" y="809371"/>
                    </a:moveTo>
                    <a:cubicBezTo>
                      <a:pt x="0" y="362331"/>
                      <a:pt x="362331" y="0"/>
                      <a:pt x="809371" y="0"/>
                    </a:cubicBezTo>
                    <a:cubicBezTo>
                      <a:pt x="1256411" y="0"/>
                      <a:pt x="1618742" y="362331"/>
                      <a:pt x="1618742" y="809371"/>
                    </a:cubicBezTo>
                    <a:cubicBezTo>
                      <a:pt x="1618742" y="1256411"/>
                      <a:pt x="1256411" y="1618742"/>
                      <a:pt x="809371" y="1618742"/>
                    </a:cubicBezTo>
                    <a:cubicBezTo>
                      <a:pt x="362331" y="1618742"/>
                      <a:pt x="0" y="1256411"/>
                      <a:pt x="0" y="809371"/>
                    </a:cubicBezTo>
                    <a:close/>
                  </a:path>
                </a:pathLst>
              </a:custGeom>
              <a:solidFill>
                <a:srgbClr val="D6F0EE"/>
              </a:solidFill>
              <a:ln w="25400" cap="sq">
                <a:solidFill>
                  <a:srgbClr val="D6F0EE"/>
                </a:solidFill>
                <a:prstDash val="solid"/>
                <a:miter/>
              </a:ln>
            </p:spPr>
          </p:sp>
        </p:grpSp>
        <p:grpSp>
          <p:nvGrpSpPr>
            <p:cNvPr id="38" name="Group 38"/>
            <p:cNvGrpSpPr/>
            <p:nvPr/>
          </p:nvGrpSpPr>
          <p:grpSpPr>
            <a:xfrm>
              <a:off x="504609" y="5869089"/>
              <a:ext cx="1584960" cy="1584960"/>
              <a:chOff x="0" y="0"/>
              <a:chExt cx="1584960" cy="15849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584960" cy="1584960"/>
              </a:xfrm>
              <a:custGeom>
                <a:avLst/>
                <a:gdLst/>
                <a:ahLst/>
                <a:cxnLst/>
                <a:rect l="l" t="t" r="r" b="b"/>
                <a:pathLst>
                  <a:path w="1584960" h="1584960">
                    <a:moveTo>
                      <a:pt x="0" y="0"/>
                    </a:moveTo>
                    <a:lnTo>
                      <a:pt x="1584960" y="0"/>
                    </a:lnTo>
                    <a:lnTo>
                      <a:pt x="1584960" y="1584960"/>
                    </a:lnTo>
                    <a:lnTo>
                      <a:pt x="0" y="15849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r="-78303"/>
                </a:stretch>
              </a:blip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76200"/>
                <a:ext cx="1584960" cy="166116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800"/>
                  </a:lnSpc>
                </a:pPr>
                <a:r>
                  <a:rPr lang="en-US" sz="40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⚖️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2455329" y="5942241"/>
              <a:ext cx="8046720" cy="926592"/>
              <a:chOff x="0" y="0"/>
              <a:chExt cx="8046720" cy="926592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046720" cy="926592"/>
              </a:xfrm>
              <a:custGeom>
                <a:avLst/>
                <a:gdLst/>
                <a:ahLst/>
                <a:cxnLst/>
                <a:rect l="l" t="t" r="r" b="b"/>
                <a:pathLst>
                  <a:path w="8046720" h="926592">
                    <a:moveTo>
                      <a:pt x="0" y="0"/>
                    </a:moveTo>
                    <a:lnTo>
                      <a:pt x="8046720" y="0"/>
                    </a:lnTo>
                    <a:lnTo>
                      <a:pt x="8046720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19212" b="-119212"/>
                </a:stretch>
              </a:blip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-9525"/>
                <a:ext cx="8046720" cy="93611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1">
                    <a:solidFill>
                      <a:srgbClr val="0D2137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Class Weighting Strategy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504609" y="7405281"/>
              <a:ext cx="9997440" cy="2316480"/>
              <a:chOff x="0" y="0"/>
              <a:chExt cx="9997440" cy="231648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9997440" cy="2316480"/>
              </a:xfrm>
              <a:custGeom>
                <a:avLst/>
                <a:gdLst/>
                <a:ahLst/>
                <a:cxnLst/>
                <a:rect l="l" t="t" r="r" b="b"/>
                <a:pathLst>
                  <a:path w="9997440" h="2316480">
                    <a:moveTo>
                      <a:pt x="0" y="0"/>
                    </a:moveTo>
                    <a:lnTo>
                      <a:pt x="9997440" y="0"/>
                    </a:lnTo>
                    <a:lnTo>
                      <a:pt x="9997440" y="2316480"/>
                    </a:lnTo>
                    <a:lnTo>
                      <a:pt x="0" y="23164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4093" b="-34093"/>
                </a:stretch>
              </a:blip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0" y="-38100"/>
                <a:ext cx="9997440" cy="235458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879"/>
                  </a:lnSpc>
                </a:pPr>
                <a:r>
                  <a:rPr lang="en-US" sz="2400">
                    <a:solidFill>
                      <a:srgbClr val="455A6B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class_weight='balanced' ensures the model doesn't ignore rare Coal (2.6%) and Carb Shale (0.8%) — critical for safety in resource estimation.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11460480" y="5315712"/>
              <a:ext cx="11006671" cy="4910671"/>
              <a:chOff x="0" y="0"/>
              <a:chExt cx="11006671" cy="4910671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11006709" cy="4910709"/>
              </a:xfrm>
              <a:custGeom>
                <a:avLst/>
                <a:gdLst/>
                <a:ahLst/>
                <a:cxnLst/>
                <a:rect l="l" t="t" r="r" b="b"/>
                <a:pathLst>
                  <a:path w="11006709" h="4910709">
                    <a:moveTo>
                      <a:pt x="0" y="0"/>
                    </a:moveTo>
                    <a:lnTo>
                      <a:pt x="11006709" y="0"/>
                    </a:lnTo>
                    <a:lnTo>
                      <a:pt x="11006709" y="4910709"/>
                    </a:lnTo>
                    <a:lnTo>
                      <a:pt x="0" y="4910709"/>
                    </a:lnTo>
                    <a:close/>
                  </a:path>
                </a:pathLst>
              </a:custGeom>
              <a:solidFill>
                <a:srgbClr val="FFFFFF"/>
              </a:solidFill>
              <a:ln w="25400" cap="sq">
                <a:solidFill>
                  <a:srgbClr val="FFFFFF"/>
                </a:solidFill>
                <a:prstDash val="solid"/>
                <a:miter/>
              </a:ln>
            </p:spPr>
          </p:sp>
        </p:grpSp>
        <p:grpSp>
          <p:nvGrpSpPr>
            <p:cNvPr id="49" name="Group 49"/>
            <p:cNvGrpSpPr/>
            <p:nvPr/>
          </p:nvGrpSpPr>
          <p:grpSpPr>
            <a:xfrm>
              <a:off x="11948160" y="5852160"/>
              <a:ext cx="1618831" cy="1618831"/>
              <a:chOff x="0" y="0"/>
              <a:chExt cx="1618831" cy="1618831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1618742" cy="1618742"/>
              </a:xfrm>
              <a:custGeom>
                <a:avLst/>
                <a:gdLst/>
                <a:ahLst/>
                <a:cxnLst/>
                <a:rect l="l" t="t" r="r" b="b"/>
                <a:pathLst>
                  <a:path w="1618742" h="1618742">
                    <a:moveTo>
                      <a:pt x="0" y="809371"/>
                    </a:moveTo>
                    <a:cubicBezTo>
                      <a:pt x="0" y="362331"/>
                      <a:pt x="362331" y="0"/>
                      <a:pt x="809371" y="0"/>
                    </a:cubicBezTo>
                    <a:cubicBezTo>
                      <a:pt x="1256411" y="0"/>
                      <a:pt x="1618742" y="362331"/>
                      <a:pt x="1618742" y="809371"/>
                    </a:cubicBezTo>
                    <a:cubicBezTo>
                      <a:pt x="1618742" y="1256411"/>
                      <a:pt x="1256411" y="1618742"/>
                      <a:pt x="809371" y="1618742"/>
                    </a:cubicBezTo>
                    <a:cubicBezTo>
                      <a:pt x="362331" y="1618742"/>
                      <a:pt x="0" y="1256411"/>
                      <a:pt x="0" y="809371"/>
                    </a:cubicBezTo>
                    <a:close/>
                  </a:path>
                </a:pathLst>
              </a:custGeom>
              <a:solidFill>
                <a:srgbClr val="D6F0EE"/>
              </a:solidFill>
              <a:ln w="25400" cap="sq">
                <a:solidFill>
                  <a:srgbClr val="D6F0EE"/>
                </a:solidFill>
                <a:prstDash val="solid"/>
                <a:miter/>
              </a:ln>
            </p:spPr>
          </p:sp>
        </p:grpSp>
        <p:grpSp>
          <p:nvGrpSpPr>
            <p:cNvPr id="51" name="Group 51"/>
            <p:cNvGrpSpPr/>
            <p:nvPr/>
          </p:nvGrpSpPr>
          <p:grpSpPr>
            <a:xfrm>
              <a:off x="11965089" y="5869089"/>
              <a:ext cx="1584960" cy="1584960"/>
              <a:chOff x="0" y="0"/>
              <a:chExt cx="1584960" cy="158496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1584960" cy="1584960"/>
              </a:xfrm>
              <a:custGeom>
                <a:avLst/>
                <a:gdLst/>
                <a:ahLst/>
                <a:cxnLst/>
                <a:rect l="l" t="t" r="r" b="b"/>
                <a:pathLst>
                  <a:path w="1584960" h="1584960">
                    <a:moveTo>
                      <a:pt x="0" y="0"/>
                    </a:moveTo>
                    <a:lnTo>
                      <a:pt x="1584960" y="0"/>
                    </a:lnTo>
                    <a:lnTo>
                      <a:pt x="1584960" y="1584960"/>
                    </a:lnTo>
                    <a:lnTo>
                      <a:pt x="0" y="15849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8303" r="-78303"/>
                </a:stretch>
              </a:blip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0" y="-76200"/>
                <a:ext cx="1584960" cy="166116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800"/>
                  </a:lnSpc>
                </a:pPr>
                <a:r>
                  <a:rPr lang="en-US" sz="4000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📁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13915809" y="5942241"/>
              <a:ext cx="8046720" cy="926592"/>
              <a:chOff x="0" y="0"/>
              <a:chExt cx="8046720" cy="926592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046720" cy="926592"/>
              </a:xfrm>
              <a:custGeom>
                <a:avLst/>
                <a:gdLst/>
                <a:ahLst/>
                <a:cxnLst/>
                <a:rect l="l" t="t" r="r" b="b"/>
                <a:pathLst>
                  <a:path w="8046720" h="926592">
                    <a:moveTo>
                      <a:pt x="0" y="0"/>
                    </a:moveTo>
                    <a:lnTo>
                      <a:pt x="8046720" y="0"/>
                    </a:lnTo>
                    <a:lnTo>
                      <a:pt x="8046720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19212" b="-119212"/>
                </a:stretch>
              </a:blip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0" y="-9525"/>
                <a:ext cx="8046720" cy="93611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1">
                    <a:solidFill>
                      <a:srgbClr val="0D2137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Scalable Pipeline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11965089" y="7405281"/>
              <a:ext cx="9997440" cy="2316480"/>
              <a:chOff x="0" y="0"/>
              <a:chExt cx="9997440" cy="231648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9997440" cy="2316480"/>
              </a:xfrm>
              <a:custGeom>
                <a:avLst/>
                <a:gdLst/>
                <a:ahLst/>
                <a:cxnLst/>
                <a:rect l="l" t="t" r="r" b="b"/>
                <a:pathLst>
                  <a:path w="9997440" h="2316480">
                    <a:moveTo>
                      <a:pt x="0" y="0"/>
                    </a:moveTo>
                    <a:lnTo>
                      <a:pt x="9997440" y="0"/>
                    </a:lnTo>
                    <a:lnTo>
                      <a:pt x="9997440" y="2316480"/>
                    </a:lnTo>
                    <a:lnTo>
                      <a:pt x="0" y="231648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4093" b="-34093"/>
                </a:stretch>
              </a:blipFill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0" y="-38100"/>
                <a:ext cx="9997440" cy="235458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879"/>
                  </a:lnSpc>
                </a:pPr>
                <a:r>
                  <a:rPr lang="en-US" sz="2400">
                    <a:solidFill>
                      <a:srgbClr val="455A6B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StandardScaler + feature engineering pipeline is serialised (best_scaler.pkl). Any new well's logs can be scored instantly without retraining.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901703" y="9244841"/>
            <a:ext cx="6400800" cy="512064"/>
            <a:chOff x="0" y="0"/>
            <a:chExt cx="8534400" cy="68275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534400" cy="682752"/>
            </a:xfrm>
            <a:custGeom>
              <a:avLst/>
              <a:gdLst/>
              <a:ahLst/>
              <a:cxnLst/>
              <a:rect l="l" t="t" r="r" b="b"/>
              <a:pathLst>
                <a:path w="8534400" h="682752">
                  <a:moveTo>
                    <a:pt x="0" y="0"/>
                  </a:moveTo>
                  <a:lnTo>
                    <a:pt x="8534400" y="0"/>
                  </a:lnTo>
                  <a:lnTo>
                    <a:pt x="8534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562" b="-193562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19050"/>
              <a:ext cx="8534400" cy="7018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0B6E6E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⚡  Production Deployment Note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391709" y="9258300"/>
            <a:ext cx="16642080" cy="1232659"/>
            <a:chOff x="0" y="0"/>
            <a:chExt cx="22189440" cy="1643545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2189439" cy="1643545"/>
            </a:xfrm>
            <a:custGeom>
              <a:avLst/>
              <a:gdLst/>
              <a:ahLst/>
              <a:cxnLst/>
              <a:rect l="l" t="t" r="r" b="b"/>
              <a:pathLst>
                <a:path w="22189439" h="1643545">
                  <a:moveTo>
                    <a:pt x="0" y="0"/>
                  </a:moveTo>
                  <a:lnTo>
                    <a:pt x="22189439" y="0"/>
                  </a:lnTo>
                  <a:lnTo>
                    <a:pt x="22189439" y="1643545"/>
                  </a:lnTo>
                  <a:lnTo>
                    <a:pt x="0" y="16435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4521" b="-181612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47625"/>
              <a:ext cx="22189440" cy="16911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7A92A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file: best_model.pkl (154 MB)  ·  Scaler: best_scaler.pkl (&lt; 1 KB)  ·  Pipeline: load → scale → predict  ·  Latency: &lt; 1 sec for full well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329184"/>
            <a:ext cx="16459200" cy="1188720"/>
            <a:chOff x="0" y="0"/>
            <a:chExt cx="21945600" cy="1584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84960"/>
            </a:xfrm>
            <a:custGeom>
              <a:avLst/>
              <a:gdLst/>
              <a:ahLst/>
              <a:cxnLst/>
              <a:rect l="l" t="t" r="r" b="b"/>
              <a:pathLst>
                <a:path w="21945600" h="158496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792" b="-21979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94560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Key Insights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578359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79510" cy="33909"/>
            </a:xfrm>
            <a:custGeom>
              <a:avLst/>
              <a:gdLst/>
              <a:ahLst/>
              <a:cxnLst/>
              <a:rect l="l" t="t" r="r" b="b"/>
              <a:pathLst>
                <a:path w="21979510" h="33909">
                  <a:moveTo>
                    <a:pt x="0" y="0"/>
                  </a:moveTo>
                  <a:lnTo>
                    <a:pt x="21979510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12580060" b="-12579948"/>
              </a:stretch>
            </a:blip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718823" y="1816103"/>
            <a:ext cx="8255003" cy="793499"/>
            <a:chOff x="0" y="0"/>
            <a:chExt cx="11006671" cy="105799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006709" cy="1058037"/>
            </a:xfrm>
            <a:custGeom>
              <a:avLst/>
              <a:gdLst/>
              <a:ahLst/>
              <a:cxnLst/>
              <a:rect l="l" t="t" r="r" b="b"/>
              <a:pathLst>
                <a:path w="11006709" h="1058037">
                  <a:moveTo>
                    <a:pt x="0" y="0"/>
                  </a:moveTo>
                  <a:lnTo>
                    <a:pt x="11006709" y="0"/>
                  </a:lnTo>
                  <a:lnTo>
                    <a:pt x="1100670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0B6E6E"/>
            </a:solid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31520" y="1975104"/>
            <a:ext cx="8229600" cy="548640"/>
            <a:chOff x="0" y="0"/>
            <a:chExt cx="10972800" cy="7315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72800" cy="731520"/>
            </a:xfrm>
            <a:custGeom>
              <a:avLst/>
              <a:gdLst/>
              <a:ahLst/>
              <a:cxnLst/>
              <a:rect l="l" t="t" r="r" b="b"/>
              <a:pathLst>
                <a:path w="10972800" h="73152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09728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 spc="199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GEOLOGICAL INSIGHTS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3143" y="2876807"/>
            <a:ext cx="299723" cy="299723"/>
            <a:chOff x="0" y="0"/>
            <a:chExt cx="399631" cy="39963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99669" cy="399669"/>
            </a:xfrm>
            <a:custGeom>
              <a:avLst/>
              <a:gdLst/>
              <a:ahLst/>
              <a:cxnLst/>
              <a:rect l="l" t="t" r="r" b="b"/>
              <a:pathLst>
                <a:path w="399669" h="399669">
                  <a:moveTo>
                    <a:pt x="0" y="199771"/>
                  </a:moveTo>
                  <a:cubicBezTo>
                    <a:pt x="0" y="89408"/>
                    <a:pt x="89408" y="0"/>
                    <a:pt x="199771" y="0"/>
                  </a:cubicBezTo>
                  <a:cubicBezTo>
                    <a:pt x="310134" y="0"/>
                    <a:pt x="399669" y="89408"/>
                    <a:pt x="399669" y="199771"/>
                  </a:cubicBezTo>
                  <a:cubicBezTo>
                    <a:pt x="399669" y="310134"/>
                    <a:pt x="310134" y="399669"/>
                    <a:pt x="199771" y="399669"/>
                  </a:cubicBezTo>
                  <a:cubicBezTo>
                    <a:pt x="89408" y="399669"/>
                    <a:pt x="0" y="310134"/>
                    <a:pt x="0" y="199771"/>
                  </a:cubicBezTo>
                  <a:close/>
                </a:path>
              </a:pathLst>
            </a:custGeom>
            <a:solidFill>
              <a:srgbClr val="0B6E6E"/>
            </a:solid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463040" y="2779776"/>
            <a:ext cx="7315200" cy="1499616"/>
            <a:chOff x="0" y="0"/>
            <a:chExt cx="9753600" cy="19994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753600" cy="1999488"/>
            </a:xfrm>
            <a:custGeom>
              <a:avLst/>
              <a:gdLst/>
              <a:ahLst/>
              <a:cxnLst/>
              <a:rect l="l" t="t" r="r" b="b"/>
              <a:pathLst>
                <a:path w="9753600" h="1999488">
                  <a:moveTo>
                    <a:pt x="0" y="0"/>
                  </a:moveTo>
                  <a:lnTo>
                    <a:pt x="9753600" y="0"/>
                  </a:lnTo>
                  <a:lnTo>
                    <a:pt x="975360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048" b="-45048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9753600" cy="20471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SP[MV] alone drives 15.4% of classification — electro-chemical facies signature is dominant.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93143" y="4595879"/>
            <a:ext cx="299723" cy="299723"/>
            <a:chOff x="0" y="0"/>
            <a:chExt cx="399631" cy="39963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99669" cy="399669"/>
            </a:xfrm>
            <a:custGeom>
              <a:avLst/>
              <a:gdLst/>
              <a:ahLst/>
              <a:cxnLst/>
              <a:rect l="l" t="t" r="r" b="b"/>
              <a:pathLst>
                <a:path w="399669" h="399669">
                  <a:moveTo>
                    <a:pt x="0" y="199771"/>
                  </a:moveTo>
                  <a:cubicBezTo>
                    <a:pt x="0" y="89408"/>
                    <a:pt x="89408" y="0"/>
                    <a:pt x="199771" y="0"/>
                  </a:cubicBezTo>
                  <a:cubicBezTo>
                    <a:pt x="310134" y="0"/>
                    <a:pt x="399669" y="89408"/>
                    <a:pt x="399669" y="199771"/>
                  </a:cubicBezTo>
                  <a:cubicBezTo>
                    <a:pt x="399669" y="310134"/>
                    <a:pt x="310134" y="399669"/>
                    <a:pt x="199771" y="399669"/>
                  </a:cubicBezTo>
                  <a:cubicBezTo>
                    <a:pt x="89408" y="399669"/>
                    <a:pt x="0" y="310134"/>
                    <a:pt x="0" y="199771"/>
                  </a:cubicBezTo>
                  <a:close/>
                </a:path>
              </a:pathLst>
            </a:custGeom>
            <a:solidFill>
              <a:srgbClr val="0B6E6E"/>
            </a:solid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463040" y="4498848"/>
            <a:ext cx="7315200" cy="1499616"/>
            <a:chOff x="0" y="0"/>
            <a:chExt cx="9753600" cy="199948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753600" cy="1999488"/>
            </a:xfrm>
            <a:custGeom>
              <a:avLst/>
              <a:gdLst/>
              <a:ahLst/>
              <a:cxnLst/>
              <a:rect l="l" t="t" r="r" b="b"/>
              <a:pathLst>
                <a:path w="9753600" h="1999488">
                  <a:moveTo>
                    <a:pt x="0" y="0"/>
                  </a:moveTo>
                  <a:lnTo>
                    <a:pt x="9753600" y="0"/>
                  </a:lnTo>
                  <a:lnTo>
                    <a:pt x="975360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048" b="-45048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9753600" cy="20471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DGS (Dark Grey Shale) and GS merge geologically — merging to 6 classes improved model stability.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93143" y="6314951"/>
            <a:ext cx="299723" cy="299723"/>
            <a:chOff x="0" y="0"/>
            <a:chExt cx="399631" cy="39963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99669" cy="399669"/>
            </a:xfrm>
            <a:custGeom>
              <a:avLst/>
              <a:gdLst/>
              <a:ahLst/>
              <a:cxnLst/>
              <a:rect l="l" t="t" r="r" b="b"/>
              <a:pathLst>
                <a:path w="399669" h="399669">
                  <a:moveTo>
                    <a:pt x="0" y="199771"/>
                  </a:moveTo>
                  <a:cubicBezTo>
                    <a:pt x="0" y="89408"/>
                    <a:pt x="89408" y="0"/>
                    <a:pt x="199771" y="0"/>
                  </a:cubicBezTo>
                  <a:cubicBezTo>
                    <a:pt x="310134" y="0"/>
                    <a:pt x="399669" y="89408"/>
                    <a:pt x="399669" y="199771"/>
                  </a:cubicBezTo>
                  <a:cubicBezTo>
                    <a:pt x="399669" y="310134"/>
                    <a:pt x="310134" y="399669"/>
                    <a:pt x="199771" y="399669"/>
                  </a:cubicBezTo>
                  <a:cubicBezTo>
                    <a:pt x="89408" y="399669"/>
                    <a:pt x="0" y="310134"/>
                    <a:pt x="0" y="199771"/>
                  </a:cubicBezTo>
                  <a:close/>
                </a:path>
              </a:pathLst>
            </a:custGeom>
            <a:solidFill>
              <a:srgbClr val="0B6E6E"/>
            </a:solid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463040" y="6217920"/>
            <a:ext cx="7315200" cy="1499616"/>
            <a:chOff x="0" y="0"/>
            <a:chExt cx="9753600" cy="19994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753600" cy="1999488"/>
            </a:xfrm>
            <a:custGeom>
              <a:avLst/>
              <a:gdLst/>
              <a:ahLst/>
              <a:cxnLst/>
              <a:rect l="l" t="t" r="r" b="b"/>
              <a:pathLst>
                <a:path w="9753600" h="1999488">
                  <a:moveTo>
                    <a:pt x="0" y="0"/>
                  </a:moveTo>
                  <a:lnTo>
                    <a:pt x="9753600" y="0"/>
                  </a:lnTo>
                  <a:lnTo>
                    <a:pt x="975360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048" b="-45048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9753600" cy="20471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Coal is distinguishable by its triple signature: low density, high resistivity, elevated GR.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93143" y="8034023"/>
            <a:ext cx="299723" cy="299723"/>
            <a:chOff x="0" y="0"/>
            <a:chExt cx="399631" cy="39963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99669" cy="399669"/>
            </a:xfrm>
            <a:custGeom>
              <a:avLst/>
              <a:gdLst/>
              <a:ahLst/>
              <a:cxnLst/>
              <a:rect l="l" t="t" r="r" b="b"/>
              <a:pathLst>
                <a:path w="399669" h="399669">
                  <a:moveTo>
                    <a:pt x="0" y="199771"/>
                  </a:moveTo>
                  <a:cubicBezTo>
                    <a:pt x="0" y="89408"/>
                    <a:pt x="89408" y="0"/>
                    <a:pt x="199771" y="0"/>
                  </a:cubicBezTo>
                  <a:cubicBezTo>
                    <a:pt x="310134" y="0"/>
                    <a:pt x="399669" y="89408"/>
                    <a:pt x="399669" y="199771"/>
                  </a:cubicBezTo>
                  <a:cubicBezTo>
                    <a:pt x="399669" y="310134"/>
                    <a:pt x="310134" y="399669"/>
                    <a:pt x="199771" y="399669"/>
                  </a:cubicBezTo>
                  <a:cubicBezTo>
                    <a:pt x="89408" y="399669"/>
                    <a:pt x="0" y="310134"/>
                    <a:pt x="0" y="199771"/>
                  </a:cubicBezTo>
                  <a:close/>
                </a:path>
              </a:pathLst>
            </a:custGeom>
            <a:solidFill>
              <a:srgbClr val="0B6E6E"/>
            </a:solid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463040" y="7936992"/>
            <a:ext cx="7315200" cy="1499616"/>
            <a:chOff x="0" y="0"/>
            <a:chExt cx="9753600" cy="199948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753600" cy="1999488"/>
            </a:xfrm>
            <a:custGeom>
              <a:avLst/>
              <a:gdLst/>
              <a:ahLst/>
              <a:cxnLst/>
              <a:rect l="l" t="t" r="r" b="b"/>
              <a:pathLst>
                <a:path w="9753600" h="1999488">
                  <a:moveTo>
                    <a:pt x="0" y="0"/>
                  </a:moveTo>
                  <a:lnTo>
                    <a:pt x="9753600" y="0"/>
                  </a:lnTo>
                  <a:lnTo>
                    <a:pt x="975360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048" b="-45048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9753600" cy="20471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Caliper anomaly (washout) strongly correlates with shale and coal intervals.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314183" y="1816103"/>
            <a:ext cx="8255003" cy="793499"/>
            <a:chOff x="0" y="0"/>
            <a:chExt cx="11006671" cy="105799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006709" cy="1058037"/>
            </a:xfrm>
            <a:custGeom>
              <a:avLst/>
              <a:gdLst/>
              <a:ahLst/>
              <a:cxnLst/>
              <a:rect l="l" t="t" r="r" b="b"/>
              <a:pathLst>
                <a:path w="11006709" h="1058037">
                  <a:moveTo>
                    <a:pt x="0" y="0"/>
                  </a:moveTo>
                  <a:lnTo>
                    <a:pt x="11006709" y="0"/>
                  </a:lnTo>
                  <a:lnTo>
                    <a:pt x="11006709" y="1058037"/>
                  </a:lnTo>
                  <a:lnTo>
                    <a:pt x="0" y="1058037"/>
                  </a:lnTo>
                  <a:close/>
                </a:path>
              </a:pathLst>
            </a:custGeom>
            <a:solidFill>
              <a:srgbClr val="E8A723"/>
            </a:solidFill>
            <a:ln w="25400" cap="sq">
              <a:solidFill>
                <a:srgbClr val="E8A723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9326880" y="1975104"/>
            <a:ext cx="8229600" cy="548640"/>
            <a:chOff x="0" y="0"/>
            <a:chExt cx="10972800" cy="7315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972800" cy="731520"/>
            </a:xfrm>
            <a:custGeom>
              <a:avLst/>
              <a:gdLst/>
              <a:ahLst/>
              <a:cxnLst/>
              <a:rect l="l" t="t" r="r" b="b"/>
              <a:pathLst>
                <a:path w="10972800" h="73152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109728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 spc="199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ML INSIGHTS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88503" y="2876807"/>
            <a:ext cx="299723" cy="299723"/>
            <a:chOff x="0" y="0"/>
            <a:chExt cx="399631" cy="39963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99669" cy="399669"/>
            </a:xfrm>
            <a:custGeom>
              <a:avLst/>
              <a:gdLst/>
              <a:ahLst/>
              <a:cxnLst/>
              <a:rect l="l" t="t" r="r" b="b"/>
              <a:pathLst>
                <a:path w="399669" h="399669">
                  <a:moveTo>
                    <a:pt x="0" y="199771"/>
                  </a:moveTo>
                  <a:cubicBezTo>
                    <a:pt x="0" y="89408"/>
                    <a:pt x="89408" y="0"/>
                    <a:pt x="199771" y="0"/>
                  </a:cubicBezTo>
                  <a:cubicBezTo>
                    <a:pt x="310134" y="0"/>
                    <a:pt x="399669" y="89408"/>
                    <a:pt x="399669" y="199771"/>
                  </a:cubicBezTo>
                  <a:cubicBezTo>
                    <a:pt x="399669" y="310134"/>
                    <a:pt x="310134" y="399669"/>
                    <a:pt x="199771" y="399669"/>
                  </a:cubicBezTo>
                  <a:cubicBezTo>
                    <a:pt x="89408" y="399669"/>
                    <a:pt x="0" y="310134"/>
                    <a:pt x="0" y="199771"/>
                  </a:cubicBezTo>
                  <a:close/>
                </a:path>
              </a:pathLst>
            </a:custGeom>
            <a:solidFill>
              <a:srgbClr val="E8A723"/>
            </a:solidFill>
            <a:ln w="25400" cap="sq">
              <a:solidFill>
                <a:srgbClr val="E8A723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10058400" y="2779776"/>
            <a:ext cx="7315200" cy="1499616"/>
            <a:chOff x="0" y="0"/>
            <a:chExt cx="9753600" cy="199948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753600" cy="1999488"/>
            </a:xfrm>
            <a:custGeom>
              <a:avLst/>
              <a:gdLst/>
              <a:ahLst/>
              <a:cxnLst/>
              <a:rect l="l" t="t" r="r" b="b"/>
              <a:pathLst>
                <a:path w="9753600" h="1999488">
                  <a:moveTo>
                    <a:pt x="0" y="0"/>
                  </a:moveTo>
                  <a:lnTo>
                    <a:pt x="9753600" y="0"/>
                  </a:lnTo>
                  <a:lnTo>
                    <a:pt x="975360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048" b="-45048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9753600" cy="20471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Derived features (CALP_anomaly, log_RES16) outperform raw logs in feature importance rankings.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588503" y="4595879"/>
            <a:ext cx="299723" cy="299723"/>
            <a:chOff x="0" y="0"/>
            <a:chExt cx="399631" cy="399631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99669" cy="399669"/>
            </a:xfrm>
            <a:custGeom>
              <a:avLst/>
              <a:gdLst/>
              <a:ahLst/>
              <a:cxnLst/>
              <a:rect l="l" t="t" r="r" b="b"/>
              <a:pathLst>
                <a:path w="399669" h="399669">
                  <a:moveTo>
                    <a:pt x="0" y="199771"/>
                  </a:moveTo>
                  <a:cubicBezTo>
                    <a:pt x="0" y="89408"/>
                    <a:pt x="89408" y="0"/>
                    <a:pt x="199771" y="0"/>
                  </a:cubicBezTo>
                  <a:cubicBezTo>
                    <a:pt x="310134" y="0"/>
                    <a:pt x="399669" y="89408"/>
                    <a:pt x="399669" y="199771"/>
                  </a:cubicBezTo>
                  <a:cubicBezTo>
                    <a:pt x="399669" y="310134"/>
                    <a:pt x="310134" y="399669"/>
                    <a:pt x="199771" y="399669"/>
                  </a:cubicBezTo>
                  <a:cubicBezTo>
                    <a:pt x="89408" y="399669"/>
                    <a:pt x="0" y="310134"/>
                    <a:pt x="0" y="199771"/>
                  </a:cubicBezTo>
                  <a:close/>
                </a:path>
              </a:pathLst>
            </a:custGeom>
            <a:solidFill>
              <a:srgbClr val="E8A723"/>
            </a:solidFill>
            <a:ln w="25400" cap="sq">
              <a:solidFill>
                <a:srgbClr val="E8A723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0058400" y="4498848"/>
            <a:ext cx="7315200" cy="1499616"/>
            <a:chOff x="0" y="0"/>
            <a:chExt cx="9753600" cy="199948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753600" cy="1999488"/>
            </a:xfrm>
            <a:custGeom>
              <a:avLst/>
              <a:gdLst/>
              <a:ahLst/>
              <a:cxnLst/>
              <a:rect l="l" t="t" r="r" b="b"/>
              <a:pathLst>
                <a:path w="9753600" h="1999488">
                  <a:moveTo>
                    <a:pt x="0" y="0"/>
                  </a:moveTo>
                  <a:lnTo>
                    <a:pt x="9753600" y="0"/>
                  </a:lnTo>
                  <a:lnTo>
                    <a:pt x="975360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048" b="-45048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9753600" cy="20471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54× class imbalance (SST vs. Carb Shale) requires explicit balancing — cannot be ignored.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588503" y="6314951"/>
            <a:ext cx="299723" cy="299723"/>
            <a:chOff x="0" y="0"/>
            <a:chExt cx="399631" cy="399631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99669" cy="399669"/>
            </a:xfrm>
            <a:custGeom>
              <a:avLst/>
              <a:gdLst/>
              <a:ahLst/>
              <a:cxnLst/>
              <a:rect l="l" t="t" r="r" b="b"/>
              <a:pathLst>
                <a:path w="399669" h="399669">
                  <a:moveTo>
                    <a:pt x="0" y="199771"/>
                  </a:moveTo>
                  <a:cubicBezTo>
                    <a:pt x="0" y="89408"/>
                    <a:pt x="89408" y="0"/>
                    <a:pt x="199771" y="0"/>
                  </a:cubicBezTo>
                  <a:cubicBezTo>
                    <a:pt x="310134" y="0"/>
                    <a:pt x="399669" y="89408"/>
                    <a:pt x="399669" y="199771"/>
                  </a:cubicBezTo>
                  <a:cubicBezTo>
                    <a:pt x="399669" y="310134"/>
                    <a:pt x="310134" y="399669"/>
                    <a:pt x="199771" y="399669"/>
                  </a:cubicBezTo>
                  <a:cubicBezTo>
                    <a:pt x="89408" y="399669"/>
                    <a:pt x="0" y="310134"/>
                    <a:pt x="0" y="199771"/>
                  </a:cubicBezTo>
                  <a:close/>
                </a:path>
              </a:pathLst>
            </a:custGeom>
            <a:solidFill>
              <a:srgbClr val="E8A723"/>
            </a:solidFill>
            <a:ln w="25400" cap="sq">
              <a:solidFill>
                <a:srgbClr val="E8A723"/>
              </a:solidFill>
              <a:prstDash val="solid"/>
              <a:miter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10058400" y="6217920"/>
            <a:ext cx="7315200" cy="1499616"/>
            <a:chOff x="0" y="0"/>
            <a:chExt cx="9753600" cy="199948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753600" cy="1999488"/>
            </a:xfrm>
            <a:custGeom>
              <a:avLst/>
              <a:gdLst/>
              <a:ahLst/>
              <a:cxnLst/>
              <a:rect l="l" t="t" r="r" b="b"/>
              <a:pathLst>
                <a:path w="9753600" h="1999488">
                  <a:moveTo>
                    <a:pt x="0" y="0"/>
                  </a:moveTo>
                  <a:lnTo>
                    <a:pt x="9753600" y="0"/>
                  </a:lnTo>
                  <a:lnTo>
                    <a:pt x="975360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048" b="-45048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47625"/>
              <a:ext cx="9753600" cy="20471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 beats deep learning (1D CNN) due to limited per-fold training data (24,000 rows).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588503" y="8034023"/>
            <a:ext cx="299723" cy="299723"/>
            <a:chOff x="0" y="0"/>
            <a:chExt cx="399631" cy="399631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399669" cy="399669"/>
            </a:xfrm>
            <a:custGeom>
              <a:avLst/>
              <a:gdLst/>
              <a:ahLst/>
              <a:cxnLst/>
              <a:rect l="l" t="t" r="r" b="b"/>
              <a:pathLst>
                <a:path w="399669" h="399669">
                  <a:moveTo>
                    <a:pt x="0" y="199771"/>
                  </a:moveTo>
                  <a:cubicBezTo>
                    <a:pt x="0" y="89408"/>
                    <a:pt x="89408" y="0"/>
                    <a:pt x="199771" y="0"/>
                  </a:cubicBezTo>
                  <a:cubicBezTo>
                    <a:pt x="310134" y="0"/>
                    <a:pt x="399669" y="89408"/>
                    <a:pt x="399669" y="199771"/>
                  </a:cubicBezTo>
                  <a:cubicBezTo>
                    <a:pt x="399669" y="310134"/>
                    <a:pt x="310134" y="399669"/>
                    <a:pt x="199771" y="399669"/>
                  </a:cubicBezTo>
                  <a:cubicBezTo>
                    <a:pt x="89408" y="399669"/>
                    <a:pt x="0" y="310134"/>
                    <a:pt x="0" y="199771"/>
                  </a:cubicBezTo>
                  <a:close/>
                </a:path>
              </a:pathLst>
            </a:custGeom>
            <a:solidFill>
              <a:srgbClr val="E8A723"/>
            </a:solidFill>
            <a:ln w="25400" cap="sq">
              <a:solidFill>
                <a:srgbClr val="E8A723"/>
              </a:solidFill>
              <a:prstDash val="solid"/>
              <a:miter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10058400" y="7936992"/>
            <a:ext cx="7315200" cy="1499616"/>
            <a:chOff x="0" y="0"/>
            <a:chExt cx="9753600" cy="199948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9753600" cy="1999488"/>
            </a:xfrm>
            <a:custGeom>
              <a:avLst/>
              <a:gdLst/>
              <a:ahLst/>
              <a:cxnLst/>
              <a:rect l="l" t="t" r="r" b="b"/>
              <a:pathLst>
                <a:path w="9753600" h="1999488">
                  <a:moveTo>
                    <a:pt x="0" y="0"/>
                  </a:moveTo>
                  <a:lnTo>
                    <a:pt x="9753600" y="0"/>
                  </a:lnTo>
                  <a:lnTo>
                    <a:pt x="975360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048" b="-45048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9753600" cy="20471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455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Basin shift (Raniganj→Jharia) reduces F1 by ~15 points — well-to-well variability is real.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329184"/>
            <a:ext cx="16459200" cy="1188720"/>
            <a:chOff x="0" y="0"/>
            <a:chExt cx="21945600" cy="1584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84960"/>
            </a:xfrm>
            <a:custGeom>
              <a:avLst/>
              <a:gdLst/>
              <a:ahLst/>
              <a:cxnLst/>
              <a:rect l="l" t="t" r="r" b="b"/>
              <a:pathLst>
                <a:path w="21945600" h="158496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792" b="-21979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94560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Limitations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01703" y="1578359"/>
            <a:ext cx="16484603" cy="25403"/>
            <a:chOff x="0" y="0"/>
            <a:chExt cx="21979471" cy="338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79510" cy="33909"/>
            </a:xfrm>
            <a:custGeom>
              <a:avLst/>
              <a:gdLst/>
              <a:ahLst/>
              <a:cxnLst/>
              <a:rect l="l" t="t" r="r" b="b"/>
              <a:pathLst>
                <a:path w="21979510" h="33909">
                  <a:moveTo>
                    <a:pt x="0" y="0"/>
                  </a:moveTo>
                  <a:lnTo>
                    <a:pt x="21979510" y="3390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12580060" b="-12579948"/>
              </a:stretch>
            </a:blip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048007" y="2273303"/>
            <a:ext cx="1031243" cy="1031243"/>
            <a:chOff x="0" y="0"/>
            <a:chExt cx="1374991" cy="137499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74902" cy="1374902"/>
            </a:xfrm>
            <a:custGeom>
              <a:avLst/>
              <a:gdLst/>
              <a:ahLst/>
              <a:cxnLst/>
              <a:rect l="l" t="t" r="r" b="b"/>
              <a:pathLst>
                <a:path w="1374902" h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E8A723"/>
            </a:solidFill>
            <a:ln w="25400" cap="sq">
              <a:solidFill>
                <a:srgbClr val="E8A723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060704" y="2286000"/>
            <a:ext cx="1005840" cy="1005840"/>
            <a:chOff x="0" y="0"/>
            <a:chExt cx="1341120" cy="13411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341120" cy="13601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340864" y="2322576"/>
            <a:ext cx="6217920" cy="694944"/>
            <a:chOff x="0" y="0"/>
            <a:chExt cx="8290560" cy="92659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290560" cy="926592"/>
            </a:xfrm>
            <a:custGeom>
              <a:avLst/>
              <a:gdLst/>
              <a:ahLst/>
              <a:cxnLst/>
              <a:rect l="l" t="t" r="r" b="b"/>
              <a:pathLst>
                <a:path w="8290560" h="926592">
                  <a:moveTo>
                    <a:pt x="0" y="0"/>
                  </a:moveTo>
                  <a:lnTo>
                    <a:pt x="8290560" y="0"/>
                  </a:lnTo>
                  <a:lnTo>
                    <a:pt x="82905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4339" b="-124339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8290560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59"/>
                </a:lnSpc>
              </a:pPr>
              <a:r>
                <a:rPr lang="en-US" sz="3299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Severe Class Imbalance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340864" y="3017520"/>
            <a:ext cx="15432971" cy="1792224"/>
            <a:chOff x="0" y="0"/>
            <a:chExt cx="20577294" cy="23896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577294" cy="2389632"/>
            </a:xfrm>
            <a:custGeom>
              <a:avLst/>
              <a:gdLst/>
              <a:ahLst/>
              <a:cxnLst/>
              <a:rect l="l" t="t" r="r" b="b"/>
              <a:pathLst>
                <a:path w="20577294" h="2389632">
                  <a:moveTo>
                    <a:pt x="0" y="0"/>
                  </a:moveTo>
                  <a:lnTo>
                    <a:pt x="20577294" y="0"/>
                  </a:lnTo>
                  <a:lnTo>
                    <a:pt x="20577294" y="2389632"/>
                  </a:lnTo>
                  <a:lnTo>
                    <a:pt x="0" y="2389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519" r="51415" b="-31519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20577294" cy="24563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35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Carb Shale (0.8%) and Coal (2.6%) are chronically underdetected. F1-macro averages as low as 0.15 reflect failure on minority classes despite class weighting.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73410" y="4773173"/>
            <a:ext cx="1031243" cy="1031243"/>
            <a:chOff x="0" y="0"/>
            <a:chExt cx="1374991" cy="137499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74902" cy="1374902"/>
            </a:xfrm>
            <a:custGeom>
              <a:avLst/>
              <a:gdLst/>
              <a:ahLst/>
              <a:cxnLst/>
              <a:rect l="l" t="t" r="r" b="b"/>
              <a:pathLst>
                <a:path w="1374902" h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6D6875"/>
            </a:solidFill>
            <a:ln w="25400" cap="sq">
              <a:solidFill>
                <a:srgbClr val="6D6875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073410" y="4773173"/>
            <a:ext cx="1005840" cy="1005840"/>
            <a:chOff x="0" y="0"/>
            <a:chExt cx="1341120" cy="13411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1341120" cy="13601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340864" y="4928621"/>
            <a:ext cx="6217920" cy="694944"/>
            <a:chOff x="0" y="0"/>
            <a:chExt cx="8290560" cy="92659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90560" cy="926592"/>
            </a:xfrm>
            <a:custGeom>
              <a:avLst/>
              <a:gdLst/>
              <a:ahLst/>
              <a:cxnLst/>
              <a:rect l="l" t="t" r="r" b="b"/>
              <a:pathLst>
                <a:path w="8290560" h="926592">
                  <a:moveTo>
                    <a:pt x="0" y="0"/>
                  </a:moveTo>
                  <a:lnTo>
                    <a:pt x="8290560" y="0"/>
                  </a:lnTo>
                  <a:lnTo>
                    <a:pt x="82905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4339" b="-124339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8290560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0"/>
                </a:lnSpc>
              </a:pPr>
              <a:r>
                <a:rPr lang="en-US" sz="3300" b="1">
                  <a:solidFill>
                    <a:srgbClr val="0D2137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Limited Training Data Per Fold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464564" y="5804416"/>
            <a:ext cx="15309270" cy="1792224"/>
            <a:chOff x="0" y="0"/>
            <a:chExt cx="20412361" cy="238963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0412360" cy="2389632"/>
            </a:xfrm>
            <a:custGeom>
              <a:avLst/>
              <a:gdLst/>
              <a:ahLst/>
              <a:cxnLst/>
              <a:rect l="l" t="t" r="r" b="b"/>
              <a:pathLst>
                <a:path w="20412360" h="2389632">
                  <a:moveTo>
                    <a:pt x="0" y="0"/>
                  </a:moveTo>
                  <a:lnTo>
                    <a:pt x="20412360" y="0"/>
                  </a:lnTo>
                  <a:lnTo>
                    <a:pt x="20412360" y="2389632"/>
                  </a:lnTo>
                  <a:lnTo>
                    <a:pt x="0" y="2389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519" r="51022" b="-31519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66675"/>
              <a:ext cx="20412361" cy="24563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035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LOWO trains on 24,000 samples from 3 wells — capped to avoid imbalance. Real basin datasets have millions of depth samples; more data would dramatically improve minority-class recall.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537467" cy="10312403"/>
            <a:chOff x="0" y="0"/>
            <a:chExt cx="716623" cy="137498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6661" cy="13749910"/>
            </a:xfrm>
            <a:custGeom>
              <a:avLst/>
              <a:gdLst/>
              <a:ahLst/>
              <a:cxnLst/>
              <a:rect l="l" t="t" r="r" b="b"/>
              <a:pathLst>
                <a:path w="716661" h="13749910">
                  <a:moveTo>
                    <a:pt x="0" y="0"/>
                  </a:moveTo>
                  <a:lnTo>
                    <a:pt x="716661" y="0"/>
                  </a:lnTo>
                  <a:lnTo>
                    <a:pt x="71666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0B6E6E"/>
            </a:solidFill>
            <a:ln w="25400" cap="sq">
              <a:solidFill>
                <a:srgbClr val="0B6E6E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005840" y="548640"/>
            <a:ext cx="16459200" cy="1280160"/>
            <a:chOff x="0" y="0"/>
            <a:chExt cx="21945600" cy="17068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521" b="-200521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159"/>
                </a:lnSpc>
              </a:pPr>
              <a:r>
                <a:rPr lang="en-US" sz="6800" b="1">
                  <a:solidFill>
                    <a:srgbClr val="00357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Conclusion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05840" y="2231136"/>
            <a:ext cx="822960" cy="914400"/>
            <a:chOff x="0" y="0"/>
            <a:chExt cx="1097280" cy="1219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97280" cy="1219200"/>
            </a:xfrm>
            <a:custGeom>
              <a:avLst/>
              <a:gdLst/>
              <a:ahLst/>
              <a:cxnLst/>
              <a:rect l="l" t="t" r="r" b="b"/>
              <a:pathLst>
                <a:path w="1097280" h="121920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r="-92559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09728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975104" y="2231136"/>
            <a:ext cx="15544800" cy="914400"/>
            <a:chOff x="0" y="0"/>
            <a:chExt cx="20726400" cy="1219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726400" cy="1219200"/>
            </a:xfrm>
            <a:custGeom>
              <a:avLst/>
              <a:gdLst/>
              <a:ahLst/>
              <a:cxnLst/>
              <a:rect l="l" t="t" r="r" b="b"/>
              <a:pathLst>
                <a:path w="20726400" h="1219200">
                  <a:moveTo>
                    <a:pt x="0" y="0"/>
                  </a:moveTo>
                  <a:lnTo>
                    <a:pt x="20726400" y="0"/>
                  </a:lnTo>
                  <a:lnTo>
                    <a:pt x="207264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0357A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072640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35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Successfully built an end-to-end ML pipeline for facies classification across 4 Gondwana Basin wells spanning 2 sub-basins (Raniganj &amp; Jharia).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05840" y="3383280"/>
            <a:ext cx="822960" cy="914400"/>
            <a:chOff x="0" y="0"/>
            <a:chExt cx="1097280" cy="1219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97280" cy="1219200"/>
            </a:xfrm>
            <a:custGeom>
              <a:avLst/>
              <a:gdLst/>
              <a:ahLst/>
              <a:cxnLst/>
              <a:rect l="l" t="t" r="r" b="b"/>
              <a:pathLst>
                <a:path w="1097280" h="121920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r="-92559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109728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975104" y="3383280"/>
            <a:ext cx="15544800" cy="914400"/>
            <a:chOff x="0" y="0"/>
            <a:chExt cx="20726400" cy="1219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726400" cy="1219200"/>
            </a:xfrm>
            <a:custGeom>
              <a:avLst/>
              <a:gdLst/>
              <a:ahLst/>
              <a:cxnLst/>
              <a:rect l="l" t="t" r="r" b="b"/>
              <a:pathLst>
                <a:path w="20726400" h="1219200">
                  <a:moveTo>
                    <a:pt x="0" y="0"/>
                  </a:moveTo>
                  <a:lnTo>
                    <a:pt x="20726400" y="0"/>
                  </a:lnTo>
                  <a:lnTo>
                    <a:pt x="20726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245" b="-281245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072640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35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 achieved 74.8% F1-weighted on the best test well, with a mean of 53.5% over rigorous LOWO cross-validation.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05840" y="4535424"/>
            <a:ext cx="822960" cy="914400"/>
            <a:chOff x="0" y="0"/>
            <a:chExt cx="1097280" cy="1219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97280" cy="1219200"/>
            </a:xfrm>
            <a:custGeom>
              <a:avLst/>
              <a:gdLst/>
              <a:ahLst/>
              <a:cxnLst/>
              <a:rect l="l" t="t" r="r" b="b"/>
              <a:pathLst>
                <a:path w="1097280" h="121920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r="-92559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109728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975104" y="4535805"/>
            <a:ext cx="15544800" cy="914019"/>
            <a:chOff x="0" y="0"/>
            <a:chExt cx="20726400" cy="121869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726400" cy="1218692"/>
            </a:xfrm>
            <a:custGeom>
              <a:avLst/>
              <a:gdLst/>
              <a:ahLst/>
              <a:cxnLst/>
              <a:rect l="l" t="t" r="r" b="b"/>
              <a:pathLst>
                <a:path w="20726400" h="1218692">
                  <a:moveTo>
                    <a:pt x="0" y="0"/>
                  </a:moveTo>
                  <a:lnTo>
                    <a:pt x="20726400" y="0"/>
                  </a:lnTo>
                  <a:lnTo>
                    <a:pt x="20726400" y="1218692"/>
                  </a:lnTo>
                  <a:lnTo>
                    <a:pt x="0" y="12186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362" b="-281404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20726400" cy="1275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35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Engineered 7 domain-informed features — CALP_anomaly and log_RES16 rank among top-3 discriminators across both RF and XGBoost.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05840" y="5687568"/>
            <a:ext cx="822960" cy="914400"/>
            <a:chOff x="0" y="0"/>
            <a:chExt cx="1097280" cy="1219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97280" cy="1219200"/>
            </a:xfrm>
            <a:custGeom>
              <a:avLst/>
              <a:gdLst/>
              <a:ahLst/>
              <a:cxnLst/>
              <a:rect l="l" t="t" r="r" b="b"/>
              <a:pathLst>
                <a:path w="1097280" h="121920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r="-92559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66675"/>
              <a:ext cx="109728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✅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975104" y="5687568"/>
            <a:ext cx="15544800" cy="914400"/>
            <a:chOff x="0" y="0"/>
            <a:chExt cx="20726400" cy="1219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0726400" cy="1219200"/>
            </a:xfrm>
            <a:custGeom>
              <a:avLst/>
              <a:gdLst/>
              <a:ahLst/>
              <a:cxnLst/>
              <a:rect l="l" t="t" r="r" b="b"/>
              <a:pathLst>
                <a:path w="20726400" h="1219200">
                  <a:moveTo>
                    <a:pt x="0" y="0"/>
                  </a:moveTo>
                  <a:lnTo>
                    <a:pt x="20726400" y="0"/>
                  </a:lnTo>
                  <a:lnTo>
                    <a:pt x="20726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245" b="-281245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2072640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35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SP[MV] identified as the single most important log (15.4% RF importance), confirming its petrophysical sensitivity to electro-chemical facies contrasts.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05840" y="6839712"/>
            <a:ext cx="822960" cy="914400"/>
            <a:chOff x="0" y="0"/>
            <a:chExt cx="1097280" cy="12192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97280" cy="1219200"/>
            </a:xfrm>
            <a:custGeom>
              <a:avLst/>
              <a:gdLst/>
              <a:ahLst/>
              <a:cxnLst/>
              <a:rect l="l" t="t" r="r" b="b"/>
              <a:pathLst>
                <a:path w="1097280" h="121920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r="-92559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66675"/>
              <a:ext cx="109728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⚠️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975104" y="6839712"/>
            <a:ext cx="15544800" cy="914400"/>
            <a:chOff x="0" y="0"/>
            <a:chExt cx="20726400" cy="1219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0726400" cy="1219200"/>
            </a:xfrm>
            <a:custGeom>
              <a:avLst/>
              <a:gdLst/>
              <a:ahLst/>
              <a:cxnLst/>
              <a:rect l="l" t="t" r="r" b="b"/>
              <a:pathLst>
                <a:path w="20726400" h="1219200">
                  <a:moveTo>
                    <a:pt x="0" y="0"/>
                  </a:moveTo>
                  <a:lnTo>
                    <a:pt x="20726400" y="0"/>
                  </a:lnTo>
                  <a:lnTo>
                    <a:pt x="20726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245" b="-281245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57150"/>
              <a:ext cx="2072640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35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Cross-basin generalization remains the core challenge: Carb Shale and Alt facies are underdetected, pointing to the need for sequential deep learning and more training data.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05840" y="7991856"/>
            <a:ext cx="822960" cy="914400"/>
            <a:chOff x="0" y="0"/>
            <a:chExt cx="1097280" cy="12192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97280" cy="1219200"/>
            </a:xfrm>
            <a:custGeom>
              <a:avLst/>
              <a:gdLst/>
              <a:ahLst/>
              <a:cxnLst/>
              <a:rect l="l" t="t" r="r" b="b"/>
              <a:pathLst>
                <a:path w="1097280" h="1219200">
                  <a:moveTo>
                    <a:pt x="0" y="0"/>
                  </a:moveTo>
                  <a:lnTo>
                    <a:pt x="1097280" y="0"/>
                  </a:lnTo>
                  <a:lnTo>
                    <a:pt x="1097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9" r="-92559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66675"/>
              <a:ext cx="109728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🚀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975104" y="7991856"/>
            <a:ext cx="15544800" cy="914400"/>
            <a:chOff x="0" y="0"/>
            <a:chExt cx="20726400" cy="12192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0726400" cy="1219200"/>
            </a:xfrm>
            <a:custGeom>
              <a:avLst/>
              <a:gdLst/>
              <a:ahLst/>
              <a:cxnLst/>
              <a:rect l="l" t="t" r="r" b="b"/>
              <a:pathLst>
                <a:path w="20726400" h="1219200">
                  <a:moveTo>
                    <a:pt x="0" y="0"/>
                  </a:moveTo>
                  <a:lnTo>
                    <a:pt x="20726400" y="0"/>
                  </a:lnTo>
                  <a:lnTo>
                    <a:pt x="20726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245" b="-281245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57150"/>
              <a:ext cx="2072640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00357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serialised pipeline is deployment-ready — new well logs can be classified in under 1 second with no retraining required.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05840" y="9692640"/>
            <a:ext cx="16459200" cy="457200"/>
            <a:chOff x="0" y="0"/>
            <a:chExt cx="21945600" cy="6096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1945600" cy="609600"/>
            </a:xfrm>
            <a:custGeom>
              <a:avLst/>
              <a:gdLst/>
              <a:ahLst/>
              <a:cxnLst/>
              <a:rect l="l" t="t" r="r" b="b"/>
              <a:pathLst>
                <a:path w="21945600" h="609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1461" b="-651461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2194560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dirty="0">
                  <a:solidFill>
                    <a:srgbClr val="7A92A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Rock &amp; Fluid Multiphysics Lab  ·  IIT Roorkee  ·  Sameer Modi  ·  June 2025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2033</Words>
  <Application>Microsoft Office PowerPoint</Application>
  <PresentationFormat>Custom</PresentationFormat>
  <Paragraphs>420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Calibri (MS)</vt:lpstr>
      <vt:lpstr>Consolas Bold</vt:lpstr>
      <vt:lpstr>Arial</vt:lpstr>
      <vt:lpstr>Consolas</vt:lpstr>
      <vt:lpstr>Trebuchet MS</vt:lpstr>
      <vt:lpstr>Calibri (MS) Italics</vt:lpstr>
      <vt:lpstr>Calibri</vt:lpstr>
      <vt:lpstr>Calibri (MS) Bold</vt:lpstr>
      <vt:lpstr>Trebuchet MS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Facies_Classification_Presentation.pptx</dc:title>
  <cp:lastModifiedBy>Sameer Modi</cp:lastModifiedBy>
  <cp:revision>2</cp:revision>
  <dcterms:created xsi:type="dcterms:W3CDTF">2006-08-16T00:00:00Z</dcterms:created>
  <dcterms:modified xsi:type="dcterms:W3CDTF">2026-06-08T07:52:58Z</dcterms:modified>
  <dc:identifier>DAHL85_9pIc</dc:identifier>
</cp:coreProperties>
</file>