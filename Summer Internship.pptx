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Lst>
  <p:sldSz cx="18288000" cy="10287000"/>
  <p:notesSz cx="6858000" cy="9144000"/>
  <p:embeddedFontLst>
    <p:embeddedFont>
      <p:font typeface="Arimo" panose="020B0604020202020204" charset="0"/>
      <p:regular r:id="rId65"/>
    </p:embeddedFont>
    <p:embeddedFont>
      <p:font typeface="Arimo Bold" panose="020B0604020202020204" charset="0"/>
      <p:regular r:id="rId66"/>
    </p:embeddedFont>
    <p:embeddedFont>
      <p:font typeface="Canva Sans" panose="020B0604020202020204" charset="0"/>
      <p:regular r:id="rId67"/>
    </p:embeddedFont>
    <p:embeddedFont>
      <p:font typeface="Century Gothic Paneuropean" panose="020B0604020202020204" charset="0"/>
      <p:regular r:id="rId68"/>
    </p:embeddedFont>
    <p:embeddedFont>
      <p:font typeface="Century Gothic Paneuropean Bold" panose="020B0604020202020204" charset="0"/>
      <p:regular r:id="rId69"/>
    </p:embeddedFont>
    <p:embeddedFont>
      <p:font typeface="League Spartan" panose="020B0604020202020204" charset="0"/>
      <p:regular r:id="rId70"/>
    </p:embeddedFont>
    <p:embeddedFont>
      <p:font typeface="Open Sans" panose="020F0502020204030204" pitchFamily="34" charset="0"/>
      <p:regular r:id="rId71"/>
    </p:embeddedFont>
    <p:embeddedFont>
      <p:font typeface="Open Sans Bold" panose="020B0604020202020204" charset="0"/>
      <p:regular r:id="rId7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2" d="100"/>
          <a:sy n="42" d="100"/>
        </p:scale>
        <p:origin x="780" y="5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2.fntdata"/><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font" Target="fonts/font5.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3.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font" Target="fonts/font6.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font" Target="fonts/font1.fntdata"/><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7.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sv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32.jpeg"/><Relationship Id="rId4" Type="http://schemas.openxmlformats.org/officeDocument/2006/relationships/image" Target="../media/image31.jpeg"/></Relationships>
</file>

<file path=ppt/slides/_rels/slide4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sv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4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svg"/><Relationship Id="rId1" Type="http://schemas.openxmlformats.org/officeDocument/2006/relationships/slideLayout" Target="../slideLayouts/slideLayout7.xml"/><Relationship Id="rId5" Type="http://schemas.openxmlformats.org/officeDocument/2006/relationships/image" Target="../media/image41.png"/><Relationship Id="rId4" Type="http://schemas.openxmlformats.org/officeDocument/2006/relationships/image" Target="../media/image40.png"/></Relationships>
</file>

<file path=ppt/slides/_rels/slide5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6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29352" y="9803843"/>
            <a:ext cx="19346704" cy="821917"/>
            <a:chOff x="0" y="0"/>
            <a:chExt cx="5095428" cy="216472"/>
          </a:xfrm>
        </p:grpSpPr>
        <p:sp>
          <p:nvSpPr>
            <p:cNvPr id="3" name="Freeform 3"/>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4" name="TextBox 4"/>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7" name="Freeform 7"/>
          <p:cNvSpPr/>
          <p:nvPr/>
        </p:nvSpPr>
        <p:spPr>
          <a:xfrm>
            <a:off x="2084604" y="5472162"/>
            <a:ext cx="5961235" cy="3544225"/>
          </a:xfrm>
          <a:custGeom>
            <a:avLst/>
            <a:gdLst/>
            <a:ahLst/>
            <a:cxnLst/>
            <a:rect l="l" t="t" r="r" b="b"/>
            <a:pathLst>
              <a:path w="5961235" h="3544225">
                <a:moveTo>
                  <a:pt x="0" y="0"/>
                </a:moveTo>
                <a:lnTo>
                  <a:pt x="5961235" y="0"/>
                </a:lnTo>
                <a:lnTo>
                  <a:pt x="5961235" y="3544225"/>
                </a:lnTo>
                <a:lnTo>
                  <a:pt x="0" y="3544225"/>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Freeform 8"/>
          <p:cNvSpPr/>
          <p:nvPr/>
        </p:nvSpPr>
        <p:spPr>
          <a:xfrm>
            <a:off x="15299631" y="-322097"/>
            <a:ext cx="3460976" cy="3460976"/>
          </a:xfrm>
          <a:custGeom>
            <a:avLst/>
            <a:gdLst/>
            <a:ahLst/>
            <a:cxnLst/>
            <a:rect l="l" t="t" r="r" b="b"/>
            <a:pathLst>
              <a:path w="3460976" h="3460976">
                <a:moveTo>
                  <a:pt x="0" y="0"/>
                </a:moveTo>
                <a:lnTo>
                  <a:pt x="3460976" y="0"/>
                </a:lnTo>
                <a:lnTo>
                  <a:pt x="3460976" y="3460976"/>
                </a:lnTo>
                <a:lnTo>
                  <a:pt x="0" y="3460976"/>
                </a:lnTo>
                <a:lnTo>
                  <a:pt x="0" y="0"/>
                </a:lnTo>
                <a:close/>
              </a:path>
            </a:pathLst>
          </a:custGeom>
          <a:blipFill>
            <a:blip r:embed="rId4"/>
            <a:stretch>
              <a:fillRect/>
            </a:stretch>
          </a:blipFill>
        </p:spPr>
      </p:sp>
      <p:sp>
        <p:nvSpPr>
          <p:cNvPr id="9" name="Freeform 9"/>
          <p:cNvSpPr/>
          <p:nvPr/>
        </p:nvSpPr>
        <p:spPr>
          <a:xfrm>
            <a:off x="290726" y="211060"/>
            <a:ext cx="2153203" cy="2394662"/>
          </a:xfrm>
          <a:custGeom>
            <a:avLst/>
            <a:gdLst/>
            <a:ahLst/>
            <a:cxnLst/>
            <a:rect l="l" t="t" r="r" b="b"/>
            <a:pathLst>
              <a:path w="2153203" h="2394662">
                <a:moveTo>
                  <a:pt x="0" y="0"/>
                </a:moveTo>
                <a:lnTo>
                  <a:pt x="2153203" y="0"/>
                </a:lnTo>
                <a:lnTo>
                  <a:pt x="2153203" y="2394662"/>
                </a:lnTo>
                <a:lnTo>
                  <a:pt x="0" y="2394662"/>
                </a:lnTo>
                <a:lnTo>
                  <a:pt x="0" y="0"/>
                </a:lnTo>
                <a:close/>
              </a:path>
            </a:pathLst>
          </a:custGeom>
          <a:blipFill>
            <a:blip r:embed="rId5"/>
            <a:stretch>
              <a:fillRect l="-29277" r="-29277"/>
            </a:stretch>
          </a:blipFill>
        </p:spPr>
      </p:sp>
      <p:sp>
        <p:nvSpPr>
          <p:cNvPr id="10" name="TextBox 10"/>
          <p:cNvSpPr txBox="1"/>
          <p:nvPr/>
        </p:nvSpPr>
        <p:spPr>
          <a:xfrm>
            <a:off x="2988369" y="1641384"/>
            <a:ext cx="12311261" cy="1242872"/>
          </a:xfrm>
          <a:prstGeom prst="rect">
            <a:avLst/>
          </a:prstGeom>
        </p:spPr>
        <p:txBody>
          <a:bodyPr lIns="0" tIns="0" rIns="0" bIns="0" rtlCol="0" anchor="t">
            <a:spAutoFit/>
          </a:bodyPr>
          <a:lstStyle/>
          <a:p>
            <a:pPr algn="ctr">
              <a:lnSpc>
                <a:spcPts val="10245"/>
              </a:lnSpc>
              <a:spcBef>
                <a:spcPct val="0"/>
              </a:spcBef>
            </a:pPr>
            <a:r>
              <a:rPr lang="en-US" sz="7318" b="1">
                <a:solidFill>
                  <a:srgbClr val="FAE7BC"/>
                </a:solidFill>
                <a:latin typeface="Open Sans Bold"/>
                <a:ea typeface="Open Sans Bold"/>
                <a:cs typeface="Open Sans Bold"/>
                <a:sym typeface="Open Sans Bold"/>
              </a:rPr>
              <a:t>SUMMER INTERNSHIP 2025</a:t>
            </a:r>
          </a:p>
        </p:txBody>
      </p:sp>
      <p:sp>
        <p:nvSpPr>
          <p:cNvPr id="11" name="TextBox 11"/>
          <p:cNvSpPr txBox="1"/>
          <p:nvPr/>
        </p:nvSpPr>
        <p:spPr>
          <a:xfrm>
            <a:off x="11018595" y="5726821"/>
            <a:ext cx="5261001" cy="2949183"/>
          </a:xfrm>
          <a:prstGeom prst="rect">
            <a:avLst/>
          </a:prstGeom>
        </p:spPr>
        <p:txBody>
          <a:bodyPr lIns="0" tIns="0" rIns="0" bIns="0" rtlCol="0" anchor="t">
            <a:spAutoFit/>
          </a:bodyPr>
          <a:lstStyle/>
          <a:p>
            <a:pPr algn="l">
              <a:lnSpc>
                <a:spcPts val="5208"/>
              </a:lnSpc>
            </a:pPr>
            <a:r>
              <a:rPr lang="en-US" sz="3720">
                <a:solidFill>
                  <a:srgbClr val="000000"/>
                </a:solidFill>
                <a:latin typeface="Open Sans"/>
                <a:ea typeface="Open Sans"/>
                <a:cs typeface="Open Sans"/>
                <a:sym typeface="Open Sans"/>
              </a:rPr>
              <a:t>Sameer Modi</a:t>
            </a:r>
          </a:p>
          <a:p>
            <a:pPr algn="l">
              <a:lnSpc>
                <a:spcPts val="4508"/>
              </a:lnSpc>
            </a:pPr>
            <a:r>
              <a:rPr lang="en-US" sz="3220">
                <a:solidFill>
                  <a:srgbClr val="000000"/>
                </a:solidFill>
                <a:latin typeface="Open Sans"/>
                <a:ea typeface="Open Sans"/>
                <a:cs typeface="Open Sans"/>
                <a:sym typeface="Open Sans"/>
              </a:rPr>
              <a:t>23410030</a:t>
            </a:r>
          </a:p>
          <a:p>
            <a:pPr algn="l">
              <a:lnSpc>
                <a:spcPts val="4508"/>
              </a:lnSpc>
            </a:pPr>
            <a:r>
              <a:rPr lang="en-US" sz="3220">
                <a:solidFill>
                  <a:srgbClr val="000000"/>
                </a:solidFill>
                <a:latin typeface="Open Sans"/>
                <a:ea typeface="Open Sans"/>
                <a:cs typeface="Open Sans"/>
                <a:sym typeface="Open Sans"/>
              </a:rPr>
              <a:t>Btech 2nd</a:t>
            </a:r>
          </a:p>
          <a:p>
            <a:pPr algn="l">
              <a:lnSpc>
                <a:spcPts val="4508"/>
              </a:lnSpc>
            </a:pPr>
            <a:r>
              <a:rPr lang="en-US" sz="3220">
                <a:solidFill>
                  <a:srgbClr val="000000"/>
                </a:solidFill>
                <a:latin typeface="Open Sans"/>
                <a:ea typeface="Open Sans"/>
                <a:cs typeface="Open Sans"/>
                <a:sym typeface="Open Sans"/>
              </a:rPr>
              <a:t>Geological Technology</a:t>
            </a:r>
          </a:p>
          <a:p>
            <a:pPr algn="l">
              <a:lnSpc>
                <a:spcPts val="4634"/>
              </a:lnSpc>
              <a:spcBef>
                <a:spcPct val="0"/>
              </a:spcBef>
            </a:pPr>
            <a:r>
              <a:rPr lang="en-US" sz="3310">
                <a:solidFill>
                  <a:srgbClr val="000000"/>
                </a:solidFill>
                <a:latin typeface="Open Sans"/>
                <a:ea typeface="Open Sans"/>
                <a:cs typeface="Open Sans"/>
                <a:sym typeface="Open Sans"/>
              </a:rPr>
              <a:t>sameer_m@es.iitr.ac.in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974272" y="3008973"/>
            <a:ext cx="14602441" cy="1243470"/>
          </a:xfrm>
          <a:prstGeom prst="rect">
            <a:avLst/>
          </a:prstGeom>
        </p:spPr>
        <p:txBody>
          <a:bodyPr lIns="0" tIns="0" rIns="0" bIns="0" rtlCol="0" anchor="t">
            <a:spAutoFit/>
          </a:bodyPr>
          <a:lstStyle/>
          <a:p>
            <a:pPr algn="just">
              <a:lnSpc>
                <a:spcPts val="4962"/>
              </a:lnSpc>
            </a:pPr>
            <a:r>
              <a:rPr lang="en-US" sz="3544">
                <a:solidFill>
                  <a:srgbClr val="000000"/>
                </a:solidFill>
                <a:latin typeface="Century Gothic Paneuropean"/>
                <a:ea typeface="Century Gothic Paneuropean"/>
                <a:cs typeface="Century Gothic Paneuropean"/>
                <a:sym typeface="Century Gothic Paneuropean"/>
              </a:rPr>
              <a:t>To automate geological facies classification from well log data using machine learning algorithms.</a:t>
            </a:r>
          </a:p>
        </p:txBody>
      </p:sp>
      <p:sp>
        <p:nvSpPr>
          <p:cNvPr id="9" name="Freeform 9"/>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488343" y="-989670"/>
            <a:ext cx="1080715" cy="2956684"/>
            <a:chOff x="0" y="0"/>
            <a:chExt cx="284633" cy="778715"/>
          </a:xfrm>
        </p:grpSpPr>
        <p:sp>
          <p:nvSpPr>
            <p:cNvPr id="12" name="Freeform 12"/>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3" name="TextBox 13"/>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1974272" y="1241389"/>
            <a:ext cx="4088309" cy="927100"/>
          </a:xfrm>
          <a:prstGeom prst="rect">
            <a:avLst/>
          </a:prstGeom>
        </p:spPr>
        <p:txBody>
          <a:bodyPr lIns="0" tIns="0" rIns="0" bIns="0" rtlCol="0" anchor="t">
            <a:spAutoFit/>
          </a:bodyPr>
          <a:lstStyle/>
          <a:p>
            <a:pPr algn="ctr">
              <a:lnSpc>
                <a:spcPts val="7699"/>
              </a:lnSpc>
              <a:spcBef>
                <a:spcPct val="0"/>
              </a:spcBef>
            </a:pPr>
            <a:r>
              <a:rPr lang="en-US" sz="5499" b="1">
                <a:solidFill>
                  <a:srgbClr val="000000"/>
                </a:solidFill>
                <a:latin typeface="Open Sans Bold"/>
                <a:ea typeface="Open Sans Bold"/>
                <a:cs typeface="Open Sans Bold"/>
                <a:sym typeface="Open Sans Bold"/>
              </a:rPr>
              <a:t>Objective 1:</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TextBox 8"/>
          <p:cNvSpPr txBox="1"/>
          <p:nvPr/>
        </p:nvSpPr>
        <p:spPr>
          <a:xfrm>
            <a:off x="1844492" y="2346330"/>
            <a:ext cx="14602441" cy="2270265"/>
          </a:xfrm>
          <a:prstGeom prst="rect">
            <a:avLst/>
          </a:prstGeom>
        </p:spPr>
        <p:txBody>
          <a:bodyPr lIns="0" tIns="0" rIns="0" bIns="0" rtlCol="0" anchor="t">
            <a:spAutoFit/>
          </a:bodyPr>
          <a:lstStyle/>
          <a:p>
            <a:pPr algn="just">
              <a:lnSpc>
                <a:spcPts val="4542"/>
              </a:lnSpc>
            </a:pPr>
            <a:r>
              <a:rPr lang="en-US" sz="3244">
                <a:solidFill>
                  <a:srgbClr val="000000"/>
                </a:solidFill>
                <a:latin typeface="Century Gothic Paneuropean"/>
                <a:ea typeface="Century Gothic Paneuropean"/>
                <a:cs typeface="Century Gothic Paneuropean"/>
                <a:sym typeface="Century Gothic Paneuropean"/>
              </a:rPr>
              <a:t>A </a:t>
            </a:r>
            <a:r>
              <a:rPr lang="en-US" sz="3244" b="1">
                <a:solidFill>
                  <a:srgbClr val="000000"/>
                </a:solidFill>
                <a:latin typeface="Century Gothic Paneuropean Bold"/>
                <a:ea typeface="Century Gothic Paneuropean Bold"/>
                <a:cs typeface="Century Gothic Paneuropean Bold"/>
                <a:sym typeface="Century Gothic Paneuropean Bold"/>
              </a:rPr>
              <a:t>facies </a:t>
            </a:r>
            <a:r>
              <a:rPr lang="en-US" sz="3244">
                <a:solidFill>
                  <a:srgbClr val="000000"/>
                </a:solidFill>
                <a:latin typeface="Century Gothic Paneuropean"/>
                <a:ea typeface="Century Gothic Paneuropean"/>
                <a:cs typeface="Century Gothic Paneuropean"/>
                <a:sym typeface="Century Gothic Paneuropean"/>
              </a:rPr>
              <a:t>is a body of rock or sediment that is distinguished from adjacent units by a unique combination of physical, chemical, and biological characteristics. These features reflect the specific conditions under which the rock was formed and help geologists interpret past environments.</a:t>
            </a:r>
          </a:p>
        </p:txBody>
      </p:sp>
      <p:sp>
        <p:nvSpPr>
          <p:cNvPr id="9" name="Freeform 9"/>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488343" y="-989670"/>
            <a:ext cx="1080715" cy="2956684"/>
            <a:chOff x="0" y="0"/>
            <a:chExt cx="284633" cy="778715"/>
          </a:xfrm>
        </p:grpSpPr>
        <p:sp>
          <p:nvSpPr>
            <p:cNvPr id="12" name="Freeform 12"/>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3" name="TextBox 13"/>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1831935" y="933450"/>
            <a:ext cx="4791571" cy="927100"/>
          </a:xfrm>
          <a:prstGeom prst="rect">
            <a:avLst/>
          </a:prstGeom>
        </p:spPr>
        <p:txBody>
          <a:bodyPr lIns="0" tIns="0" rIns="0" bIns="0" rtlCol="0" anchor="t">
            <a:spAutoFit/>
          </a:bodyPr>
          <a:lstStyle/>
          <a:p>
            <a:pPr algn="ctr">
              <a:lnSpc>
                <a:spcPts val="7699"/>
              </a:lnSpc>
              <a:spcBef>
                <a:spcPct val="0"/>
              </a:spcBef>
            </a:pPr>
            <a:r>
              <a:rPr lang="en-US" sz="5499" b="1">
                <a:solidFill>
                  <a:srgbClr val="000000"/>
                </a:solidFill>
                <a:latin typeface="Open Sans Bold"/>
                <a:ea typeface="Open Sans Bold"/>
                <a:cs typeface="Open Sans Bold"/>
                <a:sym typeface="Open Sans Bold"/>
              </a:rPr>
              <a:t>Introduction: </a:t>
            </a:r>
          </a:p>
        </p:txBody>
      </p:sp>
      <p:sp>
        <p:nvSpPr>
          <p:cNvPr id="15" name="TextBox 15"/>
          <p:cNvSpPr txBox="1"/>
          <p:nvPr/>
        </p:nvSpPr>
        <p:spPr>
          <a:xfrm>
            <a:off x="1844492" y="4934267"/>
            <a:ext cx="13796699" cy="3581320"/>
          </a:xfrm>
          <a:prstGeom prst="rect">
            <a:avLst/>
          </a:prstGeom>
        </p:spPr>
        <p:txBody>
          <a:bodyPr lIns="0" tIns="0" rIns="0" bIns="0" rtlCol="0" anchor="t">
            <a:spAutoFit/>
          </a:bodyPr>
          <a:lstStyle/>
          <a:p>
            <a:pPr algn="l">
              <a:lnSpc>
                <a:spcPts val="4729"/>
              </a:lnSpc>
              <a:spcBef>
                <a:spcPct val="0"/>
              </a:spcBef>
            </a:pPr>
            <a:r>
              <a:rPr lang="en-US" sz="3378">
                <a:solidFill>
                  <a:srgbClr val="000000"/>
                </a:solidFill>
                <a:latin typeface="Open Sans"/>
                <a:ea typeface="Open Sans"/>
                <a:cs typeface="Open Sans"/>
                <a:sym typeface="Open Sans"/>
              </a:rPr>
              <a:t>Key Characteristics:</a:t>
            </a:r>
          </a:p>
          <a:p>
            <a:pPr marL="729341" lvl="1" indent="-364670" algn="l">
              <a:lnSpc>
                <a:spcPts val="4729"/>
              </a:lnSpc>
              <a:spcBef>
                <a:spcPct val="0"/>
              </a:spcBef>
              <a:buFont typeface="Arial"/>
              <a:buChar char="•"/>
            </a:pPr>
            <a:r>
              <a:rPr lang="en-US" sz="3378">
                <a:solidFill>
                  <a:srgbClr val="000000"/>
                </a:solidFill>
                <a:latin typeface="Open Sans"/>
                <a:ea typeface="Open Sans"/>
                <a:cs typeface="Open Sans"/>
                <a:sym typeface="Open Sans"/>
              </a:rPr>
              <a:t>Lithology (grain size, composition, color, texture)</a:t>
            </a:r>
          </a:p>
          <a:p>
            <a:pPr marL="729341" lvl="1" indent="-364670" algn="l">
              <a:lnSpc>
                <a:spcPts val="4729"/>
              </a:lnSpc>
              <a:spcBef>
                <a:spcPct val="0"/>
              </a:spcBef>
              <a:buFont typeface="Arial"/>
              <a:buChar char="•"/>
            </a:pPr>
            <a:r>
              <a:rPr lang="en-US" sz="3378">
                <a:solidFill>
                  <a:srgbClr val="000000"/>
                </a:solidFill>
                <a:latin typeface="Open Sans"/>
                <a:ea typeface="Open Sans"/>
                <a:cs typeface="Open Sans"/>
                <a:sym typeface="Open Sans"/>
              </a:rPr>
              <a:t>Fossils (biological content)</a:t>
            </a:r>
          </a:p>
          <a:p>
            <a:pPr marL="729341" lvl="1" indent="-364670" algn="l">
              <a:lnSpc>
                <a:spcPts val="4729"/>
              </a:lnSpc>
              <a:spcBef>
                <a:spcPct val="0"/>
              </a:spcBef>
              <a:buFont typeface="Arial"/>
              <a:buChar char="•"/>
            </a:pPr>
            <a:r>
              <a:rPr lang="en-US" sz="3378">
                <a:solidFill>
                  <a:srgbClr val="000000"/>
                </a:solidFill>
                <a:latin typeface="Open Sans"/>
                <a:ea typeface="Open Sans"/>
                <a:cs typeface="Open Sans"/>
                <a:sym typeface="Open Sans"/>
              </a:rPr>
              <a:t>Sedimentary structures (e.g., ripples, cross-bedding)</a:t>
            </a:r>
          </a:p>
          <a:p>
            <a:pPr marL="729341" lvl="1" indent="-364670" algn="l">
              <a:lnSpc>
                <a:spcPts val="4729"/>
              </a:lnSpc>
              <a:spcBef>
                <a:spcPct val="0"/>
              </a:spcBef>
              <a:buFont typeface="Arial"/>
              <a:buChar char="•"/>
            </a:pPr>
            <a:r>
              <a:rPr lang="en-US" sz="3378">
                <a:solidFill>
                  <a:srgbClr val="000000"/>
                </a:solidFill>
                <a:latin typeface="Open Sans"/>
                <a:ea typeface="Open Sans"/>
                <a:cs typeface="Open Sans"/>
                <a:sym typeface="Open Sans"/>
              </a:rPr>
              <a:t>Well log responses (gamma ray, resistivity, etc.)</a:t>
            </a:r>
          </a:p>
          <a:p>
            <a:pPr marL="729341" lvl="1" indent="-364670" algn="l">
              <a:lnSpc>
                <a:spcPts val="4729"/>
              </a:lnSpc>
              <a:buFont typeface="Arial"/>
              <a:buChar char="•"/>
            </a:pPr>
            <a:r>
              <a:rPr lang="en-US" sz="3378">
                <a:solidFill>
                  <a:srgbClr val="000000"/>
                </a:solidFill>
                <a:latin typeface="Open Sans"/>
                <a:ea typeface="Open Sans"/>
                <a:cs typeface="Open Sans"/>
                <a:sym typeface="Open Sans"/>
              </a:rPr>
              <a:t>Seismic Properties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2134520" y="1039915"/>
            <a:ext cx="5058569" cy="927100"/>
          </a:xfrm>
          <a:prstGeom prst="rect">
            <a:avLst/>
          </a:prstGeom>
        </p:spPr>
        <p:txBody>
          <a:bodyPr lIns="0" tIns="0" rIns="0" bIns="0" rtlCol="0" anchor="t">
            <a:spAutoFit/>
          </a:bodyPr>
          <a:lstStyle/>
          <a:p>
            <a:pPr algn="ctr">
              <a:lnSpc>
                <a:spcPts val="7699"/>
              </a:lnSpc>
              <a:spcBef>
                <a:spcPct val="0"/>
              </a:spcBef>
            </a:pPr>
            <a:r>
              <a:rPr lang="en-US" sz="5499" b="1">
                <a:solidFill>
                  <a:srgbClr val="000000"/>
                </a:solidFill>
                <a:latin typeface="Open Sans Bold"/>
                <a:ea typeface="Open Sans Bold"/>
                <a:cs typeface="Open Sans Bold"/>
                <a:sym typeface="Open Sans Bold"/>
              </a:rPr>
              <a:t>Well Locations</a:t>
            </a:r>
          </a:p>
        </p:txBody>
      </p:sp>
      <p:sp>
        <p:nvSpPr>
          <p:cNvPr id="14" name="TextBox 14"/>
          <p:cNvSpPr txBox="1"/>
          <p:nvPr/>
        </p:nvSpPr>
        <p:spPr>
          <a:xfrm>
            <a:off x="2134520" y="2688204"/>
            <a:ext cx="14053438" cy="6318250"/>
          </a:xfrm>
          <a:prstGeom prst="rect">
            <a:avLst/>
          </a:prstGeom>
        </p:spPr>
        <p:txBody>
          <a:bodyPr lIns="0" tIns="0" rIns="0" bIns="0" rtlCol="0" anchor="t">
            <a:spAutoFit/>
          </a:bodyPr>
          <a:lstStyle/>
          <a:p>
            <a:pPr algn="l">
              <a:lnSpc>
                <a:spcPts val="5599"/>
              </a:lnSpc>
            </a:pPr>
            <a:r>
              <a:rPr lang="en-US" sz="3999">
                <a:solidFill>
                  <a:srgbClr val="7A7A7C"/>
                </a:solidFill>
                <a:latin typeface="Open Sans"/>
                <a:ea typeface="Open Sans"/>
                <a:cs typeface="Open Sans"/>
                <a:sym typeface="Open Sans"/>
              </a:rPr>
              <a:t>Shale Sampling Locations</a:t>
            </a:r>
          </a:p>
          <a:p>
            <a:pPr marL="863599" lvl="1" indent="-431800" algn="l">
              <a:lnSpc>
                <a:spcPts val="5599"/>
              </a:lnSpc>
              <a:buFont typeface="Arial"/>
              <a:buChar char="•"/>
            </a:pPr>
            <a:r>
              <a:rPr lang="en-US" sz="3999">
                <a:solidFill>
                  <a:srgbClr val="7A7A7C"/>
                </a:solidFill>
                <a:latin typeface="Open Sans"/>
                <a:ea typeface="Open Sans"/>
                <a:cs typeface="Open Sans"/>
                <a:sym typeface="Open Sans"/>
              </a:rPr>
              <a:t>Raniganj Sub basin (West Bengal):</a:t>
            </a:r>
          </a:p>
          <a:p>
            <a:pPr marL="1727199" lvl="2" indent="-575733" algn="l">
              <a:lnSpc>
                <a:spcPts val="5599"/>
              </a:lnSpc>
              <a:buFont typeface="Arial"/>
              <a:buChar char="⚬"/>
            </a:pPr>
            <a:r>
              <a:rPr lang="en-US" sz="3999">
                <a:solidFill>
                  <a:srgbClr val="7A7A7C"/>
                </a:solidFill>
                <a:latin typeface="Open Sans"/>
                <a:ea typeface="Open Sans"/>
                <a:cs typeface="Open Sans"/>
                <a:sym typeface="Open Sans"/>
              </a:rPr>
              <a:t>Well 1</a:t>
            </a:r>
          </a:p>
          <a:p>
            <a:pPr marL="1727199" lvl="2" indent="-575733" algn="l">
              <a:lnSpc>
                <a:spcPts val="5599"/>
              </a:lnSpc>
              <a:buFont typeface="Arial"/>
              <a:buChar char="⚬"/>
            </a:pPr>
            <a:r>
              <a:rPr lang="en-US" sz="3999">
                <a:solidFill>
                  <a:srgbClr val="7A7A7C"/>
                </a:solidFill>
                <a:latin typeface="Open Sans"/>
                <a:ea typeface="Open Sans"/>
                <a:cs typeface="Open Sans"/>
                <a:sym typeface="Open Sans"/>
              </a:rPr>
              <a:t>Well 2</a:t>
            </a:r>
          </a:p>
          <a:p>
            <a:pPr marL="863599" lvl="1" indent="-431800" algn="l">
              <a:lnSpc>
                <a:spcPts val="5599"/>
              </a:lnSpc>
              <a:buFont typeface="Arial"/>
              <a:buChar char="•"/>
            </a:pPr>
            <a:r>
              <a:rPr lang="en-US" sz="3999">
                <a:solidFill>
                  <a:srgbClr val="7A7A7C"/>
                </a:solidFill>
                <a:latin typeface="Open Sans"/>
                <a:ea typeface="Open Sans"/>
                <a:cs typeface="Open Sans"/>
                <a:sym typeface="Open Sans"/>
              </a:rPr>
              <a:t>Jharia Sub basin ( Jharkhand):</a:t>
            </a:r>
          </a:p>
          <a:p>
            <a:pPr marL="1727199" lvl="2" indent="-575733" algn="l">
              <a:lnSpc>
                <a:spcPts val="5599"/>
              </a:lnSpc>
              <a:buFont typeface="Arial"/>
              <a:buChar char="⚬"/>
            </a:pPr>
            <a:r>
              <a:rPr lang="en-US" sz="3999">
                <a:solidFill>
                  <a:srgbClr val="7A7A7C"/>
                </a:solidFill>
                <a:latin typeface="Open Sans"/>
                <a:ea typeface="Open Sans"/>
                <a:cs typeface="Open Sans"/>
                <a:sym typeface="Open Sans"/>
              </a:rPr>
              <a:t>Well 3</a:t>
            </a:r>
          </a:p>
          <a:p>
            <a:pPr marL="1727199" lvl="2" indent="-575733" algn="l">
              <a:lnSpc>
                <a:spcPts val="5599"/>
              </a:lnSpc>
              <a:buFont typeface="Arial"/>
              <a:buChar char="⚬"/>
            </a:pPr>
            <a:r>
              <a:rPr lang="en-US" sz="3999">
                <a:solidFill>
                  <a:srgbClr val="7A7A7C"/>
                </a:solidFill>
                <a:latin typeface="Open Sans"/>
                <a:ea typeface="Open Sans"/>
                <a:cs typeface="Open Sans"/>
                <a:sym typeface="Open Sans"/>
              </a:rPr>
              <a:t>Well 4</a:t>
            </a:r>
          </a:p>
          <a:p>
            <a:pPr algn="l">
              <a:lnSpc>
                <a:spcPts val="5599"/>
              </a:lnSpc>
            </a:pPr>
            <a:endParaRPr lang="en-US" sz="3999">
              <a:solidFill>
                <a:srgbClr val="7A7A7C"/>
              </a:solidFill>
              <a:latin typeface="Open Sans"/>
              <a:ea typeface="Open Sans"/>
              <a:cs typeface="Open Sans"/>
              <a:sym typeface="Open Sans"/>
            </a:endParaRPr>
          </a:p>
          <a:p>
            <a:pPr algn="l">
              <a:lnSpc>
                <a:spcPts val="5599"/>
              </a:lnSpc>
              <a:spcBef>
                <a:spcPct val="0"/>
              </a:spcBef>
            </a:pPr>
            <a:endParaRPr lang="en-US" sz="3999">
              <a:solidFill>
                <a:srgbClr val="7A7A7C"/>
              </a:solidFill>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2305162" y="2168868"/>
            <a:ext cx="5848238" cy="811530"/>
          </a:xfrm>
          <a:prstGeom prst="rect">
            <a:avLst/>
          </a:prstGeom>
        </p:spPr>
        <p:txBody>
          <a:bodyPr wrap="square" lIns="0" tIns="0" rIns="0" bIns="0" rtlCol="0" anchor="t">
            <a:spAutoFit/>
          </a:bodyPr>
          <a:lstStyle/>
          <a:p>
            <a:pPr algn="ctr">
              <a:lnSpc>
                <a:spcPts val="6720"/>
              </a:lnSpc>
              <a:spcBef>
                <a:spcPct val="0"/>
              </a:spcBef>
            </a:pPr>
            <a:r>
              <a:rPr lang="en-US" sz="4800" b="1" dirty="0">
                <a:solidFill>
                  <a:srgbClr val="7A7A7C"/>
                </a:solidFill>
                <a:latin typeface="Open Sans Bold"/>
                <a:ea typeface="Open Sans Bold"/>
                <a:cs typeface="Open Sans Bold"/>
                <a:sym typeface="Open Sans Bold"/>
              </a:rPr>
              <a:t>Data and Features</a:t>
            </a:r>
          </a:p>
        </p:txBody>
      </p:sp>
      <p:sp>
        <p:nvSpPr>
          <p:cNvPr id="14" name="TextBox 14"/>
          <p:cNvSpPr txBox="1"/>
          <p:nvPr/>
        </p:nvSpPr>
        <p:spPr>
          <a:xfrm>
            <a:off x="2286112" y="3018498"/>
            <a:ext cx="13291788" cy="6644821"/>
          </a:xfrm>
          <a:prstGeom prst="rect">
            <a:avLst/>
          </a:prstGeom>
        </p:spPr>
        <p:txBody>
          <a:bodyPr lIns="0" tIns="0" rIns="0" bIns="0" rtlCol="0" anchor="t">
            <a:spAutoFit/>
          </a:bodyPr>
          <a:lstStyle/>
          <a:p>
            <a:pPr algn="l">
              <a:lnSpc>
                <a:spcPts val="4735"/>
              </a:lnSpc>
              <a:spcBef>
                <a:spcPct val="0"/>
              </a:spcBef>
            </a:pPr>
            <a:r>
              <a:rPr lang="en-US" sz="3382">
                <a:solidFill>
                  <a:srgbClr val="7A7A7C"/>
                </a:solidFill>
                <a:latin typeface="Open Sans"/>
                <a:ea typeface="Open Sans"/>
                <a:cs typeface="Open Sans"/>
                <a:sym typeface="Open Sans"/>
              </a:rPr>
              <a:t>The project utilizes a dataset derived from well logs. The dataset includes logs under the following headers :</a:t>
            </a:r>
          </a:p>
          <a:p>
            <a:pPr marL="730346" lvl="1" indent="-365173" algn="just">
              <a:lnSpc>
                <a:spcPts val="4735"/>
              </a:lnSpc>
              <a:spcBef>
                <a:spcPct val="0"/>
              </a:spcBef>
              <a:buFont typeface="Arial"/>
              <a:buChar char="•"/>
            </a:pPr>
            <a:r>
              <a:rPr lang="en-US" sz="3382">
                <a:solidFill>
                  <a:srgbClr val="7A7A7C"/>
                </a:solidFill>
                <a:latin typeface="Open Sans"/>
                <a:ea typeface="Open Sans"/>
                <a:cs typeface="Open Sans"/>
                <a:sym typeface="Open Sans"/>
              </a:rPr>
              <a:t>Depth (DEPT[M])</a:t>
            </a:r>
          </a:p>
          <a:p>
            <a:pPr marL="730346" lvl="1" indent="-365173" algn="just">
              <a:lnSpc>
                <a:spcPts val="4735"/>
              </a:lnSpc>
              <a:spcBef>
                <a:spcPct val="0"/>
              </a:spcBef>
              <a:buFont typeface="Arial"/>
              <a:buChar char="•"/>
            </a:pPr>
            <a:r>
              <a:rPr lang="en-US" sz="3382">
                <a:solidFill>
                  <a:srgbClr val="7A7A7C"/>
                </a:solidFill>
                <a:latin typeface="Open Sans"/>
                <a:ea typeface="Open Sans"/>
                <a:cs typeface="Open Sans"/>
                <a:sym typeface="Open Sans"/>
              </a:rPr>
              <a:t>Caliper (CALIPER[MM])</a:t>
            </a:r>
          </a:p>
          <a:p>
            <a:pPr marL="730346" lvl="1" indent="-365173" algn="just">
              <a:lnSpc>
                <a:spcPts val="4735"/>
              </a:lnSpc>
              <a:spcBef>
                <a:spcPct val="0"/>
              </a:spcBef>
              <a:buFont typeface="Arial"/>
              <a:buChar char="•"/>
            </a:pPr>
            <a:r>
              <a:rPr lang="en-US" sz="3382">
                <a:solidFill>
                  <a:srgbClr val="7A7A7C"/>
                </a:solidFill>
                <a:latin typeface="Open Sans"/>
                <a:ea typeface="Open Sans"/>
                <a:cs typeface="Open Sans"/>
                <a:sym typeface="Open Sans"/>
              </a:rPr>
              <a:t>Density (DEN[GM/CC])</a:t>
            </a:r>
          </a:p>
          <a:p>
            <a:pPr marL="730346" lvl="1" indent="-365173" algn="just">
              <a:lnSpc>
                <a:spcPts val="4735"/>
              </a:lnSpc>
              <a:spcBef>
                <a:spcPct val="0"/>
              </a:spcBef>
              <a:buFont typeface="Arial"/>
              <a:buChar char="•"/>
            </a:pPr>
            <a:r>
              <a:rPr lang="en-US" sz="3382">
                <a:solidFill>
                  <a:srgbClr val="7A7A7C"/>
                </a:solidFill>
                <a:latin typeface="Open Sans"/>
                <a:ea typeface="Open Sans"/>
                <a:cs typeface="Open Sans"/>
                <a:sym typeface="Open Sans"/>
              </a:rPr>
              <a:t>Resistivity (RES(64N), RES[OHM])</a:t>
            </a:r>
          </a:p>
          <a:p>
            <a:pPr marL="730346" lvl="1" indent="-365173" algn="just">
              <a:lnSpc>
                <a:spcPts val="4735"/>
              </a:lnSpc>
              <a:spcBef>
                <a:spcPct val="0"/>
              </a:spcBef>
              <a:buFont typeface="Arial"/>
              <a:buChar char="•"/>
            </a:pPr>
            <a:r>
              <a:rPr lang="en-US" sz="3382">
                <a:solidFill>
                  <a:srgbClr val="7A7A7C"/>
                </a:solidFill>
                <a:latin typeface="Open Sans"/>
                <a:ea typeface="Open Sans"/>
                <a:cs typeface="Open Sans"/>
                <a:sym typeface="Open Sans"/>
              </a:rPr>
              <a:t>Spontaneous Potential (SP[MV])</a:t>
            </a:r>
          </a:p>
          <a:p>
            <a:pPr marL="730346" lvl="1" indent="-365173" algn="just">
              <a:lnSpc>
                <a:spcPts val="4735"/>
              </a:lnSpc>
              <a:spcBef>
                <a:spcPct val="0"/>
              </a:spcBef>
              <a:buFont typeface="Arial"/>
              <a:buChar char="•"/>
            </a:pPr>
            <a:r>
              <a:rPr lang="en-US" sz="3382">
                <a:solidFill>
                  <a:srgbClr val="7A7A7C"/>
                </a:solidFill>
                <a:latin typeface="Open Sans"/>
                <a:ea typeface="Open Sans"/>
                <a:cs typeface="Open Sans"/>
                <a:sym typeface="Open Sans"/>
              </a:rPr>
              <a:t>Gamma Ray (GAM[API])</a:t>
            </a:r>
          </a:p>
          <a:p>
            <a:pPr marL="730346" lvl="1" indent="-365173" algn="just">
              <a:lnSpc>
                <a:spcPts val="4735"/>
              </a:lnSpc>
              <a:spcBef>
                <a:spcPct val="0"/>
              </a:spcBef>
              <a:buFont typeface="Arial"/>
              <a:buChar char="•"/>
            </a:pPr>
            <a:r>
              <a:rPr lang="en-US" sz="3382">
                <a:solidFill>
                  <a:srgbClr val="7A7A7C"/>
                </a:solidFill>
                <a:latin typeface="Open Sans"/>
                <a:ea typeface="Open Sans"/>
                <a:cs typeface="Open Sans"/>
                <a:sym typeface="Open Sans"/>
              </a:rPr>
              <a:t>Lithology Description</a:t>
            </a:r>
          </a:p>
          <a:p>
            <a:pPr marL="730346" lvl="1" indent="-365173" algn="just">
              <a:lnSpc>
                <a:spcPts val="4735"/>
              </a:lnSpc>
              <a:spcBef>
                <a:spcPct val="0"/>
              </a:spcBef>
              <a:buFont typeface="Arial"/>
              <a:buChar char="•"/>
            </a:pPr>
            <a:r>
              <a:rPr lang="en-US" sz="3382">
                <a:solidFill>
                  <a:srgbClr val="7A7A7C"/>
                </a:solidFill>
                <a:latin typeface="Open Sans"/>
                <a:ea typeface="Open Sans"/>
                <a:cs typeface="Open Sans"/>
                <a:sym typeface="Open Sans"/>
              </a:rPr>
              <a:t>Formation and Lithology</a:t>
            </a:r>
          </a:p>
          <a:p>
            <a:pPr algn="ctr">
              <a:lnSpc>
                <a:spcPts val="5571"/>
              </a:lnSpc>
              <a:spcBef>
                <a:spcPct val="0"/>
              </a:spcBef>
            </a:pPr>
            <a:endParaRPr lang="en-US" sz="3382">
              <a:solidFill>
                <a:srgbClr val="7A7A7C"/>
              </a:solidFill>
              <a:latin typeface="Open Sans"/>
              <a:ea typeface="Open Sans"/>
              <a:cs typeface="Open Sans"/>
              <a:sym typeface="Open Sans"/>
            </a:endParaRPr>
          </a:p>
        </p:txBody>
      </p:sp>
      <p:sp>
        <p:nvSpPr>
          <p:cNvPr id="15" name="TextBox 15"/>
          <p:cNvSpPr txBox="1"/>
          <p:nvPr/>
        </p:nvSpPr>
        <p:spPr>
          <a:xfrm>
            <a:off x="1569057" y="923925"/>
            <a:ext cx="7063979" cy="863600"/>
          </a:xfrm>
          <a:prstGeom prst="rect">
            <a:avLst/>
          </a:prstGeom>
        </p:spPr>
        <p:txBody>
          <a:bodyPr lIns="0" tIns="0" rIns="0" bIns="0" rtlCol="0" anchor="t">
            <a:spAutoFit/>
          </a:bodyPr>
          <a:lstStyle/>
          <a:p>
            <a:pPr algn="ctr">
              <a:lnSpc>
                <a:spcPts val="7000"/>
              </a:lnSpc>
              <a:spcBef>
                <a:spcPct val="0"/>
              </a:spcBef>
            </a:pPr>
            <a:r>
              <a:rPr lang="en-US" sz="5000" b="1">
                <a:solidFill>
                  <a:srgbClr val="000000"/>
                </a:solidFill>
                <a:latin typeface="Open Sans Bold"/>
                <a:ea typeface="Open Sans Bold"/>
                <a:cs typeface="Open Sans Bold"/>
                <a:sym typeface="Open Sans Bold"/>
              </a:rPr>
              <a:t>Materials &amp; Methods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2111682" y="1987721"/>
            <a:ext cx="8034338" cy="811530"/>
          </a:xfrm>
          <a:prstGeom prst="rect">
            <a:avLst/>
          </a:prstGeom>
        </p:spPr>
        <p:txBody>
          <a:bodyPr lIns="0" tIns="0" rIns="0" bIns="0" rtlCol="0" anchor="t">
            <a:spAutoFit/>
          </a:bodyPr>
          <a:lstStyle/>
          <a:p>
            <a:pPr algn="ctr">
              <a:lnSpc>
                <a:spcPts val="6720"/>
              </a:lnSpc>
              <a:spcBef>
                <a:spcPct val="0"/>
              </a:spcBef>
            </a:pPr>
            <a:r>
              <a:rPr lang="en-US" sz="4800" b="1">
                <a:solidFill>
                  <a:srgbClr val="7A7A7C"/>
                </a:solidFill>
                <a:latin typeface="Open Sans Bold"/>
                <a:ea typeface="Open Sans Bold"/>
                <a:cs typeface="Open Sans Bold"/>
                <a:sym typeface="Open Sans Bold"/>
              </a:rPr>
              <a:t>Uniquely Identified Facies </a:t>
            </a:r>
          </a:p>
        </p:txBody>
      </p:sp>
      <p:sp>
        <p:nvSpPr>
          <p:cNvPr id="14" name="TextBox 14"/>
          <p:cNvSpPr txBox="1"/>
          <p:nvPr/>
        </p:nvSpPr>
        <p:spPr>
          <a:xfrm>
            <a:off x="2286112" y="3008973"/>
            <a:ext cx="13291788" cy="4204214"/>
          </a:xfrm>
          <a:prstGeom prst="rect">
            <a:avLst/>
          </a:prstGeom>
        </p:spPr>
        <p:txBody>
          <a:bodyPr lIns="0" tIns="0" rIns="0" bIns="0" rtlCol="0" anchor="t">
            <a:spAutoFit/>
          </a:bodyPr>
          <a:lstStyle/>
          <a:p>
            <a:pPr marL="859227" lvl="1" indent="-429614" algn="l">
              <a:lnSpc>
                <a:spcPts val="5571"/>
              </a:lnSpc>
              <a:buFont typeface="Arial"/>
              <a:buChar char="•"/>
            </a:pPr>
            <a:r>
              <a:rPr lang="en-US" sz="3979">
                <a:solidFill>
                  <a:srgbClr val="7A7A7C"/>
                </a:solidFill>
                <a:latin typeface="Open Sans"/>
                <a:ea typeface="Open Sans"/>
                <a:cs typeface="Open Sans"/>
                <a:sym typeface="Open Sans"/>
              </a:rPr>
              <a:t>Sandstone - SST</a:t>
            </a:r>
          </a:p>
          <a:p>
            <a:pPr marL="859227" lvl="1" indent="-429614" algn="l">
              <a:lnSpc>
                <a:spcPts val="5571"/>
              </a:lnSpc>
              <a:buFont typeface="Arial"/>
              <a:buChar char="•"/>
            </a:pPr>
            <a:r>
              <a:rPr lang="en-US" sz="3979">
                <a:solidFill>
                  <a:srgbClr val="7A7A7C"/>
                </a:solidFill>
                <a:latin typeface="Open Sans"/>
                <a:ea typeface="Open Sans"/>
                <a:cs typeface="Open Sans"/>
                <a:sym typeface="Open Sans"/>
              </a:rPr>
              <a:t>Shaly Sandstone - ss</a:t>
            </a:r>
          </a:p>
          <a:p>
            <a:pPr marL="859227" lvl="1" indent="-429614" algn="l">
              <a:lnSpc>
                <a:spcPts val="5571"/>
              </a:lnSpc>
              <a:buFont typeface="Arial"/>
              <a:buChar char="•"/>
            </a:pPr>
            <a:r>
              <a:rPr lang="en-US" sz="3979">
                <a:solidFill>
                  <a:srgbClr val="7A7A7C"/>
                </a:solidFill>
                <a:latin typeface="Open Sans"/>
                <a:ea typeface="Open Sans"/>
                <a:cs typeface="Open Sans"/>
                <a:sym typeface="Open Sans"/>
              </a:rPr>
              <a:t>Dark Grey Shale - dgs</a:t>
            </a:r>
          </a:p>
          <a:p>
            <a:pPr marL="859227" lvl="1" indent="-429614" algn="l">
              <a:lnSpc>
                <a:spcPts val="5571"/>
              </a:lnSpc>
              <a:buFont typeface="Arial"/>
              <a:buChar char="•"/>
            </a:pPr>
            <a:r>
              <a:rPr lang="en-US" sz="3979">
                <a:solidFill>
                  <a:srgbClr val="7A7A7C"/>
                </a:solidFill>
                <a:latin typeface="Open Sans"/>
                <a:ea typeface="Open Sans"/>
                <a:cs typeface="Open Sans"/>
                <a:sym typeface="Open Sans"/>
              </a:rPr>
              <a:t>Gray Shale - gs</a:t>
            </a:r>
          </a:p>
          <a:p>
            <a:pPr marL="859227" lvl="1" indent="-429614" algn="l">
              <a:lnSpc>
                <a:spcPts val="5571"/>
              </a:lnSpc>
              <a:buFont typeface="Arial"/>
              <a:buChar char="•"/>
            </a:pPr>
            <a:r>
              <a:rPr lang="en-US" sz="3979">
                <a:solidFill>
                  <a:srgbClr val="7A7A7C"/>
                </a:solidFill>
                <a:latin typeface="Open Sans"/>
                <a:ea typeface="Open Sans"/>
                <a:cs typeface="Open Sans"/>
                <a:sym typeface="Open Sans"/>
              </a:rPr>
              <a:t>Carb Shale </a:t>
            </a:r>
          </a:p>
          <a:p>
            <a:pPr marL="859227" lvl="1" indent="-429614" algn="l">
              <a:lnSpc>
                <a:spcPts val="5571"/>
              </a:lnSpc>
              <a:buFont typeface="Arial"/>
              <a:buChar char="•"/>
            </a:pPr>
            <a:r>
              <a:rPr lang="en-US" sz="3979">
                <a:solidFill>
                  <a:srgbClr val="7A7A7C"/>
                </a:solidFill>
                <a:latin typeface="Open Sans"/>
                <a:ea typeface="Open Sans"/>
                <a:cs typeface="Open Sans"/>
                <a:sym typeface="Open Sans"/>
              </a:rPr>
              <a:t>coal</a:t>
            </a:r>
          </a:p>
        </p:txBody>
      </p:sp>
      <p:sp>
        <p:nvSpPr>
          <p:cNvPr id="15" name="TextBox 15"/>
          <p:cNvSpPr txBox="1"/>
          <p:nvPr/>
        </p:nvSpPr>
        <p:spPr>
          <a:xfrm>
            <a:off x="1569057" y="923925"/>
            <a:ext cx="7063979" cy="863600"/>
          </a:xfrm>
          <a:prstGeom prst="rect">
            <a:avLst/>
          </a:prstGeom>
        </p:spPr>
        <p:txBody>
          <a:bodyPr lIns="0" tIns="0" rIns="0" bIns="0" rtlCol="0" anchor="t">
            <a:spAutoFit/>
          </a:bodyPr>
          <a:lstStyle/>
          <a:p>
            <a:pPr algn="ctr">
              <a:lnSpc>
                <a:spcPts val="7000"/>
              </a:lnSpc>
              <a:spcBef>
                <a:spcPct val="0"/>
              </a:spcBef>
            </a:pPr>
            <a:r>
              <a:rPr lang="en-US" sz="5000" b="1">
                <a:solidFill>
                  <a:srgbClr val="000000"/>
                </a:solidFill>
                <a:latin typeface="Open Sans Bold"/>
                <a:ea typeface="Open Sans Bold"/>
                <a:cs typeface="Open Sans Bold"/>
                <a:sym typeface="Open Sans Bold"/>
              </a:rPr>
              <a:t>Materials &amp; Methods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3181830" y="2345813"/>
            <a:ext cx="11316588" cy="6747516"/>
          </a:xfrm>
          <a:custGeom>
            <a:avLst/>
            <a:gdLst/>
            <a:ahLst/>
            <a:cxnLst/>
            <a:rect l="l" t="t" r="r" b="b"/>
            <a:pathLst>
              <a:path w="11316588" h="6747516">
                <a:moveTo>
                  <a:pt x="0" y="0"/>
                </a:moveTo>
                <a:lnTo>
                  <a:pt x="11316588" y="0"/>
                </a:lnTo>
                <a:lnTo>
                  <a:pt x="11316588" y="6747515"/>
                </a:lnTo>
                <a:lnTo>
                  <a:pt x="0" y="6747515"/>
                </a:lnTo>
                <a:lnTo>
                  <a:pt x="0" y="0"/>
                </a:lnTo>
                <a:close/>
              </a:path>
            </a:pathLst>
          </a:custGeom>
          <a:blipFill>
            <a:blip r:embed="rId3"/>
            <a:stretch>
              <a:fillRect/>
            </a:stretch>
          </a:blipFill>
        </p:spPr>
      </p:sp>
      <p:sp>
        <p:nvSpPr>
          <p:cNvPr id="14" name="TextBox 14"/>
          <p:cNvSpPr txBox="1"/>
          <p:nvPr/>
        </p:nvSpPr>
        <p:spPr>
          <a:xfrm>
            <a:off x="1781559" y="1103415"/>
            <a:ext cx="14059981" cy="863600"/>
          </a:xfrm>
          <a:prstGeom prst="rect">
            <a:avLst/>
          </a:prstGeom>
        </p:spPr>
        <p:txBody>
          <a:bodyPr lIns="0" tIns="0" rIns="0" bIns="0" rtlCol="0" anchor="t">
            <a:spAutoFit/>
          </a:bodyPr>
          <a:lstStyle/>
          <a:p>
            <a:pPr algn="ctr">
              <a:lnSpc>
                <a:spcPts val="7000"/>
              </a:lnSpc>
              <a:spcBef>
                <a:spcPct val="0"/>
              </a:spcBef>
            </a:pPr>
            <a:r>
              <a:rPr lang="en-US" sz="5000" b="1">
                <a:solidFill>
                  <a:srgbClr val="000000"/>
                </a:solidFill>
                <a:latin typeface="Open Sans Bold"/>
                <a:ea typeface="Open Sans Bold"/>
                <a:cs typeface="Open Sans Bold"/>
                <a:sym typeface="Open Sans Bold"/>
              </a:rPr>
              <a:t>WELL-1 Facies Distribution by Formation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3074038" y="2416317"/>
            <a:ext cx="11475024" cy="6841983"/>
          </a:xfrm>
          <a:custGeom>
            <a:avLst/>
            <a:gdLst/>
            <a:ahLst/>
            <a:cxnLst/>
            <a:rect l="l" t="t" r="r" b="b"/>
            <a:pathLst>
              <a:path w="11475024" h="6841983">
                <a:moveTo>
                  <a:pt x="0" y="0"/>
                </a:moveTo>
                <a:lnTo>
                  <a:pt x="11475023" y="0"/>
                </a:lnTo>
                <a:lnTo>
                  <a:pt x="11475023" y="6841983"/>
                </a:lnTo>
                <a:lnTo>
                  <a:pt x="0" y="6841983"/>
                </a:lnTo>
                <a:lnTo>
                  <a:pt x="0" y="0"/>
                </a:lnTo>
                <a:close/>
              </a:path>
            </a:pathLst>
          </a:custGeom>
          <a:blipFill>
            <a:blip r:embed="rId3"/>
            <a:stretch>
              <a:fillRect/>
            </a:stretch>
          </a:blipFill>
        </p:spPr>
      </p:sp>
      <p:sp>
        <p:nvSpPr>
          <p:cNvPr id="14" name="TextBox 14"/>
          <p:cNvSpPr txBox="1"/>
          <p:nvPr/>
        </p:nvSpPr>
        <p:spPr>
          <a:xfrm>
            <a:off x="1781559" y="1103415"/>
            <a:ext cx="14059981" cy="863600"/>
          </a:xfrm>
          <a:prstGeom prst="rect">
            <a:avLst/>
          </a:prstGeom>
        </p:spPr>
        <p:txBody>
          <a:bodyPr lIns="0" tIns="0" rIns="0" bIns="0" rtlCol="0" anchor="t">
            <a:spAutoFit/>
          </a:bodyPr>
          <a:lstStyle/>
          <a:p>
            <a:pPr algn="ctr">
              <a:lnSpc>
                <a:spcPts val="7000"/>
              </a:lnSpc>
              <a:spcBef>
                <a:spcPct val="0"/>
              </a:spcBef>
            </a:pPr>
            <a:r>
              <a:rPr lang="en-US" sz="5000" b="1">
                <a:solidFill>
                  <a:srgbClr val="000000"/>
                </a:solidFill>
                <a:latin typeface="Open Sans Bold"/>
                <a:ea typeface="Open Sans Bold"/>
                <a:cs typeface="Open Sans Bold"/>
                <a:sym typeface="Open Sans Bold"/>
              </a:rPr>
              <a:t>WELL-2 Facies Distribution by Formation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2886854" y="2352829"/>
            <a:ext cx="11849391" cy="7065200"/>
          </a:xfrm>
          <a:custGeom>
            <a:avLst/>
            <a:gdLst/>
            <a:ahLst/>
            <a:cxnLst/>
            <a:rect l="l" t="t" r="r" b="b"/>
            <a:pathLst>
              <a:path w="11849391" h="7065200">
                <a:moveTo>
                  <a:pt x="0" y="0"/>
                </a:moveTo>
                <a:lnTo>
                  <a:pt x="11849391" y="0"/>
                </a:lnTo>
                <a:lnTo>
                  <a:pt x="11849391" y="7065200"/>
                </a:lnTo>
                <a:lnTo>
                  <a:pt x="0" y="7065200"/>
                </a:lnTo>
                <a:lnTo>
                  <a:pt x="0" y="0"/>
                </a:lnTo>
                <a:close/>
              </a:path>
            </a:pathLst>
          </a:custGeom>
          <a:blipFill>
            <a:blip r:embed="rId3"/>
            <a:stretch>
              <a:fillRect/>
            </a:stretch>
          </a:blipFill>
        </p:spPr>
      </p:sp>
      <p:sp>
        <p:nvSpPr>
          <p:cNvPr id="14" name="TextBox 14"/>
          <p:cNvSpPr txBox="1"/>
          <p:nvPr/>
        </p:nvSpPr>
        <p:spPr>
          <a:xfrm>
            <a:off x="1781559" y="1103415"/>
            <a:ext cx="14059981" cy="863600"/>
          </a:xfrm>
          <a:prstGeom prst="rect">
            <a:avLst/>
          </a:prstGeom>
        </p:spPr>
        <p:txBody>
          <a:bodyPr lIns="0" tIns="0" rIns="0" bIns="0" rtlCol="0" anchor="t">
            <a:spAutoFit/>
          </a:bodyPr>
          <a:lstStyle/>
          <a:p>
            <a:pPr algn="ctr">
              <a:lnSpc>
                <a:spcPts val="7000"/>
              </a:lnSpc>
              <a:spcBef>
                <a:spcPct val="0"/>
              </a:spcBef>
            </a:pPr>
            <a:r>
              <a:rPr lang="en-US" sz="5000" b="1">
                <a:solidFill>
                  <a:srgbClr val="000000"/>
                </a:solidFill>
                <a:latin typeface="Open Sans Bold"/>
                <a:ea typeface="Open Sans Bold"/>
                <a:cs typeface="Open Sans Bold"/>
                <a:sym typeface="Open Sans Bold"/>
              </a:rPr>
              <a:t>WELL-3 Facies Distribution by Formation</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3561536" y="2294925"/>
            <a:ext cx="11164929" cy="6657089"/>
          </a:xfrm>
          <a:custGeom>
            <a:avLst/>
            <a:gdLst/>
            <a:ahLst/>
            <a:cxnLst/>
            <a:rect l="l" t="t" r="r" b="b"/>
            <a:pathLst>
              <a:path w="11164929" h="6657089">
                <a:moveTo>
                  <a:pt x="0" y="0"/>
                </a:moveTo>
                <a:lnTo>
                  <a:pt x="11164928" y="0"/>
                </a:lnTo>
                <a:lnTo>
                  <a:pt x="11164928" y="6657089"/>
                </a:lnTo>
                <a:lnTo>
                  <a:pt x="0" y="6657089"/>
                </a:lnTo>
                <a:lnTo>
                  <a:pt x="0" y="0"/>
                </a:lnTo>
                <a:close/>
              </a:path>
            </a:pathLst>
          </a:custGeom>
          <a:blipFill>
            <a:blip r:embed="rId3"/>
            <a:stretch>
              <a:fillRect/>
            </a:stretch>
          </a:blipFill>
        </p:spPr>
      </p:sp>
      <p:sp>
        <p:nvSpPr>
          <p:cNvPr id="14" name="TextBox 14"/>
          <p:cNvSpPr txBox="1"/>
          <p:nvPr/>
        </p:nvSpPr>
        <p:spPr>
          <a:xfrm>
            <a:off x="1781559" y="1103415"/>
            <a:ext cx="14059981" cy="863600"/>
          </a:xfrm>
          <a:prstGeom prst="rect">
            <a:avLst/>
          </a:prstGeom>
        </p:spPr>
        <p:txBody>
          <a:bodyPr lIns="0" tIns="0" rIns="0" bIns="0" rtlCol="0" anchor="t">
            <a:spAutoFit/>
          </a:bodyPr>
          <a:lstStyle/>
          <a:p>
            <a:pPr algn="ctr">
              <a:lnSpc>
                <a:spcPts val="7000"/>
              </a:lnSpc>
              <a:spcBef>
                <a:spcPct val="0"/>
              </a:spcBef>
            </a:pPr>
            <a:r>
              <a:rPr lang="en-US" sz="5000" b="1">
                <a:solidFill>
                  <a:srgbClr val="000000"/>
                </a:solidFill>
                <a:latin typeface="Open Sans Bold"/>
                <a:ea typeface="Open Sans Bold"/>
                <a:cs typeface="Open Sans Bold"/>
                <a:sym typeface="Open Sans Bold"/>
              </a:rPr>
              <a:t>WELL-4 Facies Distribution by Formation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5621075" y="3732212"/>
            <a:ext cx="666607" cy="283611"/>
          </a:xfrm>
          <a:custGeom>
            <a:avLst/>
            <a:gdLst/>
            <a:ahLst/>
            <a:cxnLst/>
            <a:rect l="l" t="t" r="r" b="b"/>
            <a:pathLst>
              <a:path w="666607" h="283611">
                <a:moveTo>
                  <a:pt x="0" y="0"/>
                </a:moveTo>
                <a:lnTo>
                  <a:pt x="666607" y="0"/>
                </a:lnTo>
                <a:lnTo>
                  <a:pt x="666607" y="283611"/>
                </a:lnTo>
                <a:lnTo>
                  <a:pt x="0" y="28361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4" name="TextBox 14"/>
          <p:cNvSpPr txBox="1"/>
          <p:nvPr/>
        </p:nvSpPr>
        <p:spPr>
          <a:xfrm>
            <a:off x="6468054" y="2967263"/>
            <a:ext cx="5351893" cy="3068670"/>
          </a:xfrm>
          <a:prstGeom prst="rect">
            <a:avLst/>
          </a:prstGeom>
        </p:spPr>
        <p:txBody>
          <a:bodyPr lIns="0" tIns="0" rIns="0" bIns="0" rtlCol="0" anchor="t">
            <a:spAutoFit/>
          </a:bodyPr>
          <a:lstStyle/>
          <a:p>
            <a:pPr marL="633927" lvl="1" indent="-316963" algn="l">
              <a:lnSpc>
                <a:spcPts val="4110"/>
              </a:lnSpc>
              <a:buFont typeface="Arial"/>
              <a:buChar char="•"/>
            </a:pPr>
            <a:r>
              <a:rPr lang="en-US" sz="2936">
                <a:solidFill>
                  <a:srgbClr val="7A7A7C"/>
                </a:solidFill>
                <a:latin typeface="Open Sans"/>
                <a:ea typeface="Open Sans"/>
                <a:cs typeface="Open Sans"/>
                <a:sym typeface="Open Sans"/>
              </a:rPr>
              <a:t>Reclassification of 1000+ lithology into 6 facies</a:t>
            </a:r>
          </a:p>
          <a:p>
            <a:pPr marL="633927" lvl="1" indent="-316963" algn="l">
              <a:lnSpc>
                <a:spcPts val="4110"/>
              </a:lnSpc>
              <a:buFont typeface="Arial"/>
              <a:buChar char="•"/>
            </a:pPr>
            <a:r>
              <a:rPr lang="en-US" sz="2936">
                <a:solidFill>
                  <a:srgbClr val="7A7A7C"/>
                </a:solidFill>
                <a:latin typeface="Open Sans"/>
                <a:ea typeface="Open Sans"/>
                <a:cs typeface="Open Sans"/>
                <a:sym typeface="Open Sans"/>
              </a:rPr>
              <a:t>Removing NULL values</a:t>
            </a:r>
          </a:p>
          <a:p>
            <a:pPr marL="633927" lvl="1" indent="-316963" algn="l">
              <a:lnSpc>
                <a:spcPts val="4110"/>
              </a:lnSpc>
              <a:buFont typeface="Arial"/>
              <a:buChar char="•"/>
            </a:pPr>
            <a:r>
              <a:rPr lang="en-US" sz="2936">
                <a:solidFill>
                  <a:srgbClr val="7A7A7C"/>
                </a:solidFill>
                <a:latin typeface="Open Sans"/>
                <a:ea typeface="Open Sans"/>
                <a:cs typeface="Open Sans"/>
                <a:sym typeface="Open Sans"/>
              </a:rPr>
              <a:t>Min Max Scaling for numeric columns  </a:t>
            </a:r>
          </a:p>
          <a:p>
            <a:pPr algn="l">
              <a:lnSpc>
                <a:spcPts val="4110"/>
              </a:lnSpc>
            </a:pPr>
            <a:endParaRPr lang="en-US" sz="2936">
              <a:solidFill>
                <a:srgbClr val="7A7A7C"/>
              </a:solidFill>
              <a:latin typeface="Open Sans"/>
              <a:ea typeface="Open Sans"/>
              <a:cs typeface="Open Sans"/>
              <a:sym typeface="Open Sans"/>
            </a:endParaRPr>
          </a:p>
        </p:txBody>
      </p:sp>
      <p:sp>
        <p:nvSpPr>
          <p:cNvPr id="15" name="Freeform 15"/>
          <p:cNvSpPr/>
          <p:nvPr/>
        </p:nvSpPr>
        <p:spPr>
          <a:xfrm>
            <a:off x="11440188" y="3732212"/>
            <a:ext cx="666607" cy="283611"/>
          </a:xfrm>
          <a:custGeom>
            <a:avLst/>
            <a:gdLst/>
            <a:ahLst/>
            <a:cxnLst/>
            <a:rect l="l" t="t" r="r" b="b"/>
            <a:pathLst>
              <a:path w="666607" h="283611">
                <a:moveTo>
                  <a:pt x="0" y="0"/>
                </a:moveTo>
                <a:lnTo>
                  <a:pt x="666606" y="0"/>
                </a:lnTo>
                <a:lnTo>
                  <a:pt x="666606" y="283611"/>
                </a:lnTo>
                <a:lnTo>
                  <a:pt x="0" y="28361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16" name="TextBox 16"/>
          <p:cNvSpPr txBox="1"/>
          <p:nvPr/>
        </p:nvSpPr>
        <p:spPr>
          <a:xfrm>
            <a:off x="5498736" y="727872"/>
            <a:ext cx="7226664" cy="880110"/>
          </a:xfrm>
          <a:prstGeom prst="rect">
            <a:avLst/>
          </a:prstGeom>
        </p:spPr>
        <p:txBody>
          <a:bodyPr wrap="square" lIns="0" tIns="0" rIns="0" bIns="0" rtlCol="0" anchor="t">
            <a:spAutoFit/>
          </a:bodyPr>
          <a:lstStyle/>
          <a:p>
            <a:pPr algn="ctr">
              <a:lnSpc>
                <a:spcPts val="7139"/>
              </a:lnSpc>
              <a:spcBef>
                <a:spcPct val="0"/>
              </a:spcBef>
            </a:pPr>
            <a:r>
              <a:rPr lang="en-US" sz="5100" b="1" dirty="0">
                <a:solidFill>
                  <a:srgbClr val="000000"/>
                </a:solidFill>
                <a:latin typeface="Open Sans Bold"/>
                <a:ea typeface="Open Sans Bold"/>
                <a:cs typeface="Open Sans Bold"/>
                <a:sym typeface="Open Sans Bold"/>
              </a:rPr>
              <a:t>Modelling Approach</a:t>
            </a:r>
          </a:p>
        </p:txBody>
      </p:sp>
      <p:sp>
        <p:nvSpPr>
          <p:cNvPr id="17" name="TextBox 17"/>
          <p:cNvSpPr txBox="1"/>
          <p:nvPr/>
        </p:nvSpPr>
        <p:spPr>
          <a:xfrm>
            <a:off x="1723961" y="2271815"/>
            <a:ext cx="1487587" cy="514349"/>
          </a:xfrm>
          <a:prstGeom prst="rect">
            <a:avLst/>
          </a:prstGeom>
        </p:spPr>
        <p:txBody>
          <a:bodyPr lIns="0" tIns="0" rIns="0" bIns="0" rtlCol="0" anchor="t">
            <a:spAutoFit/>
          </a:bodyPr>
          <a:lstStyle/>
          <a:p>
            <a:pPr algn="ctr">
              <a:lnSpc>
                <a:spcPts val="4200"/>
              </a:lnSpc>
              <a:spcBef>
                <a:spcPct val="0"/>
              </a:spcBef>
            </a:pPr>
            <a:r>
              <a:rPr lang="en-US" sz="3000" b="1">
                <a:solidFill>
                  <a:srgbClr val="7A7A7C"/>
                </a:solidFill>
                <a:latin typeface="Open Sans Bold"/>
                <a:ea typeface="Open Sans Bold"/>
                <a:cs typeface="Open Sans Bold"/>
                <a:sym typeface="Open Sans Bold"/>
              </a:rPr>
              <a:t>Dataset</a:t>
            </a:r>
          </a:p>
        </p:txBody>
      </p:sp>
      <p:sp>
        <p:nvSpPr>
          <p:cNvPr id="18" name="TextBox 18"/>
          <p:cNvSpPr txBox="1"/>
          <p:nvPr/>
        </p:nvSpPr>
        <p:spPr>
          <a:xfrm>
            <a:off x="1784683" y="3107310"/>
            <a:ext cx="3836392" cy="1525620"/>
          </a:xfrm>
          <a:prstGeom prst="rect">
            <a:avLst/>
          </a:prstGeom>
        </p:spPr>
        <p:txBody>
          <a:bodyPr lIns="0" tIns="0" rIns="0" bIns="0" rtlCol="0" anchor="t">
            <a:spAutoFit/>
          </a:bodyPr>
          <a:lstStyle/>
          <a:p>
            <a:pPr algn="l">
              <a:lnSpc>
                <a:spcPts val="4110"/>
              </a:lnSpc>
            </a:pPr>
            <a:r>
              <a:rPr lang="en-US" sz="2936">
                <a:solidFill>
                  <a:srgbClr val="7A7A7C"/>
                </a:solidFill>
                <a:latin typeface="Open Sans"/>
                <a:ea typeface="Open Sans"/>
                <a:cs typeface="Open Sans"/>
                <a:sym typeface="Open Sans"/>
              </a:rPr>
              <a:t>DEN[G/CM], RES(64N),</a:t>
            </a:r>
          </a:p>
          <a:p>
            <a:pPr algn="l">
              <a:lnSpc>
                <a:spcPts val="4110"/>
              </a:lnSpc>
            </a:pPr>
            <a:r>
              <a:rPr lang="en-US" sz="2936">
                <a:solidFill>
                  <a:srgbClr val="7A7A7C"/>
                </a:solidFill>
                <a:latin typeface="Open Sans"/>
                <a:ea typeface="Open Sans"/>
                <a:cs typeface="Open Sans"/>
                <a:sym typeface="Open Sans"/>
              </a:rPr>
              <a:t>SP[MV], GAM[API]</a:t>
            </a:r>
          </a:p>
          <a:p>
            <a:pPr algn="l">
              <a:lnSpc>
                <a:spcPts val="4110"/>
              </a:lnSpc>
              <a:spcBef>
                <a:spcPct val="0"/>
              </a:spcBef>
            </a:pPr>
            <a:r>
              <a:rPr lang="en-US" sz="2936">
                <a:solidFill>
                  <a:srgbClr val="7A7A7C"/>
                </a:solidFill>
                <a:latin typeface="Open Sans"/>
                <a:ea typeface="Open Sans"/>
                <a:cs typeface="Open Sans"/>
                <a:sym typeface="Open Sans"/>
              </a:rPr>
              <a:t>Target : Facies</a:t>
            </a:r>
          </a:p>
        </p:txBody>
      </p:sp>
      <p:sp>
        <p:nvSpPr>
          <p:cNvPr id="19" name="TextBox 19"/>
          <p:cNvSpPr txBox="1"/>
          <p:nvPr/>
        </p:nvSpPr>
        <p:spPr>
          <a:xfrm>
            <a:off x="6543328" y="2288325"/>
            <a:ext cx="3176786" cy="497839"/>
          </a:xfrm>
          <a:prstGeom prst="rect">
            <a:avLst/>
          </a:prstGeom>
        </p:spPr>
        <p:txBody>
          <a:bodyPr lIns="0" tIns="0" rIns="0" bIns="0" rtlCol="0" anchor="t">
            <a:spAutoFit/>
          </a:bodyPr>
          <a:lstStyle/>
          <a:p>
            <a:pPr algn="ctr">
              <a:lnSpc>
                <a:spcPts val="4060"/>
              </a:lnSpc>
              <a:spcBef>
                <a:spcPct val="0"/>
              </a:spcBef>
            </a:pPr>
            <a:r>
              <a:rPr lang="en-US" sz="2900" b="1">
                <a:solidFill>
                  <a:srgbClr val="7A7A7C"/>
                </a:solidFill>
                <a:latin typeface="Open Sans Bold"/>
                <a:ea typeface="Open Sans Bold"/>
                <a:cs typeface="Open Sans Bold"/>
                <a:sym typeface="Open Sans Bold"/>
              </a:rPr>
              <a:t>Data Preparation</a:t>
            </a:r>
          </a:p>
        </p:txBody>
      </p:sp>
      <p:sp>
        <p:nvSpPr>
          <p:cNvPr id="20" name="TextBox 20"/>
          <p:cNvSpPr txBox="1"/>
          <p:nvPr/>
        </p:nvSpPr>
        <p:spPr>
          <a:xfrm>
            <a:off x="12242622" y="3107310"/>
            <a:ext cx="4476320" cy="1525620"/>
          </a:xfrm>
          <a:prstGeom prst="rect">
            <a:avLst/>
          </a:prstGeom>
        </p:spPr>
        <p:txBody>
          <a:bodyPr lIns="0" tIns="0" rIns="0" bIns="0" rtlCol="0" anchor="t">
            <a:spAutoFit/>
          </a:bodyPr>
          <a:lstStyle/>
          <a:p>
            <a:pPr marL="633927" lvl="1" indent="-316963" algn="l">
              <a:lnSpc>
                <a:spcPts val="4110"/>
              </a:lnSpc>
              <a:buFont typeface="Arial"/>
              <a:buChar char="•"/>
            </a:pPr>
            <a:r>
              <a:rPr lang="en-US" sz="2936">
                <a:solidFill>
                  <a:srgbClr val="7A7A7C"/>
                </a:solidFill>
                <a:latin typeface="Open Sans"/>
                <a:ea typeface="Open Sans"/>
                <a:cs typeface="Open Sans"/>
                <a:sym typeface="Open Sans"/>
              </a:rPr>
              <a:t>80 % - Training</a:t>
            </a:r>
          </a:p>
          <a:p>
            <a:pPr marL="633927" lvl="1" indent="-316963" algn="l">
              <a:lnSpc>
                <a:spcPts val="4110"/>
              </a:lnSpc>
              <a:buFont typeface="Arial"/>
              <a:buChar char="•"/>
            </a:pPr>
            <a:r>
              <a:rPr lang="en-US" sz="2936">
                <a:solidFill>
                  <a:srgbClr val="7A7A7C"/>
                </a:solidFill>
                <a:latin typeface="Open Sans"/>
                <a:ea typeface="Open Sans"/>
                <a:cs typeface="Open Sans"/>
                <a:sym typeface="Open Sans"/>
              </a:rPr>
              <a:t>20 % - Test</a:t>
            </a:r>
          </a:p>
          <a:p>
            <a:pPr algn="l">
              <a:lnSpc>
                <a:spcPts val="4110"/>
              </a:lnSpc>
            </a:pPr>
            <a:endParaRPr lang="en-US" sz="2936">
              <a:solidFill>
                <a:srgbClr val="7A7A7C"/>
              </a:solidFill>
              <a:latin typeface="Open Sans"/>
              <a:ea typeface="Open Sans"/>
              <a:cs typeface="Open Sans"/>
              <a:sym typeface="Open Sans"/>
            </a:endParaRPr>
          </a:p>
        </p:txBody>
      </p:sp>
      <p:sp>
        <p:nvSpPr>
          <p:cNvPr id="21" name="TextBox 21"/>
          <p:cNvSpPr txBox="1"/>
          <p:nvPr/>
        </p:nvSpPr>
        <p:spPr>
          <a:xfrm>
            <a:off x="12242622" y="2288325"/>
            <a:ext cx="2743200" cy="497839"/>
          </a:xfrm>
          <a:prstGeom prst="rect">
            <a:avLst/>
          </a:prstGeom>
        </p:spPr>
        <p:txBody>
          <a:bodyPr lIns="0" tIns="0" rIns="0" bIns="0" rtlCol="0" anchor="t">
            <a:spAutoFit/>
          </a:bodyPr>
          <a:lstStyle/>
          <a:p>
            <a:pPr algn="ctr">
              <a:lnSpc>
                <a:spcPts val="4060"/>
              </a:lnSpc>
              <a:spcBef>
                <a:spcPct val="0"/>
              </a:spcBef>
            </a:pPr>
            <a:r>
              <a:rPr lang="en-US" sz="2900" b="1">
                <a:solidFill>
                  <a:srgbClr val="7A7A7C"/>
                </a:solidFill>
                <a:latin typeface="Open Sans Bold"/>
                <a:ea typeface="Open Sans Bold"/>
                <a:cs typeface="Open Sans Bold"/>
                <a:sym typeface="Open Sans Bold"/>
              </a:rPr>
              <a:t>Train Test Split</a:t>
            </a:r>
          </a:p>
        </p:txBody>
      </p:sp>
      <p:sp>
        <p:nvSpPr>
          <p:cNvPr id="22" name="Freeform 22"/>
          <p:cNvSpPr/>
          <p:nvPr/>
        </p:nvSpPr>
        <p:spPr>
          <a:xfrm rot="5400000">
            <a:off x="13782905" y="5001695"/>
            <a:ext cx="666607" cy="283611"/>
          </a:xfrm>
          <a:custGeom>
            <a:avLst/>
            <a:gdLst/>
            <a:ahLst/>
            <a:cxnLst/>
            <a:rect l="l" t="t" r="r" b="b"/>
            <a:pathLst>
              <a:path w="666607" h="283611">
                <a:moveTo>
                  <a:pt x="0" y="0"/>
                </a:moveTo>
                <a:lnTo>
                  <a:pt x="666607" y="0"/>
                </a:lnTo>
                <a:lnTo>
                  <a:pt x="666607" y="283610"/>
                </a:lnTo>
                <a:lnTo>
                  <a:pt x="0" y="28361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3" name="TextBox 23"/>
          <p:cNvSpPr txBox="1"/>
          <p:nvPr/>
        </p:nvSpPr>
        <p:spPr>
          <a:xfrm>
            <a:off x="12237215" y="5875784"/>
            <a:ext cx="2754015" cy="497839"/>
          </a:xfrm>
          <a:prstGeom prst="rect">
            <a:avLst/>
          </a:prstGeom>
        </p:spPr>
        <p:txBody>
          <a:bodyPr lIns="0" tIns="0" rIns="0" bIns="0" rtlCol="0" anchor="t">
            <a:spAutoFit/>
          </a:bodyPr>
          <a:lstStyle/>
          <a:p>
            <a:pPr algn="ctr">
              <a:lnSpc>
                <a:spcPts val="4060"/>
              </a:lnSpc>
              <a:spcBef>
                <a:spcPct val="0"/>
              </a:spcBef>
            </a:pPr>
            <a:r>
              <a:rPr lang="en-US" sz="2900" b="1">
                <a:solidFill>
                  <a:srgbClr val="7A7A7C"/>
                </a:solidFill>
                <a:latin typeface="Open Sans Bold"/>
                <a:ea typeface="Open Sans Bold"/>
                <a:cs typeface="Open Sans Bold"/>
                <a:sym typeface="Open Sans Bold"/>
              </a:rPr>
              <a:t>Model Training</a:t>
            </a:r>
          </a:p>
        </p:txBody>
      </p:sp>
      <p:sp>
        <p:nvSpPr>
          <p:cNvPr id="24" name="TextBox 24"/>
          <p:cNvSpPr txBox="1"/>
          <p:nvPr/>
        </p:nvSpPr>
        <p:spPr>
          <a:xfrm>
            <a:off x="12019854" y="6611748"/>
            <a:ext cx="4476320" cy="2554320"/>
          </a:xfrm>
          <a:prstGeom prst="rect">
            <a:avLst/>
          </a:prstGeom>
        </p:spPr>
        <p:txBody>
          <a:bodyPr lIns="0" tIns="0" rIns="0" bIns="0" rtlCol="0" anchor="t">
            <a:spAutoFit/>
          </a:bodyPr>
          <a:lstStyle/>
          <a:p>
            <a:pPr marL="633927" lvl="1" indent="-316963" algn="l">
              <a:lnSpc>
                <a:spcPts val="4110"/>
              </a:lnSpc>
              <a:buFont typeface="Arial"/>
              <a:buChar char="•"/>
            </a:pPr>
            <a:r>
              <a:rPr lang="en-US" sz="2936">
                <a:solidFill>
                  <a:srgbClr val="7A7A7C"/>
                </a:solidFill>
                <a:latin typeface="Open Sans"/>
                <a:ea typeface="Open Sans"/>
                <a:cs typeface="Open Sans"/>
                <a:sym typeface="Open Sans"/>
              </a:rPr>
              <a:t>Logistic Regression</a:t>
            </a:r>
          </a:p>
          <a:p>
            <a:pPr marL="633927" lvl="1" indent="-316963" algn="l">
              <a:lnSpc>
                <a:spcPts val="4110"/>
              </a:lnSpc>
              <a:buFont typeface="Arial"/>
              <a:buChar char="•"/>
            </a:pPr>
            <a:r>
              <a:rPr lang="en-US" sz="2936">
                <a:solidFill>
                  <a:srgbClr val="7A7A7C"/>
                </a:solidFill>
                <a:latin typeface="Open Sans"/>
                <a:ea typeface="Open Sans"/>
                <a:cs typeface="Open Sans"/>
                <a:sym typeface="Open Sans"/>
              </a:rPr>
              <a:t>XGBoost</a:t>
            </a:r>
          </a:p>
          <a:p>
            <a:pPr marL="633927" lvl="1" indent="-316963" algn="l">
              <a:lnSpc>
                <a:spcPts val="4110"/>
              </a:lnSpc>
              <a:buFont typeface="Arial"/>
              <a:buChar char="•"/>
            </a:pPr>
            <a:r>
              <a:rPr lang="en-US" sz="2936">
                <a:solidFill>
                  <a:srgbClr val="7A7A7C"/>
                </a:solidFill>
                <a:latin typeface="Open Sans"/>
                <a:ea typeface="Open Sans"/>
                <a:cs typeface="Open Sans"/>
                <a:sym typeface="Open Sans"/>
              </a:rPr>
              <a:t>Random Forest</a:t>
            </a:r>
          </a:p>
          <a:p>
            <a:pPr marL="633927" lvl="1" indent="-316963" algn="l">
              <a:lnSpc>
                <a:spcPts val="4110"/>
              </a:lnSpc>
              <a:buFont typeface="Arial"/>
              <a:buChar char="•"/>
            </a:pPr>
            <a:r>
              <a:rPr lang="en-US" sz="2936">
                <a:solidFill>
                  <a:srgbClr val="7A7A7C"/>
                </a:solidFill>
                <a:latin typeface="Open Sans"/>
                <a:ea typeface="Open Sans"/>
                <a:cs typeface="Open Sans"/>
                <a:sym typeface="Open Sans"/>
              </a:rPr>
              <a:t>KNN</a:t>
            </a:r>
          </a:p>
          <a:p>
            <a:pPr algn="l">
              <a:lnSpc>
                <a:spcPts val="4110"/>
              </a:lnSpc>
            </a:pPr>
            <a:endParaRPr lang="en-US" sz="2936">
              <a:solidFill>
                <a:srgbClr val="7A7A7C"/>
              </a:solidFill>
              <a:latin typeface="Open Sans"/>
              <a:ea typeface="Open Sans"/>
              <a:cs typeface="Open Sans"/>
              <a:sym typeface="Open Sans"/>
            </a:endParaRPr>
          </a:p>
        </p:txBody>
      </p:sp>
      <p:sp>
        <p:nvSpPr>
          <p:cNvPr id="25" name="TextBox 25"/>
          <p:cNvSpPr txBox="1"/>
          <p:nvPr/>
        </p:nvSpPr>
        <p:spPr>
          <a:xfrm>
            <a:off x="7279923" y="5875784"/>
            <a:ext cx="2754015" cy="1047338"/>
          </a:xfrm>
          <a:prstGeom prst="rect">
            <a:avLst/>
          </a:prstGeom>
        </p:spPr>
        <p:txBody>
          <a:bodyPr wrap="square" lIns="0" tIns="0" rIns="0" bIns="0" rtlCol="0" anchor="t">
            <a:spAutoFit/>
          </a:bodyPr>
          <a:lstStyle/>
          <a:p>
            <a:pPr algn="ctr">
              <a:lnSpc>
                <a:spcPts val="4222"/>
              </a:lnSpc>
              <a:spcBef>
                <a:spcPct val="0"/>
              </a:spcBef>
            </a:pPr>
            <a:r>
              <a:rPr lang="en-US" sz="3016" b="1" dirty="0">
                <a:solidFill>
                  <a:srgbClr val="7A7A7C"/>
                </a:solidFill>
                <a:latin typeface="Open Sans Bold"/>
                <a:ea typeface="Open Sans Bold"/>
                <a:cs typeface="Open Sans Bold"/>
                <a:sym typeface="Open Sans Bold"/>
              </a:rPr>
              <a:t>Fine Tunning</a:t>
            </a:r>
          </a:p>
          <a:p>
            <a:pPr algn="ctr">
              <a:lnSpc>
                <a:spcPts val="4222"/>
              </a:lnSpc>
              <a:spcBef>
                <a:spcPct val="0"/>
              </a:spcBef>
            </a:pPr>
            <a:endParaRPr lang="en-US" sz="3016" b="1" dirty="0">
              <a:solidFill>
                <a:srgbClr val="7A7A7C"/>
              </a:solidFill>
              <a:latin typeface="Open Sans Bold"/>
              <a:ea typeface="Open Sans Bold"/>
              <a:cs typeface="Open Sans Bold"/>
              <a:sym typeface="Open Sans Bold"/>
            </a:endParaRPr>
          </a:p>
        </p:txBody>
      </p:sp>
      <p:sp>
        <p:nvSpPr>
          <p:cNvPr id="26" name="TextBox 26"/>
          <p:cNvSpPr txBox="1"/>
          <p:nvPr/>
        </p:nvSpPr>
        <p:spPr>
          <a:xfrm>
            <a:off x="6966099" y="6611748"/>
            <a:ext cx="4476320" cy="1011270"/>
          </a:xfrm>
          <a:prstGeom prst="rect">
            <a:avLst/>
          </a:prstGeom>
        </p:spPr>
        <p:txBody>
          <a:bodyPr lIns="0" tIns="0" rIns="0" bIns="0" rtlCol="0" anchor="t">
            <a:spAutoFit/>
          </a:bodyPr>
          <a:lstStyle/>
          <a:p>
            <a:pPr marL="633927" lvl="1" indent="-316963" algn="l">
              <a:lnSpc>
                <a:spcPts val="4110"/>
              </a:lnSpc>
              <a:buFont typeface="Arial"/>
              <a:buChar char="•"/>
            </a:pPr>
            <a:r>
              <a:rPr lang="en-US" sz="2936">
                <a:solidFill>
                  <a:srgbClr val="7A7A7C"/>
                </a:solidFill>
                <a:latin typeface="Open Sans"/>
                <a:ea typeface="Open Sans"/>
                <a:cs typeface="Open Sans"/>
                <a:sym typeface="Open Sans"/>
              </a:rPr>
              <a:t>GridSearchCV</a:t>
            </a:r>
          </a:p>
          <a:p>
            <a:pPr algn="l">
              <a:lnSpc>
                <a:spcPts val="4110"/>
              </a:lnSpc>
            </a:pPr>
            <a:endParaRPr lang="en-US" sz="2936">
              <a:solidFill>
                <a:srgbClr val="7A7A7C"/>
              </a:solidFill>
              <a:latin typeface="Open Sans"/>
              <a:ea typeface="Open Sans"/>
              <a:cs typeface="Open Sans"/>
              <a:sym typeface="Open Sans"/>
            </a:endParaRPr>
          </a:p>
        </p:txBody>
      </p:sp>
      <p:sp>
        <p:nvSpPr>
          <p:cNvPr id="27" name="Freeform 27"/>
          <p:cNvSpPr/>
          <p:nvPr/>
        </p:nvSpPr>
        <p:spPr>
          <a:xfrm rot="-10800000">
            <a:off x="11106884" y="7192068"/>
            <a:ext cx="666607" cy="283611"/>
          </a:xfrm>
          <a:custGeom>
            <a:avLst/>
            <a:gdLst/>
            <a:ahLst/>
            <a:cxnLst/>
            <a:rect l="l" t="t" r="r" b="b"/>
            <a:pathLst>
              <a:path w="666607" h="283611">
                <a:moveTo>
                  <a:pt x="0" y="0"/>
                </a:moveTo>
                <a:lnTo>
                  <a:pt x="666607" y="0"/>
                </a:lnTo>
                <a:lnTo>
                  <a:pt x="666607" y="283611"/>
                </a:lnTo>
                <a:lnTo>
                  <a:pt x="0" y="28361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8" name="Freeform 28"/>
          <p:cNvSpPr/>
          <p:nvPr/>
        </p:nvSpPr>
        <p:spPr>
          <a:xfrm rot="-10800000">
            <a:off x="5718467" y="7192068"/>
            <a:ext cx="666607" cy="283611"/>
          </a:xfrm>
          <a:custGeom>
            <a:avLst/>
            <a:gdLst/>
            <a:ahLst/>
            <a:cxnLst/>
            <a:rect l="l" t="t" r="r" b="b"/>
            <a:pathLst>
              <a:path w="666607" h="283611">
                <a:moveTo>
                  <a:pt x="0" y="0"/>
                </a:moveTo>
                <a:lnTo>
                  <a:pt x="666607" y="0"/>
                </a:lnTo>
                <a:lnTo>
                  <a:pt x="666607" y="283611"/>
                </a:lnTo>
                <a:lnTo>
                  <a:pt x="0" y="283611"/>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29" name="TextBox 29"/>
          <p:cNvSpPr txBox="1"/>
          <p:nvPr/>
        </p:nvSpPr>
        <p:spPr>
          <a:xfrm>
            <a:off x="1565905" y="5875784"/>
            <a:ext cx="3440864" cy="497839"/>
          </a:xfrm>
          <a:prstGeom prst="rect">
            <a:avLst/>
          </a:prstGeom>
        </p:spPr>
        <p:txBody>
          <a:bodyPr wrap="square" lIns="0" tIns="0" rIns="0" bIns="0" rtlCol="0" anchor="t">
            <a:spAutoFit/>
          </a:bodyPr>
          <a:lstStyle/>
          <a:p>
            <a:pPr algn="ctr">
              <a:lnSpc>
                <a:spcPts val="4060"/>
              </a:lnSpc>
              <a:spcBef>
                <a:spcPct val="0"/>
              </a:spcBef>
            </a:pPr>
            <a:r>
              <a:rPr lang="en-US" sz="2900" b="1" dirty="0">
                <a:solidFill>
                  <a:srgbClr val="7A7A7C"/>
                </a:solidFill>
                <a:latin typeface="Open Sans Bold"/>
                <a:ea typeface="Open Sans Bold"/>
                <a:cs typeface="Open Sans Bold"/>
                <a:sym typeface="Open Sans Bold"/>
              </a:rPr>
              <a:t>Model Evaluation</a:t>
            </a:r>
          </a:p>
        </p:txBody>
      </p:sp>
      <p:sp>
        <p:nvSpPr>
          <p:cNvPr id="30" name="TextBox 30"/>
          <p:cNvSpPr txBox="1"/>
          <p:nvPr/>
        </p:nvSpPr>
        <p:spPr>
          <a:xfrm>
            <a:off x="1400945" y="6611748"/>
            <a:ext cx="4220130" cy="1023402"/>
          </a:xfrm>
          <a:prstGeom prst="rect">
            <a:avLst/>
          </a:prstGeom>
        </p:spPr>
        <p:txBody>
          <a:bodyPr lIns="0" tIns="0" rIns="0" bIns="0" rtlCol="0" anchor="t">
            <a:spAutoFit/>
          </a:bodyPr>
          <a:lstStyle/>
          <a:p>
            <a:pPr marL="641987" lvl="1" indent="-320993" algn="ctr">
              <a:lnSpc>
                <a:spcPts val="4162"/>
              </a:lnSpc>
              <a:buFont typeface="Arial"/>
              <a:buChar char="•"/>
            </a:pPr>
            <a:r>
              <a:rPr lang="en-US" sz="2973">
                <a:solidFill>
                  <a:srgbClr val="7A7A7C"/>
                </a:solidFill>
                <a:latin typeface="Open Sans"/>
                <a:ea typeface="Open Sans"/>
                <a:cs typeface="Open Sans"/>
                <a:sym typeface="Open Sans"/>
              </a:rPr>
              <a:t>Accuracy, Precision, Recall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088950" y="1084365"/>
            <a:ext cx="4172863" cy="1094741"/>
          </a:xfrm>
          <a:prstGeom prst="rect">
            <a:avLst/>
          </a:prstGeom>
        </p:spPr>
        <p:txBody>
          <a:bodyPr lIns="0" tIns="0" rIns="0" bIns="0" rtlCol="0" anchor="t">
            <a:spAutoFit/>
          </a:bodyPr>
          <a:lstStyle/>
          <a:p>
            <a:pPr algn="ctr">
              <a:lnSpc>
                <a:spcPts val="8959"/>
              </a:lnSpc>
            </a:pPr>
            <a:r>
              <a:rPr lang="en-US" sz="6399" b="1">
                <a:solidFill>
                  <a:srgbClr val="000000"/>
                </a:solidFill>
                <a:latin typeface="Century Gothic Paneuropean Bold"/>
                <a:ea typeface="Century Gothic Paneuropean Bold"/>
                <a:cs typeface="Century Gothic Paneuropean Bold"/>
                <a:sym typeface="Century Gothic Paneuropean Bold"/>
              </a:rPr>
              <a:t>MODELS:</a:t>
            </a:r>
          </a:p>
        </p:txBody>
      </p:sp>
      <p:sp>
        <p:nvSpPr>
          <p:cNvPr id="3" name="TextBox 3"/>
          <p:cNvSpPr txBox="1"/>
          <p:nvPr/>
        </p:nvSpPr>
        <p:spPr>
          <a:xfrm>
            <a:off x="2088950" y="3269996"/>
            <a:ext cx="12724902" cy="4559929"/>
          </a:xfrm>
          <a:prstGeom prst="rect">
            <a:avLst/>
          </a:prstGeom>
        </p:spPr>
        <p:txBody>
          <a:bodyPr lIns="0" tIns="0" rIns="0" bIns="0" rtlCol="0" anchor="t">
            <a:spAutoFit/>
          </a:bodyPr>
          <a:lstStyle/>
          <a:p>
            <a:pPr marL="1118887" lvl="1" indent="-559444" algn="l">
              <a:lnSpc>
                <a:spcPts val="7255"/>
              </a:lnSpc>
              <a:buFont typeface="Arial"/>
              <a:buChar char="•"/>
            </a:pPr>
            <a:r>
              <a:rPr lang="en-US" sz="5182">
                <a:solidFill>
                  <a:srgbClr val="000000"/>
                </a:solidFill>
                <a:latin typeface="Century Gothic Paneuropean"/>
                <a:ea typeface="Century Gothic Paneuropean"/>
                <a:cs typeface="Century Gothic Paneuropean"/>
                <a:sym typeface="Century Gothic Paneuropean"/>
              </a:rPr>
              <a:t>Logistic Regression</a:t>
            </a:r>
          </a:p>
          <a:p>
            <a:pPr marL="1118887" lvl="1" indent="-559444" algn="l">
              <a:lnSpc>
                <a:spcPts val="7255"/>
              </a:lnSpc>
              <a:buFont typeface="Arial"/>
              <a:buChar char="•"/>
            </a:pPr>
            <a:r>
              <a:rPr lang="en-US" sz="5182">
                <a:solidFill>
                  <a:srgbClr val="000000"/>
                </a:solidFill>
                <a:latin typeface="Century Gothic Paneuropean"/>
                <a:ea typeface="Century Gothic Paneuropean"/>
                <a:cs typeface="Century Gothic Paneuropean"/>
                <a:sym typeface="Century Gothic Paneuropean"/>
              </a:rPr>
              <a:t>Support Vector Classifier(SVC)</a:t>
            </a:r>
          </a:p>
          <a:p>
            <a:pPr marL="1118887" lvl="1" indent="-559444" algn="l">
              <a:lnSpc>
                <a:spcPts val="7255"/>
              </a:lnSpc>
              <a:buFont typeface="Arial"/>
              <a:buChar char="•"/>
            </a:pPr>
            <a:r>
              <a:rPr lang="en-US" sz="5182">
                <a:solidFill>
                  <a:srgbClr val="000000"/>
                </a:solidFill>
                <a:latin typeface="Century Gothic Paneuropean"/>
                <a:ea typeface="Century Gothic Paneuropean"/>
                <a:cs typeface="Century Gothic Paneuropean"/>
                <a:sym typeface="Century Gothic Paneuropean"/>
              </a:rPr>
              <a:t>K-Nearest Neighbours(KNN)</a:t>
            </a:r>
          </a:p>
          <a:p>
            <a:pPr marL="1118887" lvl="1" indent="-559444" algn="l">
              <a:lnSpc>
                <a:spcPts val="7255"/>
              </a:lnSpc>
              <a:buFont typeface="Arial"/>
              <a:buChar char="•"/>
            </a:pPr>
            <a:r>
              <a:rPr lang="en-US" sz="5182">
                <a:solidFill>
                  <a:srgbClr val="000000"/>
                </a:solidFill>
                <a:latin typeface="Century Gothic Paneuropean"/>
                <a:ea typeface="Century Gothic Paneuropean"/>
                <a:cs typeface="Century Gothic Paneuropean"/>
                <a:sym typeface="Century Gothic Paneuropean"/>
              </a:rPr>
              <a:t>Random Forest Classifier</a:t>
            </a:r>
          </a:p>
          <a:p>
            <a:pPr marL="1118887" lvl="1" indent="-559444" algn="l">
              <a:lnSpc>
                <a:spcPts val="7255"/>
              </a:lnSpc>
              <a:buFont typeface="Arial"/>
              <a:buChar char="•"/>
            </a:pPr>
            <a:r>
              <a:rPr lang="en-US" sz="5182">
                <a:solidFill>
                  <a:srgbClr val="000000"/>
                </a:solidFill>
                <a:latin typeface="Century Gothic Paneuropean"/>
                <a:ea typeface="Century Gothic Paneuropean"/>
                <a:cs typeface="Century Gothic Paneuropean"/>
                <a:sym typeface="Century Gothic Paneuropean"/>
              </a:rPr>
              <a:t>XGBoost Classifier</a:t>
            </a:r>
          </a:p>
        </p:txBody>
      </p:sp>
      <p:grpSp>
        <p:nvGrpSpPr>
          <p:cNvPr id="4" name="Group 4"/>
          <p:cNvGrpSpPr/>
          <p:nvPr/>
        </p:nvGrpSpPr>
        <p:grpSpPr>
          <a:xfrm>
            <a:off x="16718943" y="-989670"/>
            <a:ext cx="1080715" cy="2956684"/>
            <a:chOff x="0" y="0"/>
            <a:chExt cx="284633" cy="778715"/>
          </a:xfrm>
        </p:grpSpPr>
        <p:sp>
          <p:nvSpPr>
            <p:cNvPr id="5" name="Freeform 5"/>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6" name="TextBox 6"/>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529352" y="9803843"/>
            <a:ext cx="19346704" cy="821917"/>
            <a:chOff x="0" y="0"/>
            <a:chExt cx="5095428" cy="216472"/>
          </a:xfrm>
        </p:grpSpPr>
        <p:sp>
          <p:nvSpPr>
            <p:cNvPr id="8" name="Freeform 8"/>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9" name="TextBox 9"/>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836315" y="904875"/>
            <a:ext cx="9036777" cy="1094932"/>
          </a:xfrm>
          <a:prstGeom prst="rect">
            <a:avLst/>
          </a:prstGeom>
        </p:spPr>
        <p:txBody>
          <a:bodyPr lIns="0" tIns="0" rIns="0" bIns="0" rtlCol="0" anchor="t">
            <a:spAutoFit/>
          </a:bodyPr>
          <a:lstStyle/>
          <a:p>
            <a:pPr algn="ctr">
              <a:lnSpc>
                <a:spcPts val="8949"/>
              </a:lnSpc>
            </a:pPr>
            <a:r>
              <a:rPr lang="en-US" sz="6392" b="1">
                <a:solidFill>
                  <a:srgbClr val="000000"/>
                </a:solidFill>
                <a:latin typeface="Century Gothic Paneuropean Bold"/>
                <a:ea typeface="Century Gothic Paneuropean Bold"/>
                <a:cs typeface="Century Gothic Paneuropean Bold"/>
                <a:sym typeface="Century Gothic Paneuropean Bold"/>
              </a:rPr>
              <a:t>LOGISTIC REGRESSION</a:t>
            </a:r>
          </a:p>
        </p:txBody>
      </p:sp>
      <p:grpSp>
        <p:nvGrpSpPr>
          <p:cNvPr id="3" name="Group 3"/>
          <p:cNvGrpSpPr/>
          <p:nvPr/>
        </p:nvGrpSpPr>
        <p:grpSpPr>
          <a:xfrm>
            <a:off x="16718943" y="-989670"/>
            <a:ext cx="1080715" cy="2956684"/>
            <a:chOff x="0" y="0"/>
            <a:chExt cx="284633" cy="778715"/>
          </a:xfrm>
        </p:grpSpPr>
        <p:sp>
          <p:nvSpPr>
            <p:cNvPr id="4" name="Freeform 4"/>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5" name="TextBox 5"/>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529352" y="9803843"/>
            <a:ext cx="19346704" cy="821917"/>
            <a:chOff x="0" y="0"/>
            <a:chExt cx="5095428" cy="216472"/>
          </a:xfrm>
        </p:grpSpPr>
        <p:sp>
          <p:nvSpPr>
            <p:cNvPr id="7" name="Freeform 7"/>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8" name="TextBox 8"/>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488343" y="-989670"/>
            <a:ext cx="1080715" cy="2956684"/>
            <a:chOff x="0" y="0"/>
            <a:chExt cx="284633" cy="778715"/>
          </a:xfrm>
        </p:grpSpPr>
        <p:sp>
          <p:nvSpPr>
            <p:cNvPr id="12" name="Freeform 12"/>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3" name="TextBox 13"/>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1569057" y="2590212"/>
            <a:ext cx="14341660" cy="6134889"/>
          </a:xfrm>
          <a:prstGeom prst="rect">
            <a:avLst/>
          </a:prstGeom>
        </p:spPr>
        <p:txBody>
          <a:bodyPr lIns="0" tIns="0" rIns="0" bIns="0" rtlCol="0" anchor="t">
            <a:spAutoFit/>
          </a:bodyPr>
          <a:lstStyle/>
          <a:p>
            <a:pPr marL="893737" lvl="1" indent="-446868" algn="l">
              <a:lnSpc>
                <a:spcPts val="5795"/>
              </a:lnSpc>
              <a:spcBef>
                <a:spcPct val="0"/>
              </a:spcBef>
              <a:buFont typeface="Arial"/>
              <a:buChar char="•"/>
            </a:pPr>
            <a:r>
              <a:rPr lang="en-US" sz="4139" b="1">
                <a:solidFill>
                  <a:srgbClr val="000000"/>
                </a:solidFill>
                <a:latin typeface="Open Sans Bold"/>
                <a:ea typeface="Open Sans Bold"/>
                <a:cs typeface="Open Sans Bold"/>
                <a:sym typeface="Open Sans Bold"/>
              </a:rPr>
              <a:t>Type</a:t>
            </a:r>
            <a:r>
              <a:rPr lang="en-US" sz="4139">
                <a:solidFill>
                  <a:srgbClr val="000000"/>
                </a:solidFill>
                <a:latin typeface="Open Sans"/>
                <a:ea typeface="Open Sans"/>
                <a:cs typeface="Open Sans"/>
                <a:sym typeface="Open Sans"/>
              </a:rPr>
              <a:t>: Linear model for classification</a:t>
            </a:r>
          </a:p>
          <a:p>
            <a:pPr marL="893737" lvl="1" indent="-446868" algn="l">
              <a:lnSpc>
                <a:spcPts val="5795"/>
              </a:lnSpc>
              <a:buFont typeface="Arial"/>
              <a:buChar char="•"/>
            </a:pPr>
            <a:r>
              <a:rPr lang="en-US" sz="4139" b="1">
                <a:solidFill>
                  <a:srgbClr val="000000"/>
                </a:solidFill>
                <a:latin typeface="Open Sans Bold"/>
                <a:ea typeface="Open Sans Bold"/>
                <a:cs typeface="Open Sans Bold"/>
                <a:sym typeface="Open Sans Bold"/>
              </a:rPr>
              <a:t>Working</a:t>
            </a:r>
            <a:r>
              <a:rPr lang="en-US" sz="4139">
                <a:solidFill>
                  <a:srgbClr val="000000"/>
                </a:solidFill>
                <a:latin typeface="Open Sans"/>
                <a:ea typeface="Open Sans"/>
                <a:cs typeface="Open Sans"/>
                <a:sym typeface="Open Sans"/>
              </a:rPr>
              <a:t>: Calculates a weighted sum of these inputs, then applies the logistic (sigmoid) function to estimate the probability that a sample belongs to each facies.The facies with the highest probability is chosen as the predicted class.</a:t>
            </a:r>
          </a:p>
          <a:p>
            <a:pPr marL="872147" lvl="1" indent="-436074" algn="l">
              <a:lnSpc>
                <a:spcPts val="5655"/>
              </a:lnSpc>
              <a:buFont typeface="Arial"/>
              <a:buChar char="•"/>
            </a:pPr>
            <a:r>
              <a:rPr lang="en-US" sz="4039">
                <a:solidFill>
                  <a:srgbClr val="000000"/>
                </a:solidFill>
                <a:latin typeface="Open Sans"/>
                <a:ea typeface="Open Sans"/>
                <a:cs typeface="Open Sans"/>
                <a:sym typeface="Open Sans"/>
              </a:rPr>
              <a:t> </a:t>
            </a:r>
            <a:r>
              <a:rPr lang="en-US" sz="4039" b="1">
                <a:solidFill>
                  <a:srgbClr val="000000"/>
                </a:solidFill>
                <a:latin typeface="Open Sans Bold"/>
                <a:ea typeface="Open Sans Bold"/>
                <a:cs typeface="Open Sans Bold"/>
                <a:sym typeface="Open Sans Bold"/>
              </a:rPr>
              <a:t>Why used:</a:t>
            </a:r>
            <a:r>
              <a:rPr lang="en-US" sz="4039">
                <a:solidFill>
                  <a:srgbClr val="000000"/>
                </a:solidFill>
                <a:latin typeface="Open Sans"/>
                <a:ea typeface="Open Sans"/>
                <a:cs typeface="Open Sans"/>
                <a:sym typeface="Open Sans"/>
              </a:rPr>
              <a:t> Simple, interpretable, and effective when the data is linearly separable.</a:t>
            </a:r>
          </a:p>
          <a:p>
            <a:pPr algn="l">
              <a:lnSpc>
                <a:spcPts val="2517"/>
              </a:lnSpc>
              <a:spcBef>
                <a:spcPct val="0"/>
              </a:spcBef>
            </a:pPr>
            <a:endParaRPr lang="en-US" sz="4039">
              <a:solidFill>
                <a:srgbClr val="000000"/>
              </a:solidFill>
              <a:latin typeface="Open Sans"/>
              <a:ea typeface="Open Sans"/>
              <a:cs typeface="Open Sans"/>
              <a:sym typeface="Open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AutoShape 13"/>
          <p:cNvSpPr/>
          <p:nvPr/>
        </p:nvSpPr>
        <p:spPr>
          <a:xfrm>
            <a:off x="3445351" y="7406284"/>
            <a:ext cx="2196545" cy="0"/>
          </a:xfrm>
          <a:prstGeom prst="line">
            <a:avLst/>
          </a:prstGeom>
          <a:ln w="38100" cap="flat">
            <a:solidFill>
              <a:srgbClr val="000000"/>
            </a:solidFill>
            <a:prstDash val="solid"/>
            <a:headEnd type="none" w="sm" len="sm"/>
            <a:tailEnd type="triangle" w="lg" len="med"/>
          </a:ln>
        </p:spPr>
      </p:sp>
      <p:sp>
        <p:nvSpPr>
          <p:cNvPr id="14" name="AutoShape 14"/>
          <p:cNvSpPr/>
          <p:nvPr/>
        </p:nvSpPr>
        <p:spPr>
          <a:xfrm flipV="1">
            <a:off x="3366200" y="4509366"/>
            <a:ext cx="2275323" cy="44539"/>
          </a:xfrm>
          <a:prstGeom prst="line">
            <a:avLst/>
          </a:prstGeom>
          <a:ln w="38100" cap="flat">
            <a:solidFill>
              <a:srgbClr val="000000"/>
            </a:solidFill>
            <a:prstDash val="solid"/>
            <a:headEnd type="none" w="sm" len="sm"/>
            <a:tailEnd type="triangle" w="lg" len="med"/>
          </a:ln>
        </p:spPr>
      </p:sp>
      <p:sp>
        <p:nvSpPr>
          <p:cNvPr id="15" name="AutoShape 15"/>
          <p:cNvSpPr/>
          <p:nvPr/>
        </p:nvSpPr>
        <p:spPr>
          <a:xfrm flipV="1">
            <a:off x="3366572" y="5879556"/>
            <a:ext cx="2275323" cy="44539"/>
          </a:xfrm>
          <a:prstGeom prst="line">
            <a:avLst/>
          </a:prstGeom>
          <a:ln w="38100" cap="flat">
            <a:solidFill>
              <a:srgbClr val="000000"/>
            </a:solidFill>
            <a:prstDash val="solid"/>
            <a:headEnd type="none" w="sm" len="sm"/>
            <a:tailEnd type="triangle" w="lg" len="med"/>
          </a:ln>
        </p:spPr>
      </p:sp>
      <p:sp>
        <p:nvSpPr>
          <p:cNvPr id="16" name="Freeform 16"/>
          <p:cNvSpPr/>
          <p:nvPr/>
        </p:nvSpPr>
        <p:spPr>
          <a:xfrm>
            <a:off x="5641896" y="3085173"/>
            <a:ext cx="3502104" cy="5249708"/>
          </a:xfrm>
          <a:custGeom>
            <a:avLst/>
            <a:gdLst/>
            <a:ahLst/>
            <a:cxnLst/>
            <a:rect l="l" t="t" r="r" b="b"/>
            <a:pathLst>
              <a:path w="3502104" h="5249708">
                <a:moveTo>
                  <a:pt x="0" y="0"/>
                </a:moveTo>
                <a:lnTo>
                  <a:pt x="3502104" y="0"/>
                </a:lnTo>
                <a:lnTo>
                  <a:pt x="3502104" y="5249708"/>
                </a:lnTo>
                <a:lnTo>
                  <a:pt x="0" y="5249708"/>
                </a:lnTo>
                <a:lnTo>
                  <a:pt x="0" y="0"/>
                </a:lnTo>
                <a:close/>
              </a:path>
            </a:pathLst>
          </a:custGeom>
          <a:blipFill>
            <a:blip r:embed="rId3"/>
            <a:stretch>
              <a:fillRect l="-74090" t="-12356" r="-105241" b="-11794"/>
            </a:stretch>
          </a:blipFill>
        </p:spPr>
      </p:sp>
      <p:sp>
        <p:nvSpPr>
          <p:cNvPr id="17" name="AutoShape 17"/>
          <p:cNvSpPr/>
          <p:nvPr/>
        </p:nvSpPr>
        <p:spPr>
          <a:xfrm>
            <a:off x="9144983" y="5470290"/>
            <a:ext cx="351768" cy="0"/>
          </a:xfrm>
          <a:prstGeom prst="line">
            <a:avLst/>
          </a:prstGeom>
          <a:ln w="38100" cap="flat">
            <a:solidFill>
              <a:srgbClr val="000000"/>
            </a:solidFill>
            <a:prstDash val="solid"/>
            <a:headEnd type="none" w="sm" len="sm"/>
            <a:tailEnd type="arrow" w="med" len="sm"/>
          </a:ln>
        </p:spPr>
      </p:sp>
      <p:grpSp>
        <p:nvGrpSpPr>
          <p:cNvPr id="18" name="Group 18"/>
          <p:cNvGrpSpPr/>
          <p:nvPr/>
        </p:nvGrpSpPr>
        <p:grpSpPr>
          <a:xfrm>
            <a:off x="9569918" y="5055105"/>
            <a:ext cx="4140258" cy="691101"/>
            <a:chOff x="0" y="0"/>
            <a:chExt cx="1090438" cy="182018"/>
          </a:xfrm>
        </p:grpSpPr>
        <p:sp>
          <p:nvSpPr>
            <p:cNvPr id="19" name="Freeform 19"/>
            <p:cNvSpPr/>
            <p:nvPr/>
          </p:nvSpPr>
          <p:spPr>
            <a:xfrm>
              <a:off x="0" y="0"/>
              <a:ext cx="1090438" cy="182018"/>
            </a:xfrm>
            <a:custGeom>
              <a:avLst/>
              <a:gdLst/>
              <a:ahLst/>
              <a:cxnLst/>
              <a:rect l="l" t="t" r="r" b="b"/>
              <a:pathLst>
                <a:path w="1090438" h="182018">
                  <a:moveTo>
                    <a:pt x="0" y="0"/>
                  </a:moveTo>
                  <a:lnTo>
                    <a:pt x="1090438" y="0"/>
                  </a:lnTo>
                  <a:lnTo>
                    <a:pt x="1090438" y="182018"/>
                  </a:lnTo>
                  <a:lnTo>
                    <a:pt x="0" y="182018"/>
                  </a:lnTo>
                  <a:close/>
                </a:path>
              </a:pathLst>
            </a:custGeom>
            <a:solidFill>
              <a:srgbClr val="FFFFFF"/>
            </a:solidFill>
            <a:ln w="19050" cap="sq">
              <a:solidFill>
                <a:srgbClr val="000000"/>
              </a:solidFill>
              <a:prstDash val="solid"/>
              <a:miter/>
            </a:ln>
          </p:spPr>
        </p:sp>
        <p:sp>
          <p:nvSpPr>
            <p:cNvPr id="20" name="TextBox 20"/>
            <p:cNvSpPr txBox="1"/>
            <p:nvPr/>
          </p:nvSpPr>
          <p:spPr>
            <a:xfrm>
              <a:off x="0" y="-38100"/>
              <a:ext cx="1090438" cy="220118"/>
            </a:xfrm>
            <a:prstGeom prst="rect">
              <a:avLst/>
            </a:prstGeom>
          </p:spPr>
          <p:txBody>
            <a:bodyPr lIns="50800" tIns="50800" rIns="50800" bIns="50800" rtlCol="0" anchor="ctr"/>
            <a:lstStyle/>
            <a:p>
              <a:pPr algn="ctr">
                <a:lnSpc>
                  <a:spcPts val="2659"/>
                </a:lnSpc>
              </a:pPr>
              <a:endParaRPr/>
            </a:p>
          </p:txBody>
        </p:sp>
      </p:grpSp>
      <p:sp>
        <p:nvSpPr>
          <p:cNvPr id="21" name="TextBox 21"/>
          <p:cNvSpPr txBox="1"/>
          <p:nvPr/>
        </p:nvSpPr>
        <p:spPr>
          <a:xfrm>
            <a:off x="1836315" y="904875"/>
            <a:ext cx="9036777" cy="1094932"/>
          </a:xfrm>
          <a:prstGeom prst="rect">
            <a:avLst/>
          </a:prstGeom>
        </p:spPr>
        <p:txBody>
          <a:bodyPr lIns="0" tIns="0" rIns="0" bIns="0" rtlCol="0" anchor="t">
            <a:spAutoFit/>
          </a:bodyPr>
          <a:lstStyle/>
          <a:p>
            <a:pPr algn="ctr">
              <a:lnSpc>
                <a:spcPts val="8949"/>
              </a:lnSpc>
            </a:pPr>
            <a:r>
              <a:rPr lang="en-US" sz="6392" b="1">
                <a:solidFill>
                  <a:srgbClr val="000000"/>
                </a:solidFill>
                <a:latin typeface="Century Gothic Paneuropean Bold"/>
                <a:ea typeface="Century Gothic Paneuropean Bold"/>
                <a:cs typeface="Century Gothic Paneuropean Bold"/>
                <a:sym typeface="Century Gothic Paneuropean Bold"/>
              </a:rPr>
              <a:t>LOGISTIC REGRESSION</a:t>
            </a:r>
          </a:p>
        </p:txBody>
      </p:sp>
      <p:sp>
        <p:nvSpPr>
          <p:cNvPr id="22" name="TextBox 22"/>
          <p:cNvSpPr txBox="1"/>
          <p:nvPr/>
        </p:nvSpPr>
        <p:spPr>
          <a:xfrm>
            <a:off x="9609506" y="3008973"/>
            <a:ext cx="3046512" cy="646431"/>
          </a:xfrm>
          <a:prstGeom prst="rect">
            <a:avLst/>
          </a:prstGeom>
        </p:spPr>
        <p:txBody>
          <a:bodyPr lIns="0" tIns="0" rIns="0" bIns="0" rtlCol="0" anchor="t">
            <a:spAutoFit/>
          </a:bodyPr>
          <a:lstStyle/>
          <a:p>
            <a:pPr algn="ctr">
              <a:lnSpc>
                <a:spcPts val="5319"/>
              </a:lnSpc>
              <a:spcBef>
                <a:spcPct val="0"/>
              </a:spcBef>
            </a:pPr>
            <a:r>
              <a:rPr lang="en-US" sz="3799" b="1">
                <a:solidFill>
                  <a:srgbClr val="080708"/>
                </a:solidFill>
                <a:latin typeface="Open Sans Bold"/>
                <a:ea typeface="Open Sans Bold"/>
                <a:cs typeface="Open Sans Bold"/>
                <a:sym typeface="Open Sans Bold"/>
              </a:rPr>
              <a:t>Probabilities</a:t>
            </a:r>
          </a:p>
        </p:txBody>
      </p:sp>
      <p:sp>
        <p:nvSpPr>
          <p:cNvPr id="23" name="TextBox 23"/>
          <p:cNvSpPr txBox="1"/>
          <p:nvPr/>
        </p:nvSpPr>
        <p:spPr>
          <a:xfrm>
            <a:off x="9747817" y="4148050"/>
            <a:ext cx="2384028" cy="646431"/>
          </a:xfrm>
          <a:prstGeom prst="rect">
            <a:avLst/>
          </a:prstGeom>
        </p:spPr>
        <p:txBody>
          <a:bodyPr lIns="0" tIns="0" rIns="0" bIns="0" rtlCol="0" anchor="t">
            <a:spAutoFit/>
          </a:bodyPr>
          <a:lstStyle/>
          <a:p>
            <a:pPr algn="ctr">
              <a:lnSpc>
                <a:spcPts val="5319"/>
              </a:lnSpc>
              <a:spcBef>
                <a:spcPct val="0"/>
              </a:spcBef>
            </a:pPr>
            <a:r>
              <a:rPr lang="en-US" sz="3799">
                <a:solidFill>
                  <a:srgbClr val="000000"/>
                </a:solidFill>
                <a:latin typeface="Open Sans"/>
                <a:ea typeface="Open Sans"/>
                <a:cs typeface="Open Sans"/>
                <a:sym typeface="Open Sans"/>
              </a:rPr>
              <a:t>Sandstone</a:t>
            </a:r>
          </a:p>
        </p:txBody>
      </p:sp>
      <p:sp>
        <p:nvSpPr>
          <p:cNvPr id="24" name="TextBox 24"/>
          <p:cNvSpPr txBox="1"/>
          <p:nvPr/>
        </p:nvSpPr>
        <p:spPr>
          <a:xfrm>
            <a:off x="10538625" y="7206012"/>
            <a:ext cx="790277" cy="646431"/>
          </a:xfrm>
          <a:prstGeom prst="rect">
            <a:avLst/>
          </a:prstGeom>
        </p:spPr>
        <p:txBody>
          <a:bodyPr lIns="0" tIns="0" rIns="0" bIns="0" rtlCol="0" anchor="t">
            <a:spAutoFit/>
          </a:bodyPr>
          <a:lstStyle/>
          <a:p>
            <a:pPr algn="ctr">
              <a:lnSpc>
                <a:spcPts val="5319"/>
              </a:lnSpc>
              <a:spcBef>
                <a:spcPct val="0"/>
              </a:spcBef>
            </a:pPr>
            <a:r>
              <a:rPr lang="en-US" sz="3799">
                <a:solidFill>
                  <a:srgbClr val="000000"/>
                </a:solidFill>
                <a:latin typeface="Open Sans"/>
                <a:ea typeface="Open Sans"/>
                <a:cs typeface="Open Sans"/>
                <a:sym typeface="Open Sans"/>
              </a:rPr>
              <a:t>dgs</a:t>
            </a:r>
          </a:p>
        </p:txBody>
      </p:sp>
      <p:sp>
        <p:nvSpPr>
          <p:cNvPr id="25" name="TextBox 25"/>
          <p:cNvSpPr txBox="1"/>
          <p:nvPr/>
        </p:nvSpPr>
        <p:spPr>
          <a:xfrm>
            <a:off x="9788001" y="4978905"/>
            <a:ext cx="2303661" cy="646431"/>
          </a:xfrm>
          <a:prstGeom prst="rect">
            <a:avLst/>
          </a:prstGeom>
        </p:spPr>
        <p:txBody>
          <a:bodyPr lIns="0" tIns="0" rIns="0" bIns="0" rtlCol="0" anchor="t">
            <a:spAutoFit/>
          </a:bodyPr>
          <a:lstStyle/>
          <a:p>
            <a:pPr algn="ctr">
              <a:lnSpc>
                <a:spcPts val="5319"/>
              </a:lnSpc>
              <a:spcBef>
                <a:spcPct val="0"/>
              </a:spcBef>
            </a:pPr>
            <a:r>
              <a:rPr lang="en-US" sz="3799">
                <a:solidFill>
                  <a:srgbClr val="000000"/>
                </a:solidFill>
                <a:latin typeface="Open Sans"/>
                <a:ea typeface="Open Sans"/>
                <a:cs typeface="Open Sans"/>
                <a:sym typeface="Open Sans"/>
              </a:rPr>
              <a:t>carb shale</a:t>
            </a:r>
          </a:p>
        </p:txBody>
      </p:sp>
      <p:sp>
        <p:nvSpPr>
          <p:cNvPr id="26" name="TextBox 26"/>
          <p:cNvSpPr txBox="1"/>
          <p:nvPr/>
        </p:nvSpPr>
        <p:spPr>
          <a:xfrm>
            <a:off x="10434857" y="6504684"/>
            <a:ext cx="911622" cy="646431"/>
          </a:xfrm>
          <a:prstGeom prst="rect">
            <a:avLst/>
          </a:prstGeom>
        </p:spPr>
        <p:txBody>
          <a:bodyPr lIns="0" tIns="0" rIns="0" bIns="0" rtlCol="0" anchor="t">
            <a:spAutoFit/>
          </a:bodyPr>
          <a:lstStyle/>
          <a:p>
            <a:pPr algn="ctr">
              <a:lnSpc>
                <a:spcPts val="5319"/>
              </a:lnSpc>
              <a:spcBef>
                <a:spcPct val="0"/>
              </a:spcBef>
            </a:pPr>
            <a:r>
              <a:rPr lang="en-US" sz="3799">
                <a:solidFill>
                  <a:srgbClr val="000000"/>
                </a:solidFill>
                <a:latin typeface="Open Sans"/>
                <a:ea typeface="Open Sans"/>
                <a:cs typeface="Open Sans"/>
                <a:sym typeface="Open Sans"/>
              </a:rPr>
              <a:t>coal</a:t>
            </a:r>
          </a:p>
        </p:txBody>
      </p:sp>
      <p:sp>
        <p:nvSpPr>
          <p:cNvPr id="27" name="TextBox 27"/>
          <p:cNvSpPr txBox="1"/>
          <p:nvPr/>
        </p:nvSpPr>
        <p:spPr>
          <a:xfrm>
            <a:off x="9747817" y="5803356"/>
            <a:ext cx="2285702" cy="646431"/>
          </a:xfrm>
          <a:prstGeom prst="rect">
            <a:avLst/>
          </a:prstGeom>
        </p:spPr>
        <p:txBody>
          <a:bodyPr lIns="0" tIns="0" rIns="0" bIns="0" rtlCol="0" anchor="t">
            <a:spAutoFit/>
          </a:bodyPr>
          <a:lstStyle/>
          <a:p>
            <a:pPr algn="ctr">
              <a:lnSpc>
                <a:spcPts val="5319"/>
              </a:lnSpc>
              <a:spcBef>
                <a:spcPct val="0"/>
              </a:spcBef>
            </a:pPr>
            <a:r>
              <a:rPr lang="en-US" sz="3799">
                <a:solidFill>
                  <a:srgbClr val="000000"/>
                </a:solidFill>
                <a:latin typeface="Open Sans"/>
                <a:ea typeface="Open Sans"/>
                <a:cs typeface="Open Sans"/>
                <a:sym typeface="Open Sans"/>
              </a:rPr>
              <a:t>gray shale</a:t>
            </a:r>
          </a:p>
        </p:txBody>
      </p:sp>
      <p:sp>
        <p:nvSpPr>
          <p:cNvPr id="28" name="TextBox 28"/>
          <p:cNvSpPr txBox="1"/>
          <p:nvPr/>
        </p:nvSpPr>
        <p:spPr>
          <a:xfrm>
            <a:off x="12656018" y="5063596"/>
            <a:ext cx="680244" cy="646431"/>
          </a:xfrm>
          <a:prstGeom prst="rect">
            <a:avLst/>
          </a:prstGeom>
        </p:spPr>
        <p:txBody>
          <a:bodyPr lIns="0" tIns="0" rIns="0" bIns="0" rtlCol="0" anchor="t">
            <a:spAutoFit/>
          </a:bodyPr>
          <a:lstStyle/>
          <a:p>
            <a:pPr algn="ctr">
              <a:lnSpc>
                <a:spcPts val="5319"/>
              </a:lnSpc>
              <a:spcBef>
                <a:spcPct val="0"/>
              </a:spcBef>
            </a:pPr>
            <a:r>
              <a:rPr lang="en-US" sz="3799">
                <a:solidFill>
                  <a:srgbClr val="000000"/>
                </a:solidFill>
                <a:latin typeface="Open Sans"/>
                <a:ea typeface="Open Sans"/>
                <a:cs typeface="Open Sans"/>
                <a:sym typeface="Open Sans"/>
              </a:rPr>
              <a:t>0.6</a:t>
            </a:r>
          </a:p>
        </p:txBody>
      </p:sp>
      <p:sp>
        <p:nvSpPr>
          <p:cNvPr id="29" name="TextBox 29"/>
          <p:cNvSpPr txBox="1"/>
          <p:nvPr/>
        </p:nvSpPr>
        <p:spPr>
          <a:xfrm>
            <a:off x="12656018" y="4192589"/>
            <a:ext cx="680244" cy="646431"/>
          </a:xfrm>
          <a:prstGeom prst="rect">
            <a:avLst/>
          </a:prstGeom>
        </p:spPr>
        <p:txBody>
          <a:bodyPr lIns="0" tIns="0" rIns="0" bIns="0" rtlCol="0" anchor="t">
            <a:spAutoFit/>
          </a:bodyPr>
          <a:lstStyle/>
          <a:p>
            <a:pPr algn="ctr">
              <a:lnSpc>
                <a:spcPts val="5319"/>
              </a:lnSpc>
              <a:spcBef>
                <a:spcPct val="0"/>
              </a:spcBef>
            </a:pPr>
            <a:r>
              <a:rPr lang="en-US" sz="3799">
                <a:solidFill>
                  <a:srgbClr val="000000"/>
                </a:solidFill>
                <a:latin typeface="Open Sans"/>
                <a:ea typeface="Open Sans"/>
                <a:cs typeface="Open Sans"/>
                <a:sym typeface="Open Sans"/>
              </a:rPr>
              <a:t>0.2</a:t>
            </a:r>
          </a:p>
        </p:txBody>
      </p:sp>
      <p:sp>
        <p:nvSpPr>
          <p:cNvPr id="30" name="TextBox 30"/>
          <p:cNvSpPr txBox="1"/>
          <p:nvPr/>
        </p:nvSpPr>
        <p:spPr>
          <a:xfrm>
            <a:off x="12573071" y="5803356"/>
            <a:ext cx="956171" cy="646431"/>
          </a:xfrm>
          <a:prstGeom prst="rect">
            <a:avLst/>
          </a:prstGeom>
        </p:spPr>
        <p:txBody>
          <a:bodyPr lIns="0" tIns="0" rIns="0" bIns="0" rtlCol="0" anchor="t">
            <a:spAutoFit/>
          </a:bodyPr>
          <a:lstStyle/>
          <a:p>
            <a:pPr algn="ctr">
              <a:lnSpc>
                <a:spcPts val="5319"/>
              </a:lnSpc>
              <a:spcBef>
                <a:spcPct val="0"/>
              </a:spcBef>
            </a:pPr>
            <a:r>
              <a:rPr lang="en-US" sz="3799">
                <a:solidFill>
                  <a:srgbClr val="000000"/>
                </a:solidFill>
                <a:latin typeface="Open Sans"/>
                <a:ea typeface="Open Sans"/>
                <a:cs typeface="Open Sans"/>
                <a:sym typeface="Open Sans"/>
              </a:rPr>
              <a:t>0.05</a:t>
            </a:r>
          </a:p>
        </p:txBody>
      </p:sp>
      <p:sp>
        <p:nvSpPr>
          <p:cNvPr id="31" name="TextBox 31"/>
          <p:cNvSpPr txBox="1"/>
          <p:nvPr/>
        </p:nvSpPr>
        <p:spPr>
          <a:xfrm>
            <a:off x="12518054" y="7330084"/>
            <a:ext cx="956171" cy="646431"/>
          </a:xfrm>
          <a:prstGeom prst="rect">
            <a:avLst/>
          </a:prstGeom>
        </p:spPr>
        <p:txBody>
          <a:bodyPr lIns="0" tIns="0" rIns="0" bIns="0" rtlCol="0" anchor="t">
            <a:spAutoFit/>
          </a:bodyPr>
          <a:lstStyle/>
          <a:p>
            <a:pPr algn="ctr">
              <a:lnSpc>
                <a:spcPts val="5319"/>
              </a:lnSpc>
              <a:spcBef>
                <a:spcPct val="0"/>
              </a:spcBef>
            </a:pPr>
            <a:r>
              <a:rPr lang="en-US" sz="3799">
                <a:solidFill>
                  <a:srgbClr val="000000"/>
                </a:solidFill>
                <a:latin typeface="Open Sans"/>
                <a:ea typeface="Open Sans"/>
                <a:cs typeface="Open Sans"/>
                <a:sym typeface="Open Sans"/>
              </a:rPr>
              <a:t>0.08</a:t>
            </a:r>
          </a:p>
        </p:txBody>
      </p:sp>
      <p:sp>
        <p:nvSpPr>
          <p:cNvPr id="32" name="TextBox 32"/>
          <p:cNvSpPr txBox="1"/>
          <p:nvPr/>
        </p:nvSpPr>
        <p:spPr>
          <a:xfrm>
            <a:off x="12518054" y="6545037"/>
            <a:ext cx="956171" cy="646431"/>
          </a:xfrm>
          <a:prstGeom prst="rect">
            <a:avLst/>
          </a:prstGeom>
        </p:spPr>
        <p:txBody>
          <a:bodyPr lIns="0" tIns="0" rIns="0" bIns="0" rtlCol="0" anchor="t">
            <a:spAutoFit/>
          </a:bodyPr>
          <a:lstStyle/>
          <a:p>
            <a:pPr algn="ctr">
              <a:lnSpc>
                <a:spcPts val="5319"/>
              </a:lnSpc>
              <a:spcBef>
                <a:spcPct val="0"/>
              </a:spcBef>
            </a:pPr>
            <a:r>
              <a:rPr lang="en-US" sz="3799">
                <a:solidFill>
                  <a:srgbClr val="000000"/>
                </a:solidFill>
                <a:latin typeface="Open Sans"/>
                <a:ea typeface="Open Sans"/>
                <a:cs typeface="Open Sans"/>
                <a:sym typeface="Open Sans"/>
              </a:rPr>
              <a:t>0.07</a:t>
            </a:r>
          </a:p>
        </p:txBody>
      </p:sp>
      <p:sp>
        <p:nvSpPr>
          <p:cNvPr id="33" name="TextBox 33"/>
          <p:cNvSpPr txBox="1"/>
          <p:nvPr/>
        </p:nvSpPr>
        <p:spPr>
          <a:xfrm>
            <a:off x="3366572" y="3963265"/>
            <a:ext cx="1933178" cy="464821"/>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Open Sans"/>
                <a:ea typeface="Open Sans"/>
                <a:cs typeface="Open Sans"/>
                <a:sym typeface="Open Sans"/>
              </a:rPr>
              <a:t>Gamma Ray</a:t>
            </a:r>
          </a:p>
        </p:txBody>
      </p:sp>
      <p:sp>
        <p:nvSpPr>
          <p:cNvPr id="34" name="TextBox 34"/>
          <p:cNvSpPr txBox="1"/>
          <p:nvPr/>
        </p:nvSpPr>
        <p:spPr>
          <a:xfrm>
            <a:off x="3590945" y="5281385"/>
            <a:ext cx="1578173" cy="464821"/>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Open Sans"/>
                <a:ea typeface="Open Sans"/>
                <a:cs typeface="Open Sans"/>
                <a:sym typeface="Open Sans"/>
              </a:rPr>
              <a:t>Resistivity</a:t>
            </a:r>
          </a:p>
        </p:txBody>
      </p:sp>
      <p:sp>
        <p:nvSpPr>
          <p:cNvPr id="35" name="TextBox 35"/>
          <p:cNvSpPr txBox="1"/>
          <p:nvPr/>
        </p:nvSpPr>
        <p:spPr>
          <a:xfrm>
            <a:off x="4313367" y="6726648"/>
            <a:ext cx="394593" cy="464821"/>
          </a:xfrm>
          <a:prstGeom prst="rect">
            <a:avLst/>
          </a:prstGeom>
        </p:spPr>
        <p:txBody>
          <a:bodyPr lIns="0" tIns="0" rIns="0" bIns="0" rtlCol="0" anchor="t">
            <a:spAutoFit/>
          </a:bodyPr>
          <a:lstStyle/>
          <a:p>
            <a:pPr algn="ctr">
              <a:lnSpc>
                <a:spcPts val="3779"/>
              </a:lnSpc>
              <a:spcBef>
                <a:spcPct val="0"/>
              </a:spcBef>
            </a:pPr>
            <a:r>
              <a:rPr lang="en-US" sz="2699">
                <a:solidFill>
                  <a:srgbClr val="000000"/>
                </a:solidFill>
                <a:latin typeface="Open Sans"/>
                <a:ea typeface="Open Sans"/>
                <a:cs typeface="Open Sans"/>
                <a:sym typeface="Open Sans"/>
              </a:rPr>
              <a:t>SP</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836315" y="914400"/>
            <a:ext cx="13051828" cy="1052387"/>
          </a:xfrm>
          <a:prstGeom prst="rect">
            <a:avLst/>
          </a:prstGeom>
        </p:spPr>
        <p:txBody>
          <a:bodyPr lIns="0" tIns="0" rIns="0" bIns="0" rtlCol="0" anchor="t">
            <a:spAutoFit/>
          </a:bodyPr>
          <a:lstStyle/>
          <a:p>
            <a:pPr algn="ctr">
              <a:lnSpc>
                <a:spcPts val="8669"/>
              </a:lnSpc>
            </a:pPr>
            <a:r>
              <a:rPr lang="en-US" sz="6192" b="1">
                <a:solidFill>
                  <a:srgbClr val="000000"/>
                </a:solidFill>
                <a:latin typeface="Century Gothic Paneuropean Bold"/>
                <a:ea typeface="Century Gothic Paneuropean Bold"/>
                <a:cs typeface="Century Gothic Paneuropean Bold"/>
                <a:sym typeface="Century Gothic Paneuropean Bold"/>
              </a:rPr>
              <a:t>SUPPORT VECTOR CLASSIFIER(SVC)</a:t>
            </a:r>
          </a:p>
        </p:txBody>
      </p:sp>
      <p:grpSp>
        <p:nvGrpSpPr>
          <p:cNvPr id="3" name="Group 3"/>
          <p:cNvGrpSpPr/>
          <p:nvPr/>
        </p:nvGrpSpPr>
        <p:grpSpPr>
          <a:xfrm>
            <a:off x="16718943" y="-989670"/>
            <a:ext cx="1080715" cy="2956684"/>
            <a:chOff x="0" y="0"/>
            <a:chExt cx="284633" cy="778715"/>
          </a:xfrm>
        </p:grpSpPr>
        <p:sp>
          <p:nvSpPr>
            <p:cNvPr id="4" name="Freeform 4"/>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5" name="TextBox 5"/>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529352" y="9803843"/>
            <a:ext cx="19346704" cy="821917"/>
            <a:chOff x="0" y="0"/>
            <a:chExt cx="5095428" cy="216472"/>
          </a:xfrm>
        </p:grpSpPr>
        <p:sp>
          <p:nvSpPr>
            <p:cNvPr id="7" name="Freeform 7"/>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8" name="TextBox 8"/>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488343" y="-989670"/>
            <a:ext cx="1080715" cy="2956684"/>
            <a:chOff x="0" y="0"/>
            <a:chExt cx="284633" cy="778715"/>
          </a:xfrm>
        </p:grpSpPr>
        <p:sp>
          <p:nvSpPr>
            <p:cNvPr id="12" name="Freeform 12"/>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3" name="TextBox 13"/>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2096137" y="2337730"/>
            <a:ext cx="13514397" cy="6652651"/>
          </a:xfrm>
          <a:prstGeom prst="rect">
            <a:avLst/>
          </a:prstGeom>
        </p:spPr>
        <p:txBody>
          <a:bodyPr lIns="0" tIns="0" rIns="0" bIns="0" rtlCol="0" anchor="t">
            <a:spAutoFit/>
          </a:bodyPr>
          <a:lstStyle/>
          <a:p>
            <a:pPr marL="865381" lvl="1" indent="-432690" algn="l">
              <a:lnSpc>
                <a:spcPts val="5611"/>
              </a:lnSpc>
              <a:buFont typeface="Arial"/>
              <a:buChar char="•"/>
            </a:pPr>
            <a:r>
              <a:rPr lang="en-US" sz="4008" b="1">
                <a:solidFill>
                  <a:srgbClr val="000000"/>
                </a:solidFill>
                <a:latin typeface="Open Sans Bold"/>
                <a:ea typeface="Open Sans Bold"/>
                <a:cs typeface="Open Sans Bold"/>
                <a:sym typeface="Open Sans Bold"/>
              </a:rPr>
              <a:t>Type:</a:t>
            </a:r>
            <a:r>
              <a:rPr lang="en-US" sz="4008">
                <a:solidFill>
                  <a:srgbClr val="000000"/>
                </a:solidFill>
                <a:latin typeface="Open Sans"/>
                <a:ea typeface="Open Sans"/>
                <a:cs typeface="Open Sans"/>
                <a:sym typeface="Open Sans"/>
              </a:rPr>
              <a:t>  Classification algorithm (can be linear or non-linear)</a:t>
            </a:r>
          </a:p>
          <a:p>
            <a:pPr marL="865381" lvl="1" indent="-432690" algn="l">
              <a:lnSpc>
                <a:spcPts val="5611"/>
              </a:lnSpc>
              <a:buFont typeface="Arial"/>
              <a:buChar char="•"/>
            </a:pPr>
            <a:r>
              <a:rPr lang="en-US" sz="4008" b="1">
                <a:solidFill>
                  <a:srgbClr val="000000"/>
                </a:solidFill>
                <a:latin typeface="Open Sans Bold"/>
                <a:ea typeface="Open Sans Bold"/>
                <a:cs typeface="Open Sans Bold"/>
                <a:sym typeface="Open Sans Bold"/>
              </a:rPr>
              <a:t>Working:</a:t>
            </a:r>
            <a:r>
              <a:rPr lang="en-US" sz="4008">
                <a:solidFill>
                  <a:srgbClr val="000000"/>
                </a:solidFill>
                <a:latin typeface="Open Sans"/>
                <a:ea typeface="Open Sans"/>
                <a:cs typeface="Open Sans"/>
                <a:sym typeface="Open Sans"/>
              </a:rPr>
              <a:t> Finds a line or surface (called a hyperplane) that best separates different classes. It uses only the closest points (support vectors) to decide this boundary.</a:t>
            </a:r>
          </a:p>
          <a:p>
            <a:pPr marL="865381" lvl="1" indent="-432690" algn="l">
              <a:lnSpc>
                <a:spcPts val="5611"/>
              </a:lnSpc>
              <a:buFont typeface="Arial"/>
              <a:buChar char="•"/>
            </a:pPr>
            <a:r>
              <a:rPr lang="en-US" sz="4008" b="1">
                <a:solidFill>
                  <a:srgbClr val="000000"/>
                </a:solidFill>
                <a:latin typeface="Open Sans Bold"/>
                <a:ea typeface="Open Sans Bold"/>
                <a:cs typeface="Open Sans Bold"/>
                <a:sym typeface="Open Sans Bold"/>
              </a:rPr>
              <a:t>Why used:</a:t>
            </a:r>
            <a:r>
              <a:rPr lang="en-US" sz="4008">
                <a:solidFill>
                  <a:srgbClr val="000000"/>
                </a:solidFill>
                <a:latin typeface="Open Sans"/>
                <a:ea typeface="Open Sans"/>
                <a:cs typeface="Open Sans"/>
                <a:sym typeface="Open Sans"/>
              </a:rPr>
              <a:t>  Works well when classes are clearly separated. Useful for small to medium datasets, especially with many features.</a:t>
            </a:r>
          </a:p>
          <a:p>
            <a:pPr algn="l">
              <a:lnSpc>
                <a:spcPts val="2325"/>
              </a:lnSpc>
              <a:spcBef>
                <a:spcPct val="0"/>
              </a:spcBef>
            </a:pPr>
            <a:endParaRPr lang="en-US" sz="4008">
              <a:solidFill>
                <a:srgbClr val="000000"/>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3900196" y="1967015"/>
            <a:ext cx="8719602" cy="7671465"/>
          </a:xfrm>
          <a:custGeom>
            <a:avLst/>
            <a:gdLst/>
            <a:ahLst/>
            <a:cxnLst/>
            <a:rect l="l" t="t" r="r" b="b"/>
            <a:pathLst>
              <a:path w="8719602" h="7671465">
                <a:moveTo>
                  <a:pt x="0" y="0"/>
                </a:moveTo>
                <a:lnTo>
                  <a:pt x="8719602" y="0"/>
                </a:lnTo>
                <a:lnTo>
                  <a:pt x="8719602" y="7671464"/>
                </a:lnTo>
                <a:lnTo>
                  <a:pt x="0" y="7671464"/>
                </a:lnTo>
                <a:lnTo>
                  <a:pt x="0" y="0"/>
                </a:lnTo>
                <a:close/>
              </a:path>
            </a:pathLst>
          </a:custGeom>
          <a:blipFill>
            <a:blip r:embed="rId3"/>
            <a:stretch>
              <a:fillRect r="-1857"/>
            </a:stretch>
          </a:blipFill>
        </p:spPr>
      </p:sp>
      <p:sp>
        <p:nvSpPr>
          <p:cNvPr id="14" name="TextBox 14"/>
          <p:cNvSpPr txBox="1"/>
          <p:nvPr/>
        </p:nvSpPr>
        <p:spPr>
          <a:xfrm>
            <a:off x="1836315" y="914400"/>
            <a:ext cx="13051828" cy="1052387"/>
          </a:xfrm>
          <a:prstGeom prst="rect">
            <a:avLst/>
          </a:prstGeom>
        </p:spPr>
        <p:txBody>
          <a:bodyPr lIns="0" tIns="0" rIns="0" bIns="0" rtlCol="0" anchor="t">
            <a:spAutoFit/>
          </a:bodyPr>
          <a:lstStyle/>
          <a:p>
            <a:pPr algn="ctr">
              <a:lnSpc>
                <a:spcPts val="8669"/>
              </a:lnSpc>
            </a:pPr>
            <a:r>
              <a:rPr lang="en-US" sz="6192" b="1">
                <a:solidFill>
                  <a:srgbClr val="000000"/>
                </a:solidFill>
                <a:latin typeface="Century Gothic Paneuropean Bold"/>
                <a:ea typeface="Century Gothic Paneuropean Bold"/>
                <a:cs typeface="Century Gothic Paneuropean Bold"/>
                <a:sym typeface="Century Gothic Paneuropean Bold"/>
              </a:rPr>
              <a:t>SUPPORT VECTOR CLASSIFIER(SVC)</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955692" y="914400"/>
            <a:ext cx="11505290" cy="1052387"/>
          </a:xfrm>
          <a:prstGeom prst="rect">
            <a:avLst/>
          </a:prstGeom>
        </p:spPr>
        <p:txBody>
          <a:bodyPr lIns="0" tIns="0" rIns="0" bIns="0" rtlCol="0" anchor="t">
            <a:spAutoFit/>
          </a:bodyPr>
          <a:lstStyle/>
          <a:p>
            <a:pPr algn="ctr">
              <a:lnSpc>
                <a:spcPts val="8669"/>
              </a:lnSpc>
            </a:pPr>
            <a:r>
              <a:rPr lang="en-US" sz="6192" b="1">
                <a:solidFill>
                  <a:srgbClr val="000000"/>
                </a:solidFill>
                <a:latin typeface="Century Gothic Paneuropean Bold"/>
                <a:ea typeface="Century Gothic Paneuropean Bold"/>
                <a:cs typeface="Century Gothic Paneuropean Bold"/>
                <a:sym typeface="Century Gothic Paneuropean Bold"/>
              </a:rPr>
              <a:t>K-NEAREST NEIGHBOURS(KNN)</a:t>
            </a:r>
          </a:p>
        </p:txBody>
      </p:sp>
      <p:grpSp>
        <p:nvGrpSpPr>
          <p:cNvPr id="3" name="Group 3"/>
          <p:cNvGrpSpPr/>
          <p:nvPr/>
        </p:nvGrpSpPr>
        <p:grpSpPr>
          <a:xfrm>
            <a:off x="16718943" y="-989670"/>
            <a:ext cx="1080715" cy="2956684"/>
            <a:chOff x="0" y="0"/>
            <a:chExt cx="284633" cy="778715"/>
          </a:xfrm>
        </p:grpSpPr>
        <p:sp>
          <p:nvSpPr>
            <p:cNvPr id="4" name="Freeform 4"/>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5" name="TextBox 5"/>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529352" y="9803843"/>
            <a:ext cx="19346704" cy="821917"/>
            <a:chOff x="0" y="0"/>
            <a:chExt cx="5095428" cy="216472"/>
          </a:xfrm>
        </p:grpSpPr>
        <p:sp>
          <p:nvSpPr>
            <p:cNvPr id="7" name="Freeform 7"/>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8" name="TextBox 8"/>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488343" y="-989670"/>
            <a:ext cx="1080715" cy="2956684"/>
            <a:chOff x="0" y="0"/>
            <a:chExt cx="284633" cy="778715"/>
          </a:xfrm>
        </p:grpSpPr>
        <p:sp>
          <p:nvSpPr>
            <p:cNvPr id="12" name="Freeform 12"/>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3" name="TextBox 13"/>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1569057" y="2523108"/>
            <a:ext cx="13986053" cy="6172448"/>
          </a:xfrm>
          <a:prstGeom prst="rect">
            <a:avLst/>
          </a:prstGeom>
        </p:spPr>
        <p:txBody>
          <a:bodyPr lIns="0" tIns="0" rIns="0" bIns="0" rtlCol="0" anchor="t">
            <a:spAutoFit/>
          </a:bodyPr>
          <a:lstStyle/>
          <a:p>
            <a:pPr marL="895582" lvl="1" indent="-447791" algn="l">
              <a:lnSpc>
                <a:spcPts val="5807"/>
              </a:lnSpc>
              <a:buFont typeface="Arial"/>
              <a:buChar char="•"/>
            </a:pPr>
            <a:r>
              <a:rPr lang="en-US" sz="4148">
                <a:solidFill>
                  <a:srgbClr val="000000"/>
                </a:solidFill>
                <a:latin typeface="Open Sans"/>
                <a:ea typeface="Open Sans"/>
                <a:cs typeface="Open Sans"/>
                <a:sym typeface="Open Sans"/>
              </a:rPr>
              <a:t>Type: Instance-based classification algorithm</a:t>
            </a:r>
          </a:p>
          <a:p>
            <a:pPr marL="895582" lvl="1" indent="-447791" algn="l">
              <a:lnSpc>
                <a:spcPts val="5807"/>
              </a:lnSpc>
              <a:buFont typeface="Arial"/>
              <a:buChar char="•"/>
            </a:pPr>
            <a:r>
              <a:rPr lang="en-US" sz="4148">
                <a:solidFill>
                  <a:srgbClr val="000000"/>
                </a:solidFill>
                <a:latin typeface="Open Sans"/>
                <a:ea typeface="Open Sans"/>
                <a:cs typeface="Open Sans"/>
                <a:sym typeface="Open Sans"/>
              </a:rPr>
              <a:t>Working: Classifies a new point based on the majority class of its K nearest neighbors in the training data. It uses distance (like Euclidean) to find these neighbors.</a:t>
            </a:r>
          </a:p>
          <a:p>
            <a:pPr marL="895582" lvl="1" indent="-447791" algn="l">
              <a:lnSpc>
                <a:spcPts val="5807"/>
              </a:lnSpc>
              <a:buFont typeface="Arial"/>
              <a:buChar char="•"/>
            </a:pPr>
            <a:r>
              <a:rPr lang="en-US" sz="4148">
                <a:solidFill>
                  <a:srgbClr val="000000"/>
                </a:solidFill>
                <a:latin typeface="Open Sans"/>
                <a:ea typeface="Open Sans"/>
                <a:cs typeface="Open Sans"/>
                <a:sym typeface="Open Sans"/>
              </a:rPr>
              <a:t>Why used: Simple and easy to implement. Works well when decision boundaries are irregular or non-linear.</a:t>
            </a:r>
          </a:p>
          <a:p>
            <a:pPr algn="l">
              <a:lnSpc>
                <a:spcPts val="2406"/>
              </a:lnSpc>
              <a:spcBef>
                <a:spcPct val="0"/>
              </a:spcBef>
            </a:pPr>
            <a:endParaRPr lang="en-US" sz="4148">
              <a:solidFill>
                <a:srgbClr val="000000"/>
              </a:solidFill>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494848"/>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4245914" y="2090679"/>
            <a:ext cx="8609755" cy="7167621"/>
          </a:xfrm>
          <a:custGeom>
            <a:avLst/>
            <a:gdLst/>
            <a:ahLst/>
            <a:cxnLst/>
            <a:rect l="l" t="t" r="r" b="b"/>
            <a:pathLst>
              <a:path w="8609755" h="7167621">
                <a:moveTo>
                  <a:pt x="0" y="0"/>
                </a:moveTo>
                <a:lnTo>
                  <a:pt x="8609755" y="0"/>
                </a:lnTo>
                <a:lnTo>
                  <a:pt x="8609755" y="7167621"/>
                </a:lnTo>
                <a:lnTo>
                  <a:pt x="0" y="7167621"/>
                </a:lnTo>
                <a:lnTo>
                  <a:pt x="0" y="0"/>
                </a:lnTo>
                <a:close/>
              </a:path>
            </a:pathLst>
          </a:custGeom>
          <a:blipFill>
            <a:blip r:embed="rId3"/>
            <a:stretch>
              <a:fillRect/>
            </a:stretch>
          </a:blipFill>
        </p:spPr>
      </p:sp>
      <p:sp>
        <p:nvSpPr>
          <p:cNvPr id="14" name="TextBox 14"/>
          <p:cNvSpPr txBox="1"/>
          <p:nvPr/>
        </p:nvSpPr>
        <p:spPr>
          <a:xfrm>
            <a:off x="1955692" y="914400"/>
            <a:ext cx="11505290" cy="1052387"/>
          </a:xfrm>
          <a:prstGeom prst="rect">
            <a:avLst/>
          </a:prstGeom>
        </p:spPr>
        <p:txBody>
          <a:bodyPr lIns="0" tIns="0" rIns="0" bIns="0" rtlCol="0" anchor="t">
            <a:spAutoFit/>
          </a:bodyPr>
          <a:lstStyle/>
          <a:p>
            <a:pPr algn="ctr">
              <a:lnSpc>
                <a:spcPts val="8669"/>
              </a:lnSpc>
            </a:pPr>
            <a:r>
              <a:rPr lang="en-US" sz="6192" b="1">
                <a:solidFill>
                  <a:srgbClr val="000000"/>
                </a:solidFill>
                <a:latin typeface="Century Gothic Paneuropean Bold"/>
                <a:ea typeface="Century Gothic Paneuropean Bold"/>
                <a:cs typeface="Century Gothic Paneuropean Bold"/>
                <a:sym typeface="Century Gothic Paneuropean Bold"/>
              </a:rPr>
              <a:t>K-NEAREST NEIGHBOURS(KNN)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855079" y="641945"/>
            <a:ext cx="7058857" cy="1094740"/>
          </a:xfrm>
          <a:prstGeom prst="rect">
            <a:avLst/>
          </a:prstGeom>
        </p:spPr>
        <p:txBody>
          <a:bodyPr lIns="0" tIns="0" rIns="0" bIns="0" rtlCol="0" anchor="t">
            <a:spAutoFit/>
          </a:bodyPr>
          <a:lstStyle/>
          <a:p>
            <a:pPr algn="ctr">
              <a:lnSpc>
                <a:spcPts val="8959"/>
              </a:lnSpc>
            </a:pPr>
            <a:r>
              <a:rPr lang="en-US" sz="6399" b="1">
                <a:solidFill>
                  <a:srgbClr val="000000"/>
                </a:solidFill>
                <a:latin typeface="Century Gothic Paneuropean Bold"/>
                <a:ea typeface="Century Gothic Paneuropean Bold"/>
                <a:cs typeface="Century Gothic Paneuropean Bold"/>
                <a:sym typeface="Century Gothic Paneuropean Bold"/>
              </a:rPr>
              <a:t>RANDOM FOREST</a:t>
            </a:r>
          </a:p>
        </p:txBody>
      </p:sp>
      <p:sp>
        <p:nvSpPr>
          <p:cNvPr id="3" name="TextBox 3"/>
          <p:cNvSpPr txBox="1"/>
          <p:nvPr/>
        </p:nvSpPr>
        <p:spPr>
          <a:xfrm>
            <a:off x="1855079" y="2591982"/>
            <a:ext cx="13488944" cy="6611573"/>
          </a:xfrm>
          <a:prstGeom prst="rect">
            <a:avLst/>
          </a:prstGeom>
        </p:spPr>
        <p:txBody>
          <a:bodyPr lIns="0" tIns="0" rIns="0" bIns="0" rtlCol="0" anchor="t">
            <a:spAutoFit/>
          </a:bodyPr>
          <a:lstStyle/>
          <a:p>
            <a:pPr marL="887426" lvl="1" indent="-443713" algn="l">
              <a:lnSpc>
                <a:spcPts val="5754"/>
              </a:lnSpc>
              <a:buFont typeface="Arial"/>
              <a:buChar char="•"/>
            </a:pPr>
            <a:r>
              <a:rPr lang="en-US" sz="4110">
                <a:solidFill>
                  <a:srgbClr val="000000"/>
                </a:solidFill>
                <a:latin typeface="Century Gothic Paneuropean"/>
                <a:ea typeface="Century Gothic Paneuropean"/>
                <a:cs typeface="Century Gothic Paneuropean"/>
                <a:sym typeface="Century Gothic Paneuropean"/>
              </a:rPr>
              <a:t>Type: Ensemble model (bagging of decision trees)</a:t>
            </a:r>
          </a:p>
          <a:p>
            <a:pPr marL="887426" lvl="1" indent="-443713" algn="l">
              <a:lnSpc>
                <a:spcPts val="5754"/>
              </a:lnSpc>
              <a:buFont typeface="Arial"/>
              <a:buChar char="•"/>
            </a:pPr>
            <a:r>
              <a:rPr lang="en-US" sz="4110">
                <a:solidFill>
                  <a:srgbClr val="000000"/>
                </a:solidFill>
                <a:latin typeface="Century Gothic Paneuropean"/>
                <a:ea typeface="Century Gothic Paneuropean"/>
                <a:cs typeface="Century Gothic Paneuropean"/>
                <a:sym typeface="Century Gothic Paneuropean"/>
              </a:rPr>
              <a:t>Working: Builds multiple decision trees and combines their outputs to improve accuracy and reduce overfitting.</a:t>
            </a:r>
          </a:p>
          <a:p>
            <a:pPr marL="887426" lvl="1" indent="-443713" algn="l">
              <a:lnSpc>
                <a:spcPts val="5754"/>
              </a:lnSpc>
              <a:buFont typeface="Arial"/>
              <a:buChar char="•"/>
            </a:pPr>
            <a:r>
              <a:rPr lang="en-US" sz="4110">
                <a:solidFill>
                  <a:srgbClr val="000000"/>
                </a:solidFill>
                <a:latin typeface="Century Gothic Paneuropean"/>
                <a:ea typeface="Century Gothic Paneuropean"/>
                <a:cs typeface="Century Gothic Paneuropean"/>
                <a:sym typeface="Century Gothic Paneuropean"/>
              </a:rPr>
              <a:t>Why used: Robust to noise, handles non-linear relationships, and works well with high-dimensional data.</a:t>
            </a:r>
          </a:p>
          <a:p>
            <a:pPr algn="l">
              <a:lnSpc>
                <a:spcPts val="6609"/>
              </a:lnSpc>
            </a:pPr>
            <a:endParaRPr lang="en-US" sz="4110">
              <a:solidFill>
                <a:srgbClr val="000000"/>
              </a:solidFill>
              <a:latin typeface="Century Gothic Paneuropean"/>
              <a:ea typeface="Century Gothic Paneuropean"/>
              <a:cs typeface="Century Gothic Paneuropean"/>
              <a:sym typeface="Century Gothic Paneuropean"/>
            </a:endParaRPr>
          </a:p>
        </p:txBody>
      </p:sp>
      <p:grpSp>
        <p:nvGrpSpPr>
          <p:cNvPr id="4" name="Group 4"/>
          <p:cNvGrpSpPr/>
          <p:nvPr/>
        </p:nvGrpSpPr>
        <p:grpSpPr>
          <a:xfrm>
            <a:off x="16718943" y="-989670"/>
            <a:ext cx="1080715" cy="2956684"/>
            <a:chOff x="0" y="0"/>
            <a:chExt cx="284633" cy="778715"/>
          </a:xfrm>
        </p:grpSpPr>
        <p:sp>
          <p:nvSpPr>
            <p:cNvPr id="5" name="Freeform 5"/>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6" name="TextBox 6"/>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529352" y="9803843"/>
            <a:ext cx="19346704" cy="821917"/>
            <a:chOff x="0" y="0"/>
            <a:chExt cx="5095428" cy="216472"/>
          </a:xfrm>
        </p:grpSpPr>
        <p:sp>
          <p:nvSpPr>
            <p:cNvPr id="8" name="Freeform 8"/>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9" name="TextBox 9"/>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2887306" y="1887780"/>
            <a:ext cx="12513389" cy="7370520"/>
          </a:xfrm>
          <a:custGeom>
            <a:avLst/>
            <a:gdLst/>
            <a:ahLst/>
            <a:cxnLst/>
            <a:rect l="l" t="t" r="r" b="b"/>
            <a:pathLst>
              <a:path w="12513389" h="7370520">
                <a:moveTo>
                  <a:pt x="0" y="0"/>
                </a:moveTo>
                <a:lnTo>
                  <a:pt x="12513388" y="0"/>
                </a:lnTo>
                <a:lnTo>
                  <a:pt x="12513388" y="7370520"/>
                </a:lnTo>
                <a:lnTo>
                  <a:pt x="0" y="7370520"/>
                </a:lnTo>
                <a:lnTo>
                  <a:pt x="0" y="0"/>
                </a:lnTo>
                <a:close/>
              </a:path>
            </a:pathLst>
          </a:custGeom>
          <a:blipFill>
            <a:blip r:embed="rId3"/>
            <a:stretch>
              <a:fillRect t="-15300" b="-11867"/>
            </a:stretch>
          </a:blipFill>
        </p:spPr>
      </p:sp>
      <p:sp>
        <p:nvSpPr>
          <p:cNvPr id="14" name="TextBox 14"/>
          <p:cNvSpPr txBox="1"/>
          <p:nvPr/>
        </p:nvSpPr>
        <p:spPr>
          <a:xfrm>
            <a:off x="1855079" y="641945"/>
            <a:ext cx="7058857" cy="1094740"/>
          </a:xfrm>
          <a:prstGeom prst="rect">
            <a:avLst/>
          </a:prstGeom>
        </p:spPr>
        <p:txBody>
          <a:bodyPr lIns="0" tIns="0" rIns="0" bIns="0" rtlCol="0" anchor="t">
            <a:spAutoFit/>
          </a:bodyPr>
          <a:lstStyle/>
          <a:p>
            <a:pPr algn="ctr">
              <a:lnSpc>
                <a:spcPts val="8959"/>
              </a:lnSpc>
            </a:pPr>
            <a:r>
              <a:rPr lang="en-US" sz="6399" b="1">
                <a:solidFill>
                  <a:srgbClr val="000000"/>
                </a:solidFill>
                <a:latin typeface="Century Gothic Paneuropean Bold"/>
                <a:ea typeface="Century Gothic Paneuropean Bold"/>
                <a:cs typeface="Century Gothic Paneuropean Bold"/>
                <a:sym typeface="Century Gothic Paneuropean Bold"/>
              </a:rPr>
              <a:t>RANDOM FOREST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3"/>
          <p:cNvGrpSpPr/>
          <p:nvPr/>
        </p:nvGrpSpPr>
        <p:grpSpPr>
          <a:xfrm>
            <a:off x="5614571" y="2734075"/>
            <a:ext cx="1766403" cy="1619362"/>
            <a:chOff x="0" y="0"/>
            <a:chExt cx="465226" cy="426499"/>
          </a:xfrm>
        </p:grpSpPr>
        <p:sp>
          <p:nvSpPr>
            <p:cNvPr id="14" name="Freeform 14"/>
            <p:cNvSpPr/>
            <p:nvPr/>
          </p:nvSpPr>
          <p:spPr>
            <a:xfrm>
              <a:off x="0" y="0"/>
              <a:ext cx="465226" cy="426499"/>
            </a:xfrm>
            <a:custGeom>
              <a:avLst/>
              <a:gdLst/>
              <a:ahLst/>
              <a:cxnLst/>
              <a:rect l="l" t="t" r="r" b="b"/>
              <a:pathLst>
                <a:path w="465226" h="426499">
                  <a:moveTo>
                    <a:pt x="0" y="0"/>
                  </a:moveTo>
                  <a:lnTo>
                    <a:pt x="465226" y="0"/>
                  </a:lnTo>
                  <a:lnTo>
                    <a:pt x="465226" y="426499"/>
                  </a:lnTo>
                  <a:lnTo>
                    <a:pt x="0" y="426499"/>
                  </a:lnTo>
                  <a:close/>
                </a:path>
              </a:pathLst>
            </a:custGeom>
            <a:solidFill>
              <a:srgbClr val="FFFFFF"/>
            </a:solidFill>
            <a:ln w="38100" cap="sq">
              <a:solidFill>
                <a:srgbClr val="000000"/>
              </a:solidFill>
              <a:prstDash val="solid"/>
              <a:miter/>
            </a:ln>
          </p:spPr>
        </p:sp>
        <p:sp>
          <p:nvSpPr>
            <p:cNvPr id="15" name="TextBox 15"/>
            <p:cNvSpPr txBox="1"/>
            <p:nvPr/>
          </p:nvSpPr>
          <p:spPr>
            <a:xfrm>
              <a:off x="0" y="-66675"/>
              <a:ext cx="465226" cy="493174"/>
            </a:xfrm>
            <a:prstGeom prst="rect">
              <a:avLst/>
            </a:prstGeom>
          </p:spPr>
          <p:txBody>
            <a:bodyPr lIns="50800" tIns="50800" rIns="50800" bIns="50800" rtlCol="0" anchor="ctr"/>
            <a:lstStyle/>
            <a:p>
              <a:pPr algn="ctr">
                <a:lnSpc>
                  <a:spcPts val="5039"/>
                </a:lnSpc>
              </a:pPr>
              <a:r>
                <a:rPr lang="en-US" sz="3599">
                  <a:solidFill>
                    <a:srgbClr val="000000"/>
                  </a:solidFill>
                  <a:latin typeface="Open Sans"/>
                  <a:ea typeface="Open Sans"/>
                  <a:cs typeface="Open Sans"/>
                  <a:sym typeface="Open Sans"/>
                </a:rPr>
                <a:t>S1</a:t>
              </a:r>
            </a:p>
          </p:txBody>
        </p:sp>
      </p:grpSp>
      <p:grpSp>
        <p:nvGrpSpPr>
          <p:cNvPr id="16" name="Group 16"/>
          <p:cNvGrpSpPr/>
          <p:nvPr/>
        </p:nvGrpSpPr>
        <p:grpSpPr>
          <a:xfrm>
            <a:off x="1427645" y="4899700"/>
            <a:ext cx="1785913" cy="1969932"/>
            <a:chOff x="0" y="0"/>
            <a:chExt cx="470364" cy="518830"/>
          </a:xfrm>
        </p:grpSpPr>
        <p:sp>
          <p:nvSpPr>
            <p:cNvPr id="17" name="Freeform 17"/>
            <p:cNvSpPr/>
            <p:nvPr/>
          </p:nvSpPr>
          <p:spPr>
            <a:xfrm>
              <a:off x="0" y="0"/>
              <a:ext cx="470364" cy="518830"/>
            </a:xfrm>
            <a:custGeom>
              <a:avLst/>
              <a:gdLst/>
              <a:ahLst/>
              <a:cxnLst/>
              <a:rect l="l" t="t" r="r" b="b"/>
              <a:pathLst>
                <a:path w="470364" h="518830">
                  <a:moveTo>
                    <a:pt x="0" y="0"/>
                  </a:moveTo>
                  <a:lnTo>
                    <a:pt x="470364" y="0"/>
                  </a:lnTo>
                  <a:lnTo>
                    <a:pt x="470364" y="518830"/>
                  </a:lnTo>
                  <a:lnTo>
                    <a:pt x="0" y="518830"/>
                  </a:lnTo>
                  <a:close/>
                </a:path>
              </a:pathLst>
            </a:custGeom>
            <a:solidFill>
              <a:srgbClr val="FFFFFF"/>
            </a:solidFill>
            <a:ln w="38100" cap="sq">
              <a:solidFill>
                <a:srgbClr val="000000"/>
              </a:solidFill>
              <a:prstDash val="solid"/>
              <a:miter/>
            </a:ln>
          </p:spPr>
        </p:sp>
        <p:sp>
          <p:nvSpPr>
            <p:cNvPr id="18" name="TextBox 18"/>
            <p:cNvSpPr txBox="1"/>
            <p:nvPr/>
          </p:nvSpPr>
          <p:spPr>
            <a:xfrm>
              <a:off x="0" y="-38100"/>
              <a:ext cx="470364" cy="556930"/>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5611818" y="4856259"/>
            <a:ext cx="1769157" cy="1677085"/>
            <a:chOff x="0" y="0"/>
            <a:chExt cx="465951" cy="441701"/>
          </a:xfrm>
        </p:grpSpPr>
        <p:sp>
          <p:nvSpPr>
            <p:cNvPr id="20" name="Freeform 20"/>
            <p:cNvSpPr/>
            <p:nvPr/>
          </p:nvSpPr>
          <p:spPr>
            <a:xfrm>
              <a:off x="0" y="0"/>
              <a:ext cx="465951" cy="441701"/>
            </a:xfrm>
            <a:custGeom>
              <a:avLst/>
              <a:gdLst/>
              <a:ahLst/>
              <a:cxnLst/>
              <a:rect l="l" t="t" r="r" b="b"/>
              <a:pathLst>
                <a:path w="465951" h="441701">
                  <a:moveTo>
                    <a:pt x="0" y="0"/>
                  </a:moveTo>
                  <a:lnTo>
                    <a:pt x="465951" y="0"/>
                  </a:lnTo>
                  <a:lnTo>
                    <a:pt x="465951" y="441701"/>
                  </a:lnTo>
                  <a:lnTo>
                    <a:pt x="0" y="441701"/>
                  </a:lnTo>
                  <a:close/>
                </a:path>
              </a:pathLst>
            </a:custGeom>
            <a:solidFill>
              <a:srgbClr val="FFFFFF"/>
            </a:solidFill>
            <a:ln w="38100" cap="sq">
              <a:solidFill>
                <a:srgbClr val="000000"/>
              </a:solidFill>
              <a:prstDash val="solid"/>
              <a:miter/>
            </a:ln>
          </p:spPr>
        </p:sp>
        <p:sp>
          <p:nvSpPr>
            <p:cNvPr id="21" name="TextBox 21"/>
            <p:cNvSpPr txBox="1"/>
            <p:nvPr/>
          </p:nvSpPr>
          <p:spPr>
            <a:xfrm>
              <a:off x="0" y="-66675"/>
              <a:ext cx="465951" cy="508376"/>
            </a:xfrm>
            <a:prstGeom prst="rect">
              <a:avLst/>
            </a:prstGeom>
          </p:spPr>
          <p:txBody>
            <a:bodyPr lIns="50800" tIns="50800" rIns="50800" bIns="50800" rtlCol="0" anchor="ctr"/>
            <a:lstStyle/>
            <a:p>
              <a:pPr algn="ctr">
                <a:lnSpc>
                  <a:spcPts val="5179"/>
                </a:lnSpc>
              </a:pPr>
              <a:r>
                <a:rPr lang="en-US" sz="3699">
                  <a:solidFill>
                    <a:srgbClr val="000000"/>
                  </a:solidFill>
                  <a:latin typeface="Open Sans"/>
                  <a:ea typeface="Open Sans"/>
                  <a:cs typeface="Open Sans"/>
                  <a:sym typeface="Open Sans"/>
                </a:rPr>
                <a:t>S2</a:t>
              </a:r>
            </a:p>
          </p:txBody>
        </p:sp>
      </p:grpSp>
      <p:grpSp>
        <p:nvGrpSpPr>
          <p:cNvPr id="22" name="Group 22"/>
          <p:cNvGrpSpPr/>
          <p:nvPr/>
        </p:nvGrpSpPr>
        <p:grpSpPr>
          <a:xfrm>
            <a:off x="5611818" y="7488004"/>
            <a:ext cx="1769827" cy="1680976"/>
            <a:chOff x="0" y="0"/>
            <a:chExt cx="466127" cy="442726"/>
          </a:xfrm>
        </p:grpSpPr>
        <p:sp>
          <p:nvSpPr>
            <p:cNvPr id="23" name="Freeform 23"/>
            <p:cNvSpPr/>
            <p:nvPr/>
          </p:nvSpPr>
          <p:spPr>
            <a:xfrm>
              <a:off x="0" y="0"/>
              <a:ext cx="466127" cy="442726"/>
            </a:xfrm>
            <a:custGeom>
              <a:avLst/>
              <a:gdLst/>
              <a:ahLst/>
              <a:cxnLst/>
              <a:rect l="l" t="t" r="r" b="b"/>
              <a:pathLst>
                <a:path w="466127" h="442726">
                  <a:moveTo>
                    <a:pt x="0" y="0"/>
                  </a:moveTo>
                  <a:lnTo>
                    <a:pt x="466127" y="0"/>
                  </a:lnTo>
                  <a:lnTo>
                    <a:pt x="466127" y="442726"/>
                  </a:lnTo>
                  <a:lnTo>
                    <a:pt x="0" y="442726"/>
                  </a:lnTo>
                  <a:close/>
                </a:path>
              </a:pathLst>
            </a:custGeom>
            <a:solidFill>
              <a:srgbClr val="FFFFFF"/>
            </a:solidFill>
            <a:ln w="38100" cap="sq">
              <a:solidFill>
                <a:srgbClr val="000000"/>
              </a:solidFill>
              <a:prstDash val="solid"/>
              <a:miter/>
            </a:ln>
          </p:spPr>
        </p:sp>
        <p:sp>
          <p:nvSpPr>
            <p:cNvPr id="24" name="TextBox 24"/>
            <p:cNvSpPr txBox="1"/>
            <p:nvPr/>
          </p:nvSpPr>
          <p:spPr>
            <a:xfrm>
              <a:off x="0" y="-66675"/>
              <a:ext cx="466127" cy="509401"/>
            </a:xfrm>
            <a:prstGeom prst="rect">
              <a:avLst/>
            </a:prstGeom>
          </p:spPr>
          <p:txBody>
            <a:bodyPr lIns="50800" tIns="50800" rIns="50800" bIns="50800" rtlCol="0" anchor="ctr"/>
            <a:lstStyle/>
            <a:p>
              <a:pPr algn="ctr">
                <a:lnSpc>
                  <a:spcPts val="5179"/>
                </a:lnSpc>
              </a:pPr>
              <a:r>
                <a:rPr lang="en-US" sz="3699">
                  <a:solidFill>
                    <a:srgbClr val="000000"/>
                  </a:solidFill>
                  <a:latin typeface="Open Sans"/>
                  <a:ea typeface="Open Sans"/>
                  <a:cs typeface="Open Sans"/>
                  <a:sym typeface="Open Sans"/>
                </a:rPr>
                <a:t>Sn</a:t>
              </a:r>
            </a:p>
          </p:txBody>
        </p:sp>
      </p:grpSp>
      <p:sp>
        <p:nvSpPr>
          <p:cNvPr id="25" name="AutoShape 25"/>
          <p:cNvSpPr/>
          <p:nvPr/>
        </p:nvSpPr>
        <p:spPr>
          <a:xfrm flipV="1">
            <a:off x="3213558" y="3543756"/>
            <a:ext cx="2401013" cy="1743801"/>
          </a:xfrm>
          <a:prstGeom prst="line">
            <a:avLst/>
          </a:prstGeom>
          <a:ln w="47625" cap="flat">
            <a:solidFill>
              <a:srgbClr val="000000"/>
            </a:solidFill>
            <a:prstDash val="solid"/>
            <a:headEnd type="none" w="sm" len="sm"/>
            <a:tailEnd type="triangle" w="lg" len="med"/>
          </a:ln>
        </p:spPr>
      </p:sp>
      <p:sp>
        <p:nvSpPr>
          <p:cNvPr id="26" name="AutoShape 26"/>
          <p:cNvSpPr/>
          <p:nvPr/>
        </p:nvSpPr>
        <p:spPr>
          <a:xfrm>
            <a:off x="3285659" y="6638843"/>
            <a:ext cx="2188874" cy="1499813"/>
          </a:xfrm>
          <a:prstGeom prst="line">
            <a:avLst/>
          </a:prstGeom>
          <a:ln w="47625" cap="flat">
            <a:solidFill>
              <a:srgbClr val="000000"/>
            </a:solidFill>
            <a:prstDash val="solid"/>
            <a:headEnd type="none" w="sm" len="sm"/>
            <a:tailEnd type="triangle" w="lg" len="med"/>
          </a:ln>
        </p:spPr>
      </p:sp>
      <p:sp>
        <p:nvSpPr>
          <p:cNvPr id="27" name="AutoShape 27"/>
          <p:cNvSpPr/>
          <p:nvPr/>
        </p:nvSpPr>
        <p:spPr>
          <a:xfrm>
            <a:off x="7380975" y="5812053"/>
            <a:ext cx="845442" cy="0"/>
          </a:xfrm>
          <a:prstGeom prst="line">
            <a:avLst/>
          </a:prstGeom>
          <a:ln w="47625" cap="flat">
            <a:solidFill>
              <a:srgbClr val="000000"/>
            </a:solidFill>
            <a:prstDash val="solid"/>
            <a:headEnd type="none" w="sm" len="sm"/>
            <a:tailEnd type="triangle" w="lg" len="med"/>
          </a:ln>
        </p:spPr>
      </p:sp>
      <p:sp>
        <p:nvSpPr>
          <p:cNvPr id="28" name="AutoShape 28"/>
          <p:cNvSpPr/>
          <p:nvPr/>
        </p:nvSpPr>
        <p:spPr>
          <a:xfrm flipV="1">
            <a:off x="3292629" y="5694801"/>
            <a:ext cx="2319190" cy="281635"/>
          </a:xfrm>
          <a:prstGeom prst="line">
            <a:avLst/>
          </a:prstGeom>
          <a:ln w="47625" cap="flat">
            <a:solidFill>
              <a:srgbClr val="000000"/>
            </a:solidFill>
            <a:prstDash val="solid"/>
            <a:headEnd type="none" w="sm" len="sm"/>
            <a:tailEnd type="triangle" w="lg" len="med"/>
          </a:ln>
        </p:spPr>
      </p:sp>
      <p:grpSp>
        <p:nvGrpSpPr>
          <p:cNvPr id="29" name="Group 29"/>
          <p:cNvGrpSpPr/>
          <p:nvPr/>
        </p:nvGrpSpPr>
        <p:grpSpPr>
          <a:xfrm rot="-2131885">
            <a:off x="2935624" y="3377638"/>
            <a:ext cx="2527490" cy="975943"/>
            <a:chOff x="0" y="0"/>
            <a:chExt cx="665676" cy="257038"/>
          </a:xfrm>
        </p:grpSpPr>
        <p:sp>
          <p:nvSpPr>
            <p:cNvPr id="30" name="Freeform 30"/>
            <p:cNvSpPr/>
            <p:nvPr/>
          </p:nvSpPr>
          <p:spPr>
            <a:xfrm>
              <a:off x="0" y="0"/>
              <a:ext cx="665676" cy="257038"/>
            </a:xfrm>
            <a:custGeom>
              <a:avLst/>
              <a:gdLst/>
              <a:ahLst/>
              <a:cxnLst/>
              <a:rect l="l" t="t" r="r" b="b"/>
              <a:pathLst>
                <a:path w="665676" h="257038">
                  <a:moveTo>
                    <a:pt x="0" y="0"/>
                  </a:moveTo>
                  <a:lnTo>
                    <a:pt x="665676" y="0"/>
                  </a:lnTo>
                  <a:lnTo>
                    <a:pt x="665676" y="257038"/>
                  </a:lnTo>
                  <a:lnTo>
                    <a:pt x="0" y="257038"/>
                  </a:lnTo>
                  <a:close/>
                </a:path>
              </a:pathLst>
            </a:custGeom>
            <a:solidFill>
              <a:srgbClr val="FFFFFF"/>
            </a:solidFill>
            <a:ln w="38100" cap="sq">
              <a:solidFill>
                <a:srgbClr val="FFFFFF"/>
              </a:solidFill>
              <a:prstDash val="solid"/>
              <a:miter/>
            </a:ln>
          </p:spPr>
        </p:sp>
        <p:sp>
          <p:nvSpPr>
            <p:cNvPr id="31" name="TextBox 31"/>
            <p:cNvSpPr txBox="1"/>
            <p:nvPr/>
          </p:nvSpPr>
          <p:spPr>
            <a:xfrm>
              <a:off x="0" y="-57150"/>
              <a:ext cx="665676" cy="314188"/>
            </a:xfrm>
            <a:prstGeom prst="rect">
              <a:avLst/>
            </a:prstGeom>
          </p:spPr>
          <p:txBody>
            <a:bodyPr lIns="50800" tIns="50800" rIns="50800" bIns="50800" rtlCol="0" anchor="ctr"/>
            <a:lstStyle/>
            <a:p>
              <a:pPr algn="ctr">
                <a:lnSpc>
                  <a:spcPts val="3919"/>
                </a:lnSpc>
              </a:pPr>
              <a:r>
                <a:rPr lang="en-US" sz="2799">
                  <a:solidFill>
                    <a:srgbClr val="000000"/>
                  </a:solidFill>
                  <a:latin typeface="Open Sans"/>
                  <a:ea typeface="Open Sans"/>
                  <a:cs typeface="Open Sans"/>
                  <a:sym typeface="Open Sans"/>
                </a:rPr>
                <a:t>Row Sampling</a:t>
              </a:r>
            </a:p>
          </p:txBody>
        </p:sp>
      </p:grpSp>
      <p:sp>
        <p:nvSpPr>
          <p:cNvPr id="32" name="AutoShape 32"/>
          <p:cNvSpPr/>
          <p:nvPr/>
        </p:nvSpPr>
        <p:spPr>
          <a:xfrm flipV="1">
            <a:off x="7381645" y="3567559"/>
            <a:ext cx="845107" cy="23812"/>
          </a:xfrm>
          <a:prstGeom prst="line">
            <a:avLst/>
          </a:prstGeom>
          <a:ln w="47625" cap="flat">
            <a:solidFill>
              <a:srgbClr val="000000"/>
            </a:solidFill>
            <a:prstDash val="solid"/>
            <a:headEnd type="none" w="sm" len="sm"/>
            <a:tailEnd type="triangle" w="lg" len="med"/>
          </a:ln>
        </p:spPr>
      </p:sp>
      <p:sp>
        <p:nvSpPr>
          <p:cNvPr id="33" name="AutoShape 33"/>
          <p:cNvSpPr/>
          <p:nvPr/>
        </p:nvSpPr>
        <p:spPr>
          <a:xfrm>
            <a:off x="7378053" y="8433169"/>
            <a:ext cx="848364" cy="0"/>
          </a:xfrm>
          <a:prstGeom prst="line">
            <a:avLst/>
          </a:prstGeom>
          <a:ln w="47625" cap="flat">
            <a:solidFill>
              <a:srgbClr val="000000"/>
            </a:solidFill>
            <a:prstDash val="solid"/>
            <a:headEnd type="none" w="sm" len="sm"/>
            <a:tailEnd type="triangle" w="lg" len="med"/>
          </a:ln>
        </p:spPr>
      </p:sp>
      <p:grpSp>
        <p:nvGrpSpPr>
          <p:cNvPr id="34" name="Group 34"/>
          <p:cNvGrpSpPr/>
          <p:nvPr/>
        </p:nvGrpSpPr>
        <p:grpSpPr>
          <a:xfrm>
            <a:off x="1569057" y="6869632"/>
            <a:ext cx="1785913" cy="834802"/>
            <a:chOff x="0" y="0"/>
            <a:chExt cx="470364" cy="219866"/>
          </a:xfrm>
        </p:grpSpPr>
        <p:sp>
          <p:nvSpPr>
            <p:cNvPr id="35" name="Freeform 35"/>
            <p:cNvSpPr/>
            <p:nvPr/>
          </p:nvSpPr>
          <p:spPr>
            <a:xfrm>
              <a:off x="0" y="0"/>
              <a:ext cx="470364" cy="219866"/>
            </a:xfrm>
            <a:custGeom>
              <a:avLst/>
              <a:gdLst/>
              <a:ahLst/>
              <a:cxnLst/>
              <a:rect l="l" t="t" r="r" b="b"/>
              <a:pathLst>
                <a:path w="470364" h="219866">
                  <a:moveTo>
                    <a:pt x="0" y="0"/>
                  </a:moveTo>
                  <a:lnTo>
                    <a:pt x="470364" y="0"/>
                  </a:lnTo>
                  <a:lnTo>
                    <a:pt x="470364" y="219866"/>
                  </a:lnTo>
                  <a:lnTo>
                    <a:pt x="0" y="219866"/>
                  </a:lnTo>
                  <a:close/>
                </a:path>
              </a:pathLst>
            </a:custGeom>
            <a:solidFill>
              <a:srgbClr val="FFFFFF"/>
            </a:solidFill>
            <a:ln w="38100" cap="sq">
              <a:solidFill>
                <a:srgbClr val="FFFFFF"/>
              </a:solidFill>
              <a:prstDash val="solid"/>
              <a:miter/>
            </a:ln>
          </p:spPr>
        </p:sp>
        <p:sp>
          <p:nvSpPr>
            <p:cNvPr id="36" name="TextBox 36"/>
            <p:cNvSpPr txBox="1"/>
            <p:nvPr/>
          </p:nvSpPr>
          <p:spPr>
            <a:xfrm>
              <a:off x="0" y="-66675"/>
              <a:ext cx="470364" cy="286541"/>
            </a:xfrm>
            <a:prstGeom prst="rect">
              <a:avLst/>
            </a:prstGeom>
          </p:spPr>
          <p:txBody>
            <a:bodyPr lIns="50800" tIns="50800" rIns="50800" bIns="50800" rtlCol="0" anchor="ctr"/>
            <a:lstStyle/>
            <a:p>
              <a:pPr algn="ctr">
                <a:lnSpc>
                  <a:spcPts val="4619"/>
                </a:lnSpc>
              </a:pPr>
              <a:r>
                <a:rPr lang="en-US" sz="3299">
                  <a:solidFill>
                    <a:srgbClr val="000000"/>
                  </a:solidFill>
                  <a:latin typeface="Open Sans"/>
                  <a:ea typeface="Open Sans"/>
                  <a:cs typeface="Open Sans"/>
                  <a:sym typeface="Open Sans"/>
                </a:rPr>
                <a:t>Dataset</a:t>
              </a:r>
            </a:p>
          </p:txBody>
        </p:sp>
      </p:grpSp>
      <p:grpSp>
        <p:nvGrpSpPr>
          <p:cNvPr id="37" name="Group 37"/>
          <p:cNvGrpSpPr/>
          <p:nvPr/>
        </p:nvGrpSpPr>
        <p:grpSpPr>
          <a:xfrm>
            <a:off x="8226417" y="2734075"/>
            <a:ext cx="2430488" cy="1619362"/>
            <a:chOff x="0" y="0"/>
            <a:chExt cx="640129" cy="426499"/>
          </a:xfrm>
        </p:grpSpPr>
        <p:sp>
          <p:nvSpPr>
            <p:cNvPr id="38" name="Freeform 38"/>
            <p:cNvSpPr/>
            <p:nvPr/>
          </p:nvSpPr>
          <p:spPr>
            <a:xfrm>
              <a:off x="0" y="0"/>
              <a:ext cx="640129" cy="426499"/>
            </a:xfrm>
            <a:custGeom>
              <a:avLst/>
              <a:gdLst/>
              <a:ahLst/>
              <a:cxnLst/>
              <a:rect l="l" t="t" r="r" b="b"/>
              <a:pathLst>
                <a:path w="640129" h="426499">
                  <a:moveTo>
                    <a:pt x="0" y="0"/>
                  </a:moveTo>
                  <a:lnTo>
                    <a:pt x="640129" y="0"/>
                  </a:lnTo>
                  <a:lnTo>
                    <a:pt x="640129" y="426499"/>
                  </a:lnTo>
                  <a:lnTo>
                    <a:pt x="0" y="426499"/>
                  </a:lnTo>
                  <a:close/>
                </a:path>
              </a:pathLst>
            </a:custGeom>
            <a:solidFill>
              <a:srgbClr val="FFFFFF"/>
            </a:solidFill>
            <a:ln w="38100" cap="sq">
              <a:solidFill>
                <a:srgbClr val="000000"/>
              </a:solidFill>
              <a:prstDash val="solid"/>
              <a:miter/>
            </a:ln>
          </p:spPr>
        </p:sp>
        <p:sp>
          <p:nvSpPr>
            <p:cNvPr id="39" name="TextBox 39"/>
            <p:cNvSpPr txBox="1"/>
            <p:nvPr/>
          </p:nvSpPr>
          <p:spPr>
            <a:xfrm>
              <a:off x="0" y="-66675"/>
              <a:ext cx="640129" cy="493174"/>
            </a:xfrm>
            <a:prstGeom prst="rect">
              <a:avLst/>
            </a:prstGeom>
          </p:spPr>
          <p:txBody>
            <a:bodyPr lIns="50800" tIns="50800" rIns="50800" bIns="50800" rtlCol="0" anchor="ctr"/>
            <a:lstStyle/>
            <a:p>
              <a:pPr algn="ctr">
                <a:lnSpc>
                  <a:spcPts val="5039"/>
                </a:lnSpc>
              </a:pPr>
              <a:r>
                <a:rPr lang="en-US" sz="3599">
                  <a:solidFill>
                    <a:srgbClr val="000000"/>
                  </a:solidFill>
                  <a:latin typeface="Open Sans"/>
                  <a:ea typeface="Open Sans"/>
                  <a:cs typeface="Open Sans"/>
                  <a:sym typeface="Open Sans"/>
                </a:rPr>
                <a:t>Decision Tree</a:t>
              </a:r>
            </a:p>
          </p:txBody>
        </p:sp>
      </p:grpSp>
      <p:grpSp>
        <p:nvGrpSpPr>
          <p:cNvPr id="40" name="Group 40"/>
          <p:cNvGrpSpPr/>
          <p:nvPr/>
        </p:nvGrpSpPr>
        <p:grpSpPr>
          <a:xfrm rot="-17358">
            <a:off x="8226478" y="5040683"/>
            <a:ext cx="2430488" cy="1602637"/>
            <a:chOff x="0" y="0"/>
            <a:chExt cx="640129" cy="422094"/>
          </a:xfrm>
        </p:grpSpPr>
        <p:sp>
          <p:nvSpPr>
            <p:cNvPr id="41" name="Freeform 41"/>
            <p:cNvSpPr/>
            <p:nvPr/>
          </p:nvSpPr>
          <p:spPr>
            <a:xfrm>
              <a:off x="0" y="0"/>
              <a:ext cx="640129" cy="422094"/>
            </a:xfrm>
            <a:custGeom>
              <a:avLst/>
              <a:gdLst/>
              <a:ahLst/>
              <a:cxnLst/>
              <a:rect l="l" t="t" r="r" b="b"/>
              <a:pathLst>
                <a:path w="640129" h="422094">
                  <a:moveTo>
                    <a:pt x="0" y="0"/>
                  </a:moveTo>
                  <a:lnTo>
                    <a:pt x="640129" y="0"/>
                  </a:lnTo>
                  <a:lnTo>
                    <a:pt x="640129" y="422094"/>
                  </a:lnTo>
                  <a:lnTo>
                    <a:pt x="0" y="422094"/>
                  </a:lnTo>
                  <a:close/>
                </a:path>
              </a:pathLst>
            </a:custGeom>
            <a:solidFill>
              <a:srgbClr val="FFFFFF"/>
            </a:solidFill>
            <a:ln w="38100" cap="sq">
              <a:solidFill>
                <a:srgbClr val="000000"/>
              </a:solidFill>
              <a:prstDash val="solid"/>
              <a:miter/>
            </a:ln>
          </p:spPr>
        </p:sp>
        <p:sp>
          <p:nvSpPr>
            <p:cNvPr id="42" name="TextBox 42"/>
            <p:cNvSpPr txBox="1"/>
            <p:nvPr/>
          </p:nvSpPr>
          <p:spPr>
            <a:xfrm>
              <a:off x="0" y="-76200"/>
              <a:ext cx="640129" cy="498294"/>
            </a:xfrm>
            <a:prstGeom prst="rect">
              <a:avLst/>
            </a:prstGeom>
          </p:spPr>
          <p:txBody>
            <a:bodyPr lIns="50800" tIns="50800" rIns="50800" bIns="50800" rtlCol="0" anchor="ctr"/>
            <a:lstStyle/>
            <a:p>
              <a:pPr algn="ctr">
                <a:lnSpc>
                  <a:spcPts val="5319"/>
                </a:lnSpc>
              </a:pPr>
              <a:r>
                <a:rPr lang="en-US" sz="3799">
                  <a:solidFill>
                    <a:srgbClr val="000000"/>
                  </a:solidFill>
                  <a:latin typeface="Open Sans"/>
                  <a:ea typeface="Open Sans"/>
                  <a:cs typeface="Open Sans"/>
                  <a:sym typeface="Open Sans"/>
                </a:rPr>
                <a:t>Decision Tree</a:t>
              </a:r>
            </a:p>
          </p:txBody>
        </p:sp>
      </p:grpSp>
      <p:grpSp>
        <p:nvGrpSpPr>
          <p:cNvPr id="43" name="Group 43"/>
          <p:cNvGrpSpPr/>
          <p:nvPr/>
        </p:nvGrpSpPr>
        <p:grpSpPr>
          <a:xfrm>
            <a:off x="8288253" y="7631851"/>
            <a:ext cx="2430488" cy="1602637"/>
            <a:chOff x="0" y="0"/>
            <a:chExt cx="640129" cy="422094"/>
          </a:xfrm>
        </p:grpSpPr>
        <p:sp>
          <p:nvSpPr>
            <p:cNvPr id="44" name="Freeform 44"/>
            <p:cNvSpPr/>
            <p:nvPr/>
          </p:nvSpPr>
          <p:spPr>
            <a:xfrm>
              <a:off x="0" y="0"/>
              <a:ext cx="640129" cy="422094"/>
            </a:xfrm>
            <a:custGeom>
              <a:avLst/>
              <a:gdLst/>
              <a:ahLst/>
              <a:cxnLst/>
              <a:rect l="l" t="t" r="r" b="b"/>
              <a:pathLst>
                <a:path w="640129" h="422094">
                  <a:moveTo>
                    <a:pt x="0" y="0"/>
                  </a:moveTo>
                  <a:lnTo>
                    <a:pt x="640129" y="0"/>
                  </a:lnTo>
                  <a:lnTo>
                    <a:pt x="640129" y="422094"/>
                  </a:lnTo>
                  <a:lnTo>
                    <a:pt x="0" y="422094"/>
                  </a:lnTo>
                  <a:close/>
                </a:path>
              </a:pathLst>
            </a:custGeom>
            <a:solidFill>
              <a:srgbClr val="FFFFFF"/>
            </a:solidFill>
            <a:ln w="38100" cap="sq">
              <a:solidFill>
                <a:srgbClr val="000000"/>
              </a:solidFill>
              <a:prstDash val="solid"/>
              <a:miter/>
            </a:ln>
          </p:spPr>
        </p:sp>
        <p:sp>
          <p:nvSpPr>
            <p:cNvPr id="45" name="TextBox 45"/>
            <p:cNvSpPr txBox="1"/>
            <p:nvPr/>
          </p:nvSpPr>
          <p:spPr>
            <a:xfrm>
              <a:off x="0" y="-76200"/>
              <a:ext cx="640129" cy="498294"/>
            </a:xfrm>
            <a:prstGeom prst="rect">
              <a:avLst/>
            </a:prstGeom>
          </p:spPr>
          <p:txBody>
            <a:bodyPr lIns="50800" tIns="50800" rIns="50800" bIns="50800" rtlCol="0" anchor="ctr"/>
            <a:lstStyle/>
            <a:p>
              <a:pPr algn="ctr">
                <a:lnSpc>
                  <a:spcPts val="5319"/>
                </a:lnSpc>
              </a:pPr>
              <a:r>
                <a:rPr lang="en-US" sz="3799">
                  <a:solidFill>
                    <a:srgbClr val="000000"/>
                  </a:solidFill>
                  <a:latin typeface="Open Sans"/>
                  <a:ea typeface="Open Sans"/>
                  <a:cs typeface="Open Sans"/>
                  <a:sym typeface="Open Sans"/>
                </a:rPr>
                <a:t>Decision Tree</a:t>
              </a:r>
            </a:p>
          </p:txBody>
        </p:sp>
      </p:grpSp>
      <p:grpSp>
        <p:nvGrpSpPr>
          <p:cNvPr id="46" name="Group 46"/>
          <p:cNvGrpSpPr/>
          <p:nvPr/>
        </p:nvGrpSpPr>
        <p:grpSpPr>
          <a:xfrm>
            <a:off x="7508690" y="6732249"/>
            <a:ext cx="774877" cy="780724"/>
            <a:chOff x="0" y="0"/>
            <a:chExt cx="204083" cy="205623"/>
          </a:xfrm>
        </p:grpSpPr>
        <p:sp>
          <p:nvSpPr>
            <p:cNvPr id="47" name="Freeform 47"/>
            <p:cNvSpPr/>
            <p:nvPr/>
          </p:nvSpPr>
          <p:spPr>
            <a:xfrm>
              <a:off x="0" y="0"/>
              <a:ext cx="204083" cy="205623"/>
            </a:xfrm>
            <a:custGeom>
              <a:avLst/>
              <a:gdLst/>
              <a:ahLst/>
              <a:cxnLst/>
              <a:rect l="l" t="t" r="r" b="b"/>
              <a:pathLst>
                <a:path w="204083" h="205623">
                  <a:moveTo>
                    <a:pt x="102041" y="0"/>
                  </a:moveTo>
                  <a:lnTo>
                    <a:pt x="102041" y="0"/>
                  </a:lnTo>
                  <a:cubicBezTo>
                    <a:pt x="129105" y="0"/>
                    <a:pt x="155059" y="10751"/>
                    <a:pt x="174196" y="29887"/>
                  </a:cubicBezTo>
                  <a:cubicBezTo>
                    <a:pt x="193332" y="49024"/>
                    <a:pt x="204083" y="74978"/>
                    <a:pt x="204083" y="102041"/>
                  </a:cubicBezTo>
                  <a:lnTo>
                    <a:pt x="204083" y="103581"/>
                  </a:lnTo>
                  <a:cubicBezTo>
                    <a:pt x="204083" y="159937"/>
                    <a:pt x="158397" y="205623"/>
                    <a:pt x="102041" y="205623"/>
                  </a:cubicBezTo>
                  <a:lnTo>
                    <a:pt x="102041" y="205623"/>
                  </a:lnTo>
                  <a:cubicBezTo>
                    <a:pt x="45686" y="205623"/>
                    <a:pt x="0" y="159937"/>
                    <a:pt x="0" y="103581"/>
                  </a:cubicBezTo>
                  <a:lnTo>
                    <a:pt x="0" y="102041"/>
                  </a:lnTo>
                  <a:cubicBezTo>
                    <a:pt x="0" y="45686"/>
                    <a:pt x="45686" y="0"/>
                    <a:pt x="102041" y="0"/>
                  </a:cubicBezTo>
                  <a:close/>
                </a:path>
              </a:pathLst>
            </a:custGeom>
            <a:solidFill>
              <a:srgbClr val="FFFFFF"/>
            </a:solidFill>
          </p:spPr>
        </p:sp>
        <p:sp>
          <p:nvSpPr>
            <p:cNvPr id="48" name="TextBox 48"/>
            <p:cNvSpPr txBox="1"/>
            <p:nvPr/>
          </p:nvSpPr>
          <p:spPr>
            <a:xfrm>
              <a:off x="0" y="-66675"/>
              <a:ext cx="204083" cy="272298"/>
            </a:xfrm>
            <a:prstGeom prst="rect">
              <a:avLst/>
            </a:prstGeom>
          </p:spPr>
          <p:txBody>
            <a:bodyPr lIns="50800" tIns="50800" rIns="50800" bIns="50800" rtlCol="0" anchor="ctr"/>
            <a:lstStyle/>
            <a:p>
              <a:pPr algn="ctr">
                <a:lnSpc>
                  <a:spcPts val="4759"/>
                </a:lnSpc>
              </a:pPr>
              <a:r>
                <a:rPr lang="en-US" sz="3399">
                  <a:solidFill>
                    <a:srgbClr val="000000"/>
                  </a:solidFill>
                  <a:latin typeface="Open Sans"/>
                  <a:ea typeface="Open Sans"/>
                  <a:cs typeface="Open Sans"/>
                  <a:sym typeface="Open Sans"/>
                </a:rPr>
                <a:t>...</a:t>
              </a:r>
            </a:p>
          </p:txBody>
        </p:sp>
      </p:grpSp>
      <p:sp>
        <p:nvSpPr>
          <p:cNvPr id="49" name="TextBox 49"/>
          <p:cNvSpPr txBox="1"/>
          <p:nvPr/>
        </p:nvSpPr>
        <p:spPr>
          <a:xfrm>
            <a:off x="1569057" y="601110"/>
            <a:ext cx="7058857" cy="1094740"/>
          </a:xfrm>
          <a:prstGeom prst="rect">
            <a:avLst/>
          </a:prstGeom>
        </p:spPr>
        <p:txBody>
          <a:bodyPr lIns="0" tIns="0" rIns="0" bIns="0" rtlCol="0" anchor="t">
            <a:spAutoFit/>
          </a:bodyPr>
          <a:lstStyle/>
          <a:p>
            <a:pPr algn="ctr">
              <a:lnSpc>
                <a:spcPts val="8959"/>
              </a:lnSpc>
            </a:pPr>
            <a:r>
              <a:rPr lang="en-US" sz="6399" b="1">
                <a:solidFill>
                  <a:srgbClr val="000000"/>
                </a:solidFill>
                <a:latin typeface="Century Gothic Paneuropean Bold"/>
                <a:ea typeface="Century Gothic Paneuropean Bold"/>
                <a:cs typeface="Century Gothic Paneuropean Bold"/>
                <a:sym typeface="Century Gothic Paneuropean Bold"/>
              </a:rPr>
              <a:t>RANDOM FOREST</a:t>
            </a:r>
          </a:p>
        </p:txBody>
      </p:sp>
      <p:sp>
        <p:nvSpPr>
          <p:cNvPr id="50" name="AutoShape 50"/>
          <p:cNvSpPr/>
          <p:nvPr/>
        </p:nvSpPr>
        <p:spPr>
          <a:xfrm>
            <a:off x="10673877" y="3635818"/>
            <a:ext cx="2006420" cy="1813384"/>
          </a:xfrm>
          <a:prstGeom prst="line">
            <a:avLst/>
          </a:prstGeom>
          <a:ln w="47625" cap="flat">
            <a:solidFill>
              <a:srgbClr val="000000"/>
            </a:solidFill>
            <a:prstDash val="solid"/>
            <a:headEnd type="none" w="sm" len="sm"/>
            <a:tailEnd type="triangle" w="lg" len="med"/>
          </a:ln>
        </p:spPr>
      </p:sp>
      <p:sp>
        <p:nvSpPr>
          <p:cNvPr id="51" name="AutoShape 51"/>
          <p:cNvSpPr/>
          <p:nvPr/>
        </p:nvSpPr>
        <p:spPr>
          <a:xfrm flipV="1">
            <a:off x="10733746" y="6309917"/>
            <a:ext cx="1946550" cy="1801808"/>
          </a:xfrm>
          <a:prstGeom prst="line">
            <a:avLst/>
          </a:prstGeom>
          <a:ln w="47625" cap="flat">
            <a:solidFill>
              <a:srgbClr val="000000"/>
            </a:solidFill>
            <a:prstDash val="solid"/>
            <a:headEnd type="none" w="sm" len="sm"/>
            <a:tailEnd type="triangle" w="lg" len="med"/>
          </a:ln>
        </p:spPr>
      </p:sp>
      <p:grpSp>
        <p:nvGrpSpPr>
          <p:cNvPr id="52" name="Group 52"/>
          <p:cNvGrpSpPr/>
          <p:nvPr/>
        </p:nvGrpSpPr>
        <p:grpSpPr>
          <a:xfrm>
            <a:off x="12680297" y="5055105"/>
            <a:ext cx="2226796" cy="1677144"/>
            <a:chOff x="0" y="0"/>
            <a:chExt cx="586481" cy="441717"/>
          </a:xfrm>
        </p:grpSpPr>
        <p:sp>
          <p:nvSpPr>
            <p:cNvPr id="53" name="Freeform 53"/>
            <p:cNvSpPr/>
            <p:nvPr/>
          </p:nvSpPr>
          <p:spPr>
            <a:xfrm>
              <a:off x="0" y="0"/>
              <a:ext cx="586481" cy="441717"/>
            </a:xfrm>
            <a:custGeom>
              <a:avLst/>
              <a:gdLst/>
              <a:ahLst/>
              <a:cxnLst/>
              <a:rect l="l" t="t" r="r" b="b"/>
              <a:pathLst>
                <a:path w="586481" h="441717">
                  <a:moveTo>
                    <a:pt x="0" y="0"/>
                  </a:moveTo>
                  <a:lnTo>
                    <a:pt x="586481" y="0"/>
                  </a:lnTo>
                  <a:lnTo>
                    <a:pt x="586481" y="441717"/>
                  </a:lnTo>
                  <a:lnTo>
                    <a:pt x="0" y="441717"/>
                  </a:lnTo>
                  <a:close/>
                </a:path>
              </a:pathLst>
            </a:custGeom>
            <a:solidFill>
              <a:srgbClr val="FFFFFF"/>
            </a:solidFill>
            <a:ln w="38100" cap="sq">
              <a:solidFill>
                <a:srgbClr val="000000"/>
              </a:solidFill>
              <a:prstDash val="solid"/>
              <a:miter/>
            </a:ln>
          </p:spPr>
        </p:sp>
        <p:sp>
          <p:nvSpPr>
            <p:cNvPr id="54" name="TextBox 54"/>
            <p:cNvSpPr txBox="1"/>
            <p:nvPr/>
          </p:nvSpPr>
          <p:spPr>
            <a:xfrm>
              <a:off x="0" y="-66675"/>
              <a:ext cx="586481" cy="508392"/>
            </a:xfrm>
            <a:prstGeom prst="rect">
              <a:avLst/>
            </a:prstGeom>
          </p:spPr>
          <p:txBody>
            <a:bodyPr lIns="50800" tIns="50800" rIns="50800" bIns="50800" rtlCol="0" anchor="ctr"/>
            <a:lstStyle/>
            <a:p>
              <a:pPr algn="ctr">
                <a:lnSpc>
                  <a:spcPts val="5179"/>
                </a:lnSpc>
              </a:pPr>
              <a:r>
                <a:rPr lang="en-US" sz="3699">
                  <a:solidFill>
                    <a:srgbClr val="000000"/>
                  </a:solidFill>
                  <a:latin typeface="Open Sans"/>
                  <a:ea typeface="Open Sans"/>
                  <a:cs typeface="Open Sans"/>
                  <a:sym typeface="Open Sans"/>
                </a:rPr>
                <a:t>Combine Results</a:t>
              </a:r>
            </a:p>
          </p:txBody>
        </p:sp>
      </p:grpSp>
      <p:sp>
        <p:nvSpPr>
          <p:cNvPr id="55" name="AutoShape 55"/>
          <p:cNvSpPr/>
          <p:nvPr/>
        </p:nvSpPr>
        <p:spPr>
          <a:xfrm>
            <a:off x="10718741" y="5788250"/>
            <a:ext cx="1961556" cy="105427"/>
          </a:xfrm>
          <a:prstGeom prst="line">
            <a:avLst/>
          </a:prstGeom>
          <a:ln w="47625" cap="flat">
            <a:solidFill>
              <a:srgbClr val="000000"/>
            </a:solidFill>
            <a:prstDash val="solid"/>
            <a:headEnd type="none" w="sm" len="sm"/>
            <a:tailEnd type="triangle" w="lg" len="med"/>
          </a:ln>
        </p:spPr>
      </p:sp>
      <p:grpSp>
        <p:nvGrpSpPr>
          <p:cNvPr id="56" name="Group 56"/>
          <p:cNvGrpSpPr/>
          <p:nvPr/>
        </p:nvGrpSpPr>
        <p:grpSpPr>
          <a:xfrm>
            <a:off x="15030918" y="5055105"/>
            <a:ext cx="2489726" cy="1677144"/>
            <a:chOff x="0" y="0"/>
            <a:chExt cx="655730" cy="441717"/>
          </a:xfrm>
        </p:grpSpPr>
        <p:sp>
          <p:nvSpPr>
            <p:cNvPr id="57" name="Freeform 57"/>
            <p:cNvSpPr/>
            <p:nvPr/>
          </p:nvSpPr>
          <p:spPr>
            <a:xfrm>
              <a:off x="0" y="0"/>
              <a:ext cx="655730" cy="441717"/>
            </a:xfrm>
            <a:custGeom>
              <a:avLst/>
              <a:gdLst/>
              <a:ahLst/>
              <a:cxnLst/>
              <a:rect l="l" t="t" r="r" b="b"/>
              <a:pathLst>
                <a:path w="655730" h="441717">
                  <a:moveTo>
                    <a:pt x="0" y="0"/>
                  </a:moveTo>
                  <a:lnTo>
                    <a:pt x="655730" y="0"/>
                  </a:lnTo>
                  <a:lnTo>
                    <a:pt x="655730" y="441717"/>
                  </a:lnTo>
                  <a:lnTo>
                    <a:pt x="0" y="441717"/>
                  </a:lnTo>
                  <a:close/>
                </a:path>
              </a:pathLst>
            </a:custGeom>
            <a:solidFill>
              <a:srgbClr val="FFFFFF"/>
            </a:solidFill>
            <a:ln w="38100" cap="sq">
              <a:solidFill>
                <a:srgbClr val="FFFFFF"/>
              </a:solidFill>
              <a:prstDash val="solid"/>
              <a:miter/>
            </a:ln>
          </p:spPr>
        </p:sp>
        <p:sp>
          <p:nvSpPr>
            <p:cNvPr id="58" name="TextBox 58"/>
            <p:cNvSpPr txBox="1"/>
            <p:nvPr/>
          </p:nvSpPr>
          <p:spPr>
            <a:xfrm>
              <a:off x="0" y="-66675"/>
              <a:ext cx="655730" cy="508392"/>
            </a:xfrm>
            <a:prstGeom prst="rect">
              <a:avLst/>
            </a:prstGeom>
          </p:spPr>
          <p:txBody>
            <a:bodyPr lIns="50800" tIns="50800" rIns="50800" bIns="50800" rtlCol="0" anchor="ctr"/>
            <a:lstStyle/>
            <a:p>
              <a:pPr algn="ctr">
                <a:lnSpc>
                  <a:spcPts val="5179"/>
                </a:lnSpc>
              </a:pPr>
              <a:r>
                <a:rPr lang="en-US" sz="3699">
                  <a:solidFill>
                    <a:srgbClr val="000000"/>
                  </a:solidFill>
                  <a:latin typeface="Open Sans"/>
                  <a:ea typeface="Open Sans"/>
                  <a:cs typeface="Open Sans"/>
                  <a:sym typeface="Open Sans"/>
                </a:rPr>
                <a:t>Final Prediction</a:t>
              </a:r>
            </a:p>
          </p:txBody>
        </p:sp>
      </p:grpSp>
      <p:grpSp>
        <p:nvGrpSpPr>
          <p:cNvPr id="59" name="Group 59"/>
          <p:cNvGrpSpPr/>
          <p:nvPr/>
        </p:nvGrpSpPr>
        <p:grpSpPr>
          <a:xfrm>
            <a:off x="8129415" y="1980999"/>
            <a:ext cx="2527490" cy="733717"/>
            <a:chOff x="0" y="0"/>
            <a:chExt cx="665676" cy="193242"/>
          </a:xfrm>
        </p:grpSpPr>
        <p:sp>
          <p:nvSpPr>
            <p:cNvPr id="60" name="Freeform 60"/>
            <p:cNvSpPr/>
            <p:nvPr/>
          </p:nvSpPr>
          <p:spPr>
            <a:xfrm>
              <a:off x="0" y="0"/>
              <a:ext cx="665676" cy="193242"/>
            </a:xfrm>
            <a:custGeom>
              <a:avLst/>
              <a:gdLst/>
              <a:ahLst/>
              <a:cxnLst/>
              <a:rect l="l" t="t" r="r" b="b"/>
              <a:pathLst>
                <a:path w="665676" h="193242">
                  <a:moveTo>
                    <a:pt x="0" y="0"/>
                  </a:moveTo>
                  <a:lnTo>
                    <a:pt x="665676" y="0"/>
                  </a:lnTo>
                  <a:lnTo>
                    <a:pt x="665676" y="193242"/>
                  </a:lnTo>
                  <a:lnTo>
                    <a:pt x="0" y="193242"/>
                  </a:lnTo>
                  <a:close/>
                </a:path>
              </a:pathLst>
            </a:custGeom>
            <a:solidFill>
              <a:srgbClr val="FFFFFF"/>
            </a:solidFill>
            <a:ln w="38100" cap="sq">
              <a:solidFill>
                <a:srgbClr val="FFFFFF"/>
              </a:solidFill>
              <a:prstDash val="solid"/>
              <a:miter/>
            </a:ln>
          </p:spPr>
        </p:sp>
        <p:sp>
          <p:nvSpPr>
            <p:cNvPr id="61" name="TextBox 61"/>
            <p:cNvSpPr txBox="1"/>
            <p:nvPr/>
          </p:nvSpPr>
          <p:spPr>
            <a:xfrm>
              <a:off x="0" y="-57150"/>
              <a:ext cx="665676" cy="250392"/>
            </a:xfrm>
            <a:prstGeom prst="rect">
              <a:avLst/>
            </a:prstGeom>
          </p:spPr>
          <p:txBody>
            <a:bodyPr lIns="50800" tIns="50800" rIns="50800" bIns="50800" rtlCol="0" anchor="ctr"/>
            <a:lstStyle/>
            <a:p>
              <a:pPr algn="ctr">
                <a:lnSpc>
                  <a:spcPts val="3919"/>
                </a:lnSpc>
              </a:pPr>
              <a:r>
                <a:rPr lang="en-US" sz="2799">
                  <a:solidFill>
                    <a:srgbClr val="000000"/>
                  </a:solidFill>
                  <a:latin typeface="Open Sans"/>
                  <a:ea typeface="Open Sans"/>
                  <a:cs typeface="Open Sans"/>
                  <a:sym typeface="Open Sans"/>
                </a:rPr>
                <a:t>Base Learners</a:t>
              </a: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152887" y="904875"/>
            <a:ext cx="4268589" cy="1111442"/>
          </a:xfrm>
          <a:prstGeom prst="rect">
            <a:avLst/>
          </a:prstGeom>
        </p:spPr>
        <p:txBody>
          <a:bodyPr lIns="0" tIns="0" rIns="0" bIns="0" rtlCol="0" anchor="t">
            <a:spAutoFit/>
          </a:bodyPr>
          <a:lstStyle/>
          <a:p>
            <a:pPr algn="ctr">
              <a:lnSpc>
                <a:spcPts val="9089"/>
              </a:lnSpc>
            </a:pPr>
            <a:r>
              <a:rPr lang="en-US" sz="6492" b="1">
                <a:solidFill>
                  <a:srgbClr val="000000"/>
                </a:solidFill>
                <a:latin typeface="Century Gothic Paneuropean Bold"/>
                <a:ea typeface="Century Gothic Paneuropean Bold"/>
                <a:cs typeface="Century Gothic Paneuropean Bold"/>
                <a:sym typeface="Century Gothic Paneuropean Bold"/>
              </a:rPr>
              <a:t>XGBOOST </a:t>
            </a:r>
          </a:p>
        </p:txBody>
      </p:sp>
      <p:sp>
        <p:nvSpPr>
          <p:cNvPr id="3" name="TextBox 3"/>
          <p:cNvSpPr txBox="1"/>
          <p:nvPr/>
        </p:nvSpPr>
        <p:spPr>
          <a:xfrm>
            <a:off x="1804665" y="3008973"/>
            <a:ext cx="15169924" cy="4939445"/>
          </a:xfrm>
          <a:prstGeom prst="rect">
            <a:avLst/>
          </a:prstGeom>
        </p:spPr>
        <p:txBody>
          <a:bodyPr lIns="0" tIns="0" rIns="0" bIns="0" rtlCol="0" anchor="t">
            <a:spAutoFit/>
          </a:bodyPr>
          <a:lstStyle/>
          <a:p>
            <a:pPr marL="873689" lvl="1" indent="-436844" algn="l">
              <a:lnSpc>
                <a:spcPts val="5665"/>
              </a:lnSpc>
              <a:buFont typeface="Arial"/>
              <a:buChar char="•"/>
            </a:pPr>
            <a:r>
              <a:rPr lang="en-US" sz="4046">
                <a:solidFill>
                  <a:srgbClr val="000000"/>
                </a:solidFill>
                <a:latin typeface="Century Gothic Paneuropean"/>
                <a:ea typeface="Century Gothic Paneuropean"/>
                <a:cs typeface="Century Gothic Paneuropean"/>
                <a:sym typeface="Century Gothic Paneuropean"/>
              </a:rPr>
              <a:t>Type: Ensemble model (boosting)</a:t>
            </a:r>
          </a:p>
          <a:p>
            <a:pPr marL="873689" lvl="1" indent="-436844" algn="l">
              <a:lnSpc>
                <a:spcPts val="5665"/>
              </a:lnSpc>
              <a:buFont typeface="Arial"/>
              <a:buChar char="•"/>
            </a:pPr>
            <a:r>
              <a:rPr lang="en-US" sz="4046">
                <a:solidFill>
                  <a:srgbClr val="000000"/>
                </a:solidFill>
                <a:latin typeface="Century Gothic Paneuropean"/>
                <a:ea typeface="Century Gothic Paneuropean"/>
                <a:cs typeface="Century Gothic Paneuropean"/>
                <a:sym typeface="Century Gothic Paneuropean"/>
              </a:rPr>
              <a:t>Working: Builds decision trees sequentially, where each new tree corrects errors from the previous ones.</a:t>
            </a:r>
          </a:p>
          <a:p>
            <a:pPr marL="873689" lvl="1" indent="-436844" algn="just">
              <a:lnSpc>
                <a:spcPts val="5665"/>
              </a:lnSpc>
              <a:buFont typeface="Arial"/>
              <a:buChar char="•"/>
            </a:pPr>
            <a:r>
              <a:rPr lang="en-US" sz="4046">
                <a:solidFill>
                  <a:srgbClr val="000000"/>
                </a:solidFill>
                <a:latin typeface="Century Gothic Paneuropean"/>
                <a:ea typeface="Century Gothic Paneuropean"/>
                <a:cs typeface="Century Gothic Paneuropean"/>
                <a:sym typeface="Century Gothic Paneuropean"/>
              </a:rPr>
              <a:t>Why used: High performance, handles missing values, regularization reduces overfitting, often gives state-of-the-art results.</a:t>
            </a:r>
          </a:p>
          <a:p>
            <a:pPr algn="just">
              <a:lnSpc>
                <a:spcPts val="5665"/>
              </a:lnSpc>
            </a:pPr>
            <a:endParaRPr lang="en-US" sz="4046">
              <a:solidFill>
                <a:srgbClr val="000000"/>
              </a:solidFill>
              <a:latin typeface="Century Gothic Paneuropean"/>
              <a:ea typeface="Century Gothic Paneuropean"/>
              <a:cs typeface="Century Gothic Paneuropean"/>
              <a:sym typeface="Century Gothic Paneuropean"/>
            </a:endParaRPr>
          </a:p>
        </p:txBody>
      </p:sp>
      <p:grpSp>
        <p:nvGrpSpPr>
          <p:cNvPr id="4" name="Group 4"/>
          <p:cNvGrpSpPr/>
          <p:nvPr/>
        </p:nvGrpSpPr>
        <p:grpSpPr>
          <a:xfrm>
            <a:off x="16718943" y="-989670"/>
            <a:ext cx="1080715" cy="2956684"/>
            <a:chOff x="0" y="0"/>
            <a:chExt cx="284633" cy="778715"/>
          </a:xfrm>
        </p:grpSpPr>
        <p:sp>
          <p:nvSpPr>
            <p:cNvPr id="5" name="Freeform 5"/>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6" name="TextBox 6"/>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529352" y="9803843"/>
            <a:ext cx="19346704" cy="821917"/>
            <a:chOff x="0" y="0"/>
            <a:chExt cx="5095428" cy="216472"/>
          </a:xfrm>
        </p:grpSpPr>
        <p:sp>
          <p:nvSpPr>
            <p:cNvPr id="8" name="Freeform 8"/>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9" name="TextBox 9"/>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11" name="Freeform 11"/>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2" name="Group 12"/>
          <p:cNvGrpSpPr/>
          <p:nvPr/>
        </p:nvGrpSpPr>
        <p:grpSpPr>
          <a:xfrm>
            <a:off x="488343" y="-989670"/>
            <a:ext cx="1080715" cy="2956684"/>
            <a:chOff x="0" y="0"/>
            <a:chExt cx="284633" cy="778715"/>
          </a:xfrm>
        </p:grpSpPr>
        <p:sp>
          <p:nvSpPr>
            <p:cNvPr id="13" name="Freeform 1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4" name="TextBox 1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aphicFrame>
        <p:nvGraphicFramePr>
          <p:cNvPr id="13" name="Table 13"/>
          <p:cNvGraphicFramePr>
            <a:graphicFrameLocks noGrp="1"/>
          </p:cNvGraphicFramePr>
          <p:nvPr/>
        </p:nvGraphicFramePr>
        <p:xfrm>
          <a:off x="2204512" y="3430735"/>
          <a:ext cx="12714487" cy="5827566"/>
        </p:xfrm>
        <a:graphic>
          <a:graphicData uri="http://schemas.openxmlformats.org/drawingml/2006/table">
            <a:tbl>
              <a:tblPr/>
              <a:tblGrid>
                <a:gridCol w="4014764">
                  <a:extLst>
                    <a:ext uri="{9D8B030D-6E8A-4147-A177-3AD203B41FA5}">
                      <a16:colId xmlns:a16="http://schemas.microsoft.com/office/drawing/2014/main" val="20000"/>
                    </a:ext>
                  </a:extLst>
                </a:gridCol>
                <a:gridCol w="2424431">
                  <a:extLst>
                    <a:ext uri="{9D8B030D-6E8A-4147-A177-3AD203B41FA5}">
                      <a16:colId xmlns:a16="http://schemas.microsoft.com/office/drawing/2014/main" val="20001"/>
                    </a:ext>
                  </a:extLst>
                </a:gridCol>
                <a:gridCol w="2039712">
                  <a:extLst>
                    <a:ext uri="{9D8B030D-6E8A-4147-A177-3AD203B41FA5}">
                      <a16:colId xmlns:a16="http://schemas.microsoft.com/office/drawing/2014/main" val="20002"/>
                    </a:ext>
                  </a:extLst>
                </a:gridCol>
                <a:gridCol w="1793081">
                  <a:extLst>
                    <a:ext uri="{9D8B030D-6E8A-4147-A177-3AD203B41FA5}">
                      <a16:colId xmlns:a16="http://schemas.microsoft.com/office/drawing/2014/main" val="20003"/>
                    </a:ext>
                  </a:extLst>
                </a:gridCol>
                <a:gridCol w="2442499">
                  <a:extLst>
                    <a:ext uri="{9D8B030D-6E8A-4147-A177-3AD203B41FA5}">
                      <a16:colId xmlns:a16="http://schemas.microsoft.com/office/drawing/2014/main" val="20004"/>
                    </a:ext>
                  </a:extLst>
                </a:gridCol>
              </a:tblGrid>
              <a:tr h="1342276">
                <a:tc>
                  <a:txBody>
                    <a:bodyPr/>
                    <a:lstStyle/>
                    <a:p>
                      <a:pPr algn="ctr">
                        <a:lnSpc>
                          <a:spcPts val="3499"/>
                        </a:lnSpc>
                        <a:defRPr/>
                      </a:pPr>
                      <a:r>
                        <a:rPr lang="en-US" sz="2499" b="1">
                          <a:solidFill>
                            <a:srgbClr val="000000"/>
                          </a:solidFill>
                          <a:latin typeface="Open Sans Bold"/>
                          <a:ea typeface="Open Sans Bold"/>
                          <a:cs typeface="Open Sans Bold"/>
                          <a:sym typeface="Open Sans Bold"/>
                        </a:rPr>
                        <a:t>Dark Grey Shale (dgs)</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359"/>
                        </a:lnSpc>
                        <a:defRPr/>
                      </a:pPr>
                      <a:r>
                        <a:rPr lang="en-US" sz="2399" b="1">
                          <a:solidFill>
                            <a:srgbClr val="000000"/>
                          </a:solidFill>
                          <a:latin typeface="Open Sans Bold"/>
                          <a:ea typeface="Open Sans Bold"/>
                          <a:cs typeface="Open Sans Bold"/>
                          <a:sym typeface="Open Sans Bold"/>
                        </a:rPr>
                        <a:t>Random Forest</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079"/>
                        </a:lnSpc>
                        <a:defRPr/>
                      </a:pPr>
                      <a:r>
                        <a:rPr lang="en-US" sz="2199" b="1">
                          <a:solidFill>
                            <a:srgbClr val="000000"/>
                          </a:solidFill>
                          <a:latin typeface="Open Sans Bold"/>
                          <a:ea typeface="Open Sans Bold"/>
                          <a:cs typeface="Open Sans Bold"/>
                          <a:sym typeface="Open Sans Bold"/>
                        </a:rPr>
                        <a:t>0.94</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20"/>
                        </a:lnSpc>
                        <a:defRPr/>
                      </a:pPr>
                      <a:r>
                        <a:rPr lang="en-US" sz="2300" b="1">
                          <a:solidFill>
                            <a:srgbClr val="000000"/>
                          </a:solidFill>
                          <a:latin typeface="Open Sans Bold"/>
                          <a:ea typeface="Open Sans Bold"/>
                          <a:cs typeface="Open Sans Bold"/>
                          <a:sym typeface="Open Sans Bold"/>
                        </a:rPr>
                        <a:t>0.85</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0.89</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0"/>
                  </a:ext>
                </a:extLst>
              </a:tr>
              <a:tr h="1188829">
                <a:tc>
                  <a:txBody>
                    <a:bodyPr/>
                    <a:lstStyle/>
                    <a:p>
                      <a:pPr algn="ctr">
                        <a:lnSpc>
                          <a:spcPts val="2659"/>
                        </a:lnSpc>
                        <a:defRPr/>
                      </a:pP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359"/>
                        </a:lnSpc>
                        <a:defRPr/>
                      </a:pPr>
                      <a:r>
                        <a:rPr lang="en-US" sz="2399" b="1">
                          <a:solidFill>
                            <a:srgbClr val="000000"/>
                          </a:solidFill>
                          <a:latin typeface="Open Sans Bold"/>
                          <a:ea typeface="Open Sans Bold"/>
                          <a:cs typeface="Open Sans Bold"/>
                          <a:sym typeface="Open Sans Bold"/>
                        </a:rPr>
                        <a:t>XGBoost</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20"/>
                        </a:lnSpc>
                        <a:defRPr/>
                      </a:pPr>
                      <a:r>
                        <a:rPr lang="en-US" sz="2300" b="1">
                          <a:solidFill>
                            <a:srgbClr val="000000"/>
                          </a:solidFill>
                          <a:latin typeface="Open Sans Bold"/>
                          <a:ea typeface="Open Sans Bold"/>
                          <a:cs typeface="Open Sans Bold"/>
                          <a:sym typeface="Open Sans Bold"/>
                        </a:rPr>
                        <a:t>0.86</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0.82</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0.84</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1"/>
                  </a:ext>
                </a:extLst>
              </a:tr>
              <a:tr h="1073864">
                <a:tc>
                  <a:txBody>
                    <a:bodyPr/>
                    <a:lstStyle/>
                    <a:p>
                      <a:pPr algn="ctr">
                        <a:lnSpc>
                          <a:spcPts val="2659"/>
                        </a:lnSpc>
                        <a:defRPr/>
                      </a:pP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219"/>
                        </a:lnSpc>
                        <a:defRPr/>
                      </a:pPr>
                      <a:r>
                        <a:rPr lang="en-US" sz="2299" b="1">
                          <a:solidFill>
                            <a:srgbClr val="000000"/>
                          </a:solidFill>
                          <a:latin typeface="Arimo Bold"/>
                          <a:ea typeface="Arimo Bold"/>
                          <a:cs typeface="Arimo Bold"/>
                          <a:sym typeface="Arimo Bold"/>
                        </a:rPr>
                        <a:t>SVC</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0.88</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0.78</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0.83</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2"/>
                  </a:ext>
                </a:extLst>
              </a:tr>
              <a:tr h="1303925">
                <a:tc>
                  <a:txBody>
                    <a:bodyPr/>
                    <a:lstStyle/>
                    <a:p>
                      <a:pPr algn="ctr">
                        <a:lnSpc>
                          <a:spcPts val="2659"/>
                        </a:lnSpc>
                        <a:defRPr/>
                      </a:pP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219"/>
                        </a:lnSpc>
                        <a:defRPr/>
                      </a:pPr>
                      <a:r>
                        <a:rPr lang="en-US" sz="2299" b="1">
                          <a:solidFill>
                            <a:srgbClr val="000000"/>
                          </a:solidFill>
                          <a:latin typeface="Open Sans Bold"/>
                          <a:ea typeface="Open Sans Bold"/>
                          <a:cs typeface="Open Sans Bold"/>
                          <a:sym typeface="Open Sans Bold"/>
                        </a:rPr>
                        <a:t>Logistic Regression</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0.78</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0.82</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0.80</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3"/>
                  </a:ext>
                </a:extLst>
              </a:tr>
              <a:tr h="918672">
                <a:tc>
                  <a:txBody>
                    <a:bodyPr/>
                    <a:lstStyle/>
                    <a:p>
                      <a:pPr algn="ctr">
                        <a:lnSpc>
                          <a:spcPts val="2659"/>
                        </a:lnSpc>
                        <a:defRPr/>
                      </a:pP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220"/>
                        </a:lnSpc>
                        <a:defRPr/>
                      </a:pPr>
                      <a:r>
                        <a:rPr lang="en-US" sz="2300" b="1">
                          <a:solidFill>
                            <a:srgbClr val="000000"/>
                          </a:solidFill>
                          <a:latin typeface="Arimo Bold"/>
                          <a:ea typeface="Arimo Bold"/>
                          <a:cs typeface="Arimo Bold"/>
                          <a:sym typeface="Arimo Bold"/>
                        </a:rPr>
                        <a:t>KNN</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0.78</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0.76</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0.77</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4" name="TextBox 14"/>
          <p:cNvSpPr txBox="1"/>
          <p:nvPr/>
        </p:nvSpPr>
        <p:spPr>
          <a:xfrm>
            <a:off x="2204512" y="529539"/>
            <a:ext cx="3048518" cy="1137477"/>
          </a:xfrm>
          <a:prstGeom prst="rect">
            <a:avLst/>
          </a:prstGeom>
        </p:spPr>
        <p:txBody>
          <a:bodyPr lIns="0" tIns="0" rIns="0" bIns="0" rtlCol="0" anchor="t">
            <a:spAutoFit/>
          </a:bodyPr>
          <a:lstStyle/>
          <a:p>
            <a:pPr algn="ctr">
              <a:lnSpc>
                <a:spcPts val="9229"/>
              </a:lnSpc>
            </a:pPr>
            <a:r>
              <a:rPr lang="en-US" sz="6592" b="1">
                <a:solidFill>
                  <a:srgbClr val="000000"/>
                </a:solidFill>
                <a:latin typeface="Century Gothic Paneuropean Bold"/>
                <a:ea typeface="Century Gothic Paneuropean Bold"/>
                <a:cs typeface="Century Gothic Paneuropean Bold"/>
                <a:sym typeface="Century Gothic Paneuropean Bold"/>
              </a:rPr>
              <a:t>RESULTS</a:t>
            </a:r>
          </a:p>
        </p:txBody>
      </p:sp>
      <p:graphicFrame>
        <p:nvGraphicFramePr>
          <p:cNvPr id="15" name="Table 15"/>
          <p:cNvGraphicFramePr>
            <a:graphicFrameLocks noGrp="1"/>
          </p:cNvGraphicFramePr>
          <p:nvPr/>
        </p:nvGraphicFramePr>
        <p:xfrm>
          <a:off x="2204512" y="2104098"/>
          <a:ext cx="12714489" cy="981075"/>
        </p:xfrm>
        <a:graphic>
          <a:graphicData uri="http://schemas.openxmlformats.org/drawingml/2006/table">
            <a:tbl>
              <a:tblPr/>
              <a:tblGrid>
                <a:gridCol w="3984118">
                  <a:extLst>
                    <a:ext uri="{9D8B030D-6E8A-4147-A177-3AD203B41FA5}">
                      <a16:colId xmlns:a16="http://schemas.microsoft.com/office/drawing/2014/main" val="20000"/>
                    </a:ext>
                  </a:extLst>
                </a:gridCol>
                <a:gridCol w="2390550">
                  <a:extLst>
                    <a:ext uri="{9D8B030D-6E8A-4147-A177-3AD203B41FA5}">
                      <a16:colId xmlns:a16="http://schemas.microsoft.com/office/drawing/2014/main" val="20001"/>
                    </a:ext>
                  </a:extLst>
                </a:gridCol>
                <a:gridCol w="2132947">
                  <a:extLst>
                    <a:ext uri="{9D8B030D-6E8A-4147-A177-3AD203B41FA5}">
                      <a16:colId xmlns:a16="http://schemas.microsoft.com/office/drawing/2014/main" val="20002"/>
                    </a:ext>
                  </a:extLst>
                </a:gridCol>
                <a:gridCol w="1800462">
                  <a:extLst>
                    <a:ext uri="{9D8B030D-6E8A-4147-A177-3AD203B41FA5}">
                      <a16:colId xmlns:a16="http://schemas.microsoft.com/office/drawing/2014/main" val="20003"/>
                    </a:ext>
                  </a:extLst>
                </a:gridCol>
                <a:gridCol w="2406412">
                  <a:extLst>
                    <a:ext uri="{9D8B030D-6E8A-4147-A177-3AD203B41FA5}">
                      <a16:colId xmlns:a16="http://schemas.microsoft.com/office/drawing/2014/main" val="20004"/>
                    </a:ext>
                  </a:extLst>
                </a:gridCol>
              </a:tblGrid>
              <a:tr h="981075">
                <a:tc>
                  <a:txBody>
                    <a:bodyPr/>
                    <a:lstStyle/>
                    <a:p>
                      <a:pPr algn="l">
                        <a:lnSpc>
                          <a:spcPts val="3499"/>
                        </a:lnSpc>
                        <a:defRPr/>
                      </a:pPr>
                      <a:r>
                        <a:rPr lang="en-US" sz="2499" b="1">
                          <a:solidFill>
                            <a:srgbClr val="000000"/>
                          </a:solidFill>
                          <a:latin typeface="Open Sans Bold"/>
                          <a:ea typeface="Open Sans Bold"/>
                          <a:cs typeface="Open Sans Bold"/>
                          <a:sym typeface="Open Sans Bold"/>
                        </a:rPr>
                        <a:t>Facies</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Open Sans Bold"/>
                          <a:ea typeface="Open Sans Bold"/>
                          <a:cs typeface="Open Sans Bold"/>
                          <a:sym typeface="Open Sans Bold"/>
                        </a:rPr>
                        <a:t>Model</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Open Sans Bold"/>
                          <a:ea typeface="Open Sans Bold"/>
                          <a:cs typeface="Open Sans Bold"/>
                          <a:sym typeface="Open Sans Bold"/>
                        </a:rPr>
                        <a:t>Precision</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Open Sans Bold"/>
                          <a:ea typeface="Open Sans Bold"/>
                          <a:cs typeface="Open Sans Bold"/>
                          <a:sym typeface="Open Sans Bold"/>
                        </a:rPr>
                        <a:t>Recall</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Open Sans Bold"/>
                          <a:ea typeface="Open Sans Bold"/>
                          <a:cs typeface="Open Sans Bold"/>
                          <a:sym typeface="Open Sans Bold"/>
                        </a:rPr>
                        <a:t>F1 Score</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3728771" y="2180839"/>
            <a:ext cx="10987371" cy="7077461"/>
          </a:xfrm>
          <a:custGeom>
            <a:avLst/>
            <a:gdLst/>
            <a:ahLst/>
            <a:cxnLst/>
            <a:rect l="l" t="t" r="r" b="b"/>
            <a:pathLst>
              <a:path w="10987371" h="7077461">
                <a:moveTo>
                  <a:pt x="0" y="0"/>
                </a:moveTo>
                <a:lnTo>
                  <a:pt x="10987371" y="0"/>
                </a:lnTo>
                <a:lnTo>
                  <a:pt x="10987371" y="7077461"/>
                </a:lnTo>
                <a:lnTo>
                  <a:pt x="0" y="7077461"/>
                </a:lnTo>
                <a:lnTo>
                  <a:pt x="0" y="0"/>
                </a:lnTo>
                <a:close/>
              </a:path>
            </a:pathLst>
          </a:custGeom>
          <a:blipFill>
            <a:blip r:embed="rId3"/>
            <a:stretch>
              <a:fillRect t="-1715" b="-1715"/>
            </a:stretch>
          </a:blipFill>
        </p:spPr>
      </p:sp>
      <p:sp>
        <p:nvSpPr>
          <p:cNvPr id="14" name="TextBox 14"/>
          <p:cNvSpPr txBox="1"/>
          <p:nvPr/>
        </p:nvSpPr>
        <p:spPr>
          <a:xfrm>
            <a:off x="2204512" y="529539"/>
            <a:ext cx="3048518" cy="1137477"/>
          </a:xfrm>
          <a:prstGeom prst="rect">
            <a:avLst/>
          </a:prstGeom>
        </p:spPr>
        <p:txBody>
          <a:bodyPr lIns="0" tIns="0" rIns="0" bIns="0" rtlCol="0" anchor="t">
            <a:spAutoFit/>
          </a:bodyPr>
          <a:lstStyle/>
          <a:p>
            <a:pPr algn="ctr">
              <a:lnSpc>
                <a:spcPts val="9229"/>
              </a:lnSpc>
            </a:pPr>
            <a:r>
              <a:rPr lang="en-US" sz="6592" b="1">
                <a:solidFill>
                  <a:srgbClr val="000000"/>
                </a:solidFill>
                <a:latin typeface="Century Gothic Paneuropean Bold"/>
                <a:ea typeface="Century Gothic Paneuropean Bold"/>
                <a:cs typeface="Century Gothic Paneuropean Bold"/>
                <a:sym typeface="Century Gothic Paneuropean Bold"/>
              </a:rPr>
              <a:t>RESULTS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aphicFrame>
        <p:nvGraphicFramePr>
          <p:cNvPr id="13" name="Table 13"/>
          <p:cNvGraphicFramePr>
            <a:graphicFrameLocks noGrp="1"/>
          </p:cNvGraphicFramePr>
          <p:nvPr/>
        </p:nvGraphicFramePr>
        <p:xfrm>
          <a:off x="2204512" y="3523323"/>
          <a:ext cx="12714487" cy="5431722"/>
        </p:xfrm>
        <a:graphic>
          <a:graphicData uri="http://schemas.openxmlformats.org/drawingml/2006/table">
            <a:tbl>
              <a:tblPr/>
              <a:tblGrid>
                <a:gridCol w="3962228">
                  <a:extLst>
                    <a:ext uri="{9D8B030D-6E8A-4147-A177-3AD203B41FA5}">
                      <a16:colId xmlns:a16="http://schemas.microsoft.com/office/drawing/2014/main" val="20000"/>
                    </a:ext>
                  </a:extLst>
                </a:gridCol>
                <a:gridCol w="2395016">
                  <a:extLst>
                    <a:ext uri="{9D8B030D-6E8A-4147-A177-3AD203B41FA5}">
                      <a16:colId xmlns:a16="http://schemas.microsoft.com/office/drawing/2014/main" val="20001"/>
                    </a:ext>
                  </a:extLst>
                </a:gridCol>
                <a:gridCol w="2135498">
                  <a:extLst>
                    <a:ext uri="{9D8B030D-6E8A-4147-A177-3AD203B41FA5}">
                      <a16:colId xmlns:a16="http://schemas.microsoft.com/office/drawing/2014/main" val="20002"/>
                    </a:ext>
                  </a:extLst>
                </a:gridCol>
                <a:gridCol w="1898686">
                  <a:extLst>
                    <a:ext uri="{9D8B030D-6E8A-4147-A177-3AD203B41FA5}">
                      <a16:colId xmlns:a16="http://schemas.microsoft.com/office/drawing/2014/main" val="20003"/>
                    </a:ext>
                  </a:extLst>
                </a:gridCol>
                <a:gridCol w="2323059">
                  <a:extLst>
                    <a:ext uri="{9D8B030D-6E8A-4147-A177-3AD203B41FA5}">
                      <a16:colId xmlns:a16="http://schemas.microsoft.com/office/drawing/2014/main" val="20004"/>
                    </a:ext>
                  </a:extLst>
                </a:gridCol>
              </a:tblGrid>
              <a:tr h="1342920">
                <a:tc>
                  <a:txBody>
                    <a:bodyPr/>
                    <a:lstStyle/>
                    <a:p>
                      <a:pPr algn="ctr">
                        <a:lnSpc>
                          <a:spcPts val="3499"/>
                        </a:lnSpc>
                        <a:defRPr/>
                      </a:pPr>
                      <a:r>
                        <a:rPr lang="en-US" sz="2499" b="1">
                          <a:solidFill>
                            <a:srgbClr val="000000"/>
                          </a:solidFill>
                          <a:latin typeface="Open Sans Bold"/>
                          <a:ea typeface="Open Sans Bold"/>
                          <a:cs typeface="Open Sans Bold"/>
                          <a:sym typeface="Open Sans Bold"/>
                        </a:rPr>
                        <a:t>SandStone (SST)</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359"/>
                        </a:lnSpc>
                        <a:defRPr/>
                      </a:pPr>
                      <a:r>
                        <a:rPr lang="en-US" sz="2399" b="1">
                          <a:solidFill>
                            <a:srgbClr val="000000"/>
                          </a:solidFill>
                          <a:latin typeface="Open Sans Bold"/>
                          <a:ea typeface="Open Sans Bold"/>
                          <a:cs typeface="Open Sans Bold"/>
                          <a:sym typeface="Open Sans Bold"/>
                        </a:rPr>
                        <a:t>Logistic Regression</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079"/>
                        </a:lnSpc>
                        <a:defRPr/>
                      </a:pPr>
                      <a:r>
                        <a:rPr lang="en-US" sz="2199" b="1">
                          <a:solidFill>
                            <a:srgbClr val="000000"/>
                          </a:solidFill>
                          <a:latin typeface="Open Sans Bold"/>
                          <a:ea typeface="Open Sans Bold"/>
                          <a:cs typeface="Open Sans Bold"/>
                          <a:sym typeface="Open Sans Bold"/>
                        </a:rPr>
                        <a:t>0.74</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20"/>
                        </a:lnSpc>
                        <a:defRPr/>
                      </a:pPr>
                      <a:r>
                        <a:rPr lang="en-US" sz="2300" b="1">
                          <a:solidFill>
                            <a:srgbClr val="000000"/>
                          </a:solidFill>
                          <a:latin typeface="Open Sans Bold"/>
                          <a:ea typeface="Open Sans Bold"/>
                          <a:cs typeface="Open Sans Bold"/>
                          <a:sym typeface="Open Sans Bold"/>
                        </a:rPr>
                        <a:t>0.52</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0.61</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0"/>
                  </a:ext>
                </a:extLst>
              </a:tr>
              <a:tr h="923348">
                <a:tc>
                  <a:txBody>
                    <a:bodyPr/>
                    <a:lstStyle/>
                    <a:p>
                      <a:pPr algn="ctr">
                        <a:lnSpc>
                          <a:spcPts val="2659"/>
                        </a:lnSpc>
                        <a:defRPr/>
                      </a:pP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359"/>
                        </a:lnSpc>
                        <a:defRPr/>
                      </a:pPr>
                      <a:r>
                        <a:rPr lang="en-US" sz="2399" b="1">
                          <a:solidFill>
                            <a:srgbClr val="000000"/>
                          </a:solidFill>
                          <a:latin typeface="Open Sans Bold"/>
                          <a:ea typeface="Open Sans Bold"/>
                          <a:cs typeface="Open Sans Bold"/>
                          <a:sym typeface="Open Sans Bold"/>
                        </a:rPr>
                        <a:t>XGBoost</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20"/>
                        </a:lnSpc>
                        <a:defRPr/>
                      </a:pPr>
                      <a:r>
                        <a:rPr lang="en-US" sz="2300" b="1">
                          <a:solidFill>
                            <a:srgbClr val="000000"/>
                          </a:solidFill>
                          <a:latin typeface="Open Sans Bold"/>
                          <a:ea typeface="Open Sans Bold"/>
                          <a:cs typeface="Open Sans Bold"/>
                          <a:sym typeface="Open Sans Bold"/>
                        </a:rPr>
                        <a:t>0.61</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0.53</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0.57</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1"/>
                  </a:ext>
                </a:extLst>
              </a:tr>
              <a:tr h="1342920">
                <a:tc>
                  <a:txBody>
                    <a:bodyPr/>
                    <a:lstStyle/>
                    <a:p>
                      <a:pPr algn="ctr">
                        <a:lnSpc>
                          <a:spcPts val="2659"/>
                        </a:lnSpc>
                        <a:defRPr/>
                      </a:pP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359"/>
                        </a:lnSpc>
                        <a:defRPr/>
                      </a:pPr>
                      <a:r>
                        <a:rPr lang="en-US" sz="2399" b="1">
                          <a:solidFill>
                            <a:srgbClr val="000000"/>
                          </a:solidFill>
                          <a:latin typeface="Open Sans Bold"/>
                          <a:ea typeface="Open Sans Bold"/>
                          <a:cs typeface="Open Sans Bold"/>
                          <a:sym typeface="Open Sans Bold"/>
                        </a:rPr>
                        <a:t>Random Forest</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0.61</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0.49</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0.55</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2"/>
                  </a:ext>
                </a:extLst>
              </a:tr>
              <a:tr h="901675">
                <a:tc>
                  <a:txBody>
                    <a:bodyPr/>
                    <a:lstStyle/>
                    <a:p>
                      <a:pPr algn="ctr">
                        <a:lnSpc>
                          <a:spcPts val="2659"/>
                        </a:lnSpc>
                        <a:defRPr/>
                      </a:pP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219"/>
                        </a:lnSpc>
                        <a:defRPr/>
                      </a:pPr>
                      <a:r>
                        <a:rPr lang="en-US" sz="2299" b="1">
                          <a:solidFill>
                            <a:srgbClr val="000000"/>
                          </a:solidFill>
                          <a:latin typeface="Open Sans Bold"/>
                          <a:ea typeface="Open Sans Bold"/>
                          <a:cs typeface="Open Sans Bold"/>
                          <a:sym typeface="Open Sans Bold"/>
                        </a:rPr>
                        <a:t>KNN</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0.59</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0.46</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0.52</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3"/>
                  </a:ext>
                </a:extLst>
              </a:tr>
              <a:tr h="920859">
                <a:tc>
                  <a:txBody>
                    <a:bodyPr/>
                    <a:lstStyle/>
                    <a:p>
                      <a:pPr algn="ctr">
                        <a:lnSpc>
                          <a:spcPts val="2659"/>
                        </a:lnSpc>
                        <a:defRPr/>
                      </a:pP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359"/>
                        </a:lnSpc>
                        <a:defRPr/>
                      </a:pPr>
                      <a:r>
                        <a:rPr lang="en-US" sz="2399" b="1">
                          <a:solidFill>
                            <a:srgbClr val="000000"/>
                          </a:solidFill>
                          <a:latin typeface="Open Sans Bold"/>
                          <a:ea typeface="Open Sans Bold"/>
                          <a:cs typeface="Open Sans Bold"/>
                          <a:sym typeface="Open Sans Bold"/>
                        </a:rPr>
                        <a:t>SVC</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0.66</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0.39</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0.49</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4" name="TextBox 14"/>
          <p:cNvSpPr txBox="1"/>
          <p:nvPr/>
        </p:nvSpPr>
        <p:spPr>
          <a:xfrm>
            <a:off x="2204512" y="529539"/>
            <a:ext cx="3048518" cy="1137477"/>
          </a:xfrm>
          <a:prstGeom prst="rect">
            <a:avLst/>
          </a:prstGeom>
        </p:spPr>
        <p:txBody>
          <a:bodyPr lIns="0" tIns="0" rIns="0" bIns="0" rtlCol="0" anchor="t">
            <a:spAutoFit/>
          </a:bodyPr>
          <a:lstStyle/>
          <a:p>
            <a:pPr algn="ctr">
              <a:lnSpc>
                <a:spcPts val="9229"/>
              </a:lnSpc>
            </a:pPr>
            <a:r>
              <a:rPr lang="en-US" sz="6592" b="1">
                <a:solidFill>
                  <a:srgbClr val="000000"/>
                </a:solidFill>
                <a:latin typeface="Century Gothic Paneuropean Bold"/>
                <a:ea typeface="Century Gothic Paneuropean Bold"/>
                <a:cs typeface="Century Gothic Paneuropean Bold"/>
                <a:sym typeface="Century Gothic Paneuropean Bold"/>
              </a:rPr>
              <a:t>RESULTS</a:t>
            </a:r>
          </a:p>
        </p:txBody>
      </p:sp>
      <p:graphicFrame>
        <p:nvGraphicFramePr>
          <p:cNvPr id="15" name="Table 15"/>
          <p:cNvGraphicFramePr>
            <a:graphicFrameLocks noGrp="1"/>
          </p:cNvGraphicFramePr>
          <p:nvPr/>
        </p:nvGraphicFramePr>
        <p:xfrm>
          <a:off x="2204512" y="2104098"/>
          <a:ext cx="12714489" cy="981075"/>
        </p:xfrm>
        <a:graphic>
          <a:graphicData uri="http://schemas.openxmlformats.org/drawingml/2006/table">
            <a:tbl>
              <a:tblPr/>
              <a:tblGrid>
                <a:gridCol w="3984118">
                  <a:extLst>
                    <a:ext uri="{9D8B030D-6E8A-4147-A177-3AD203B41FA5}">
                      <a16:colId xmlns:a16="http://schemas.microsoft.com/office/drawing/2014/main" val="20000"/>
                    </a:ext>
                  </a:extLst>
                </a:gridCol>
                <a:gridCol w="2390550">
                  <a:extLst>
                    <a:ext uri="{9D8B030D-6E8A-4147-A177-3AD203B41FA5}">
                      <a16:colId xmlns:a16="http://schemas.microsoft.com/office/drawing/2014/main" val="20001"/>
                    </a:ext>
                  </a:extLst>
                </a:gridCol>
                <a:gridCol w="2132947">
                  <a:extLst>
                    <a:ext uri="{9D8B030D-6E8A-4147-A177-3AD203B41FA5}">
                      <a16:colId xmlns:a16="http://schemas.microsoft.com/office/drawing/2014/main" val="20002"/>
                    </a:ext>
                  </a:extLst>
                </a:gridCol>
                <a:gridCol w="1800462">
                  <a:extLst>
                    <a:ext uri="{9D8B030D-6E8A-4147-A177-3AD203B41FA5}">
                      <a16:colId xmlns:a16="http://schemas.microsoft.com/office/drawing/2014/main" val="20003"/>
                    </a:ext>
                  </a:extLst>
                </a:gridCol>
                <a:gridCol w="2406412">
                  <a:extLst>
                    <a:ext uri="{9D8B030D-6E8A-4147-A177-3AD203B41FA5}">
                      <a16:colId xmlns:a16="http://schemas.microsoft.com/office/drawing/2014/main" val="20004"/>
                    </a:ext>
                  </a:extLst>
                </a:gridCol>
              </a:tblGrid>
              <a:tr h="981075">
                <a:tc>
                  <a:txBody>
                    <a:bodyPr/>
                    <a:lstStyle/>
                    <a:p>
                      <a:pPr algn="l">
                        <a:lnSpc>
                          <a:spcPts val="3499"/>
                        </a:lnSpc>
                        <a:defRPr/>
                      </a:pPr>
                      <a:r>
                        <a:rPr lang="en-US" sz="2499" b="1">
                          <a:solidFill>
                            <a:srgbClr val="000000"/>
                          </a:solidFill>
                          <a:latin typeface="Open Sans Bold"/>
                          <a:ea typeface="Open Sans Bold"/>
                          <a:cs typeface="Open Sans Bold"/>
                          <a:sym typeface="Open Sans Bold"/>
                        </a:rPr>
                        <a:t>Facies</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Open Sans Bold"/>
                          <a:ea typeface="Open Sans Bold"/>
                          <a:cs typeface="Open Sans Bold"/>
                          <a:sym typeface="Open Sans Bold"/>
                        </a:rPr>
                        <a:t>Model</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Open Sans Bold"/>
                          <a:ea typeface="Open Sans Bold"/>
                          <a:cs typeface="Open Sans Bold"/>
                          <a:sym typeface="Open Sans Bold"/>
                        </a:rPr>
                        <a:t>Precision</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Open Sans Bold"/>
                          <a:ea typeface="Open Sans Bold"/>
                          <a:cs typeface="Open Sans Bold"/>
                          <a:sym typeface="Open Sans Bold"/>
                        </a:rPr>
                        <a:t>Recall</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Open Sans Bold"/>
                          <a:ea typeface="Open Sans Bold"/>
                          <a:cs typeface="Open Sans Bold"/>
                          <a:sym typeface="Open Sans Bold"/>
                        </a:rPr>
                        <a:t>F1 Score</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3728771" y="1794836"/>
            <a:ext cx="11202197" cy="7463464"/>
          </a:xfrm>
          <a:custGeom>
            <a:avLst/>
            <a:gdLst/>
            <a:ahLst/>
            <a:cxnLst/>
            <a:rect l="l" t="t" r="r" b="b"/>
            <a:pathLst>
              <a:path w="11202197" h="7463464">
                <a:moveTo>
                  <a:pt x="0" y="0"/>
                </a:moveTo>
                <a:lnTo>
                  <a:pt x="11202196" y="0"/>
                </a:lnTo>
                <a:lnTo>
                  <a:pt x="11202196" y="7463464"/>
                </a:lnTo>
                <a:lnTo>
                  <a:pt x="0" y="7463464"/>
                </a:lnTo>
                <a:lnTo>
                  <a:pt x="0" y="0"/>
                </a:lnTo>
                <a:close/>
              </a:path>
            </a:pathLst>
          </a:custGeom>
          <a:blipFill>
            <a:blip r:embed="rId3"/>
            <a:stretch>
              <a:fillRect/>
            </a:stretch>
          </a:blipFill>
        </p:spPr>
      </p:sp>
      <p:sp>
        <p:nvSpPr>
          <p:cNvPr id="14" name="TextBox 14"/>
          <p:cNvSpPr txBox="1"/>
          <p:nvPr/>
        </p:nvSpPr>
        <p:spPr>
          <a:xfrm>
            <a:off x="2204512" y="529539"/>
            <a:ext cx="3048518" cy="1137477"/>
          </a:xfrm>
          <a:prstGeom prst="rect">
            <a:avLst/>
          </a:prstGeom>
        </p:spPr>
        <p:txBody>
          <a:bodyPr lIns="0" tIns="0" rIns="0" bIns="0" rtlCol="0" anchor="t">
            <a:spAutoFit/>
          </a:bodyPr>
          <a:lstStyle/>
          <a:p>
            <a:pPr algn="ctr">
              <a:lnSpc>
                <a:spcPts val="9229"/>
              </a:lnSpc>
            </a:pPr>
            <a:r>
              <a:rPr lang="en-US" sz="6592" b="1">
                <a:solidFill>
                  <a:srgbClr val="000000"/>
                </a:solidFill>
                <a:latin typeface="Century Gothic Paneuropean Bold"/>
                <a:ea typeface="Century Gothic Paneuropean Bold"/>
                <a:cs typeface="Century Gothic Paneuropean Bold"/>
                <a:sym typeface="Century Gothic Paneuropean Bold"/>
              </a:rPr>
              <a:t>RESULTS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aphicFrame>
        <p:nvGraphicFramePr>
          <p:cNvPr id="13" name="Table 13"/>
          <p:cNvGraphicFramePr>
            <a:graphicFrameLocks noGrp="1"/>
          </p:cNvGraphicFramePr>
          <p:nvPr/>
        </p:nvGraphicFramePr>
        <p:xfrm>
          <a:off x="2525618" y="3829050"/>
          <a:ext cx="12714488" cy="5431721"/>
        </p:xfrm>
        <a:graphic>
          <a:graphicData uri="http://schemas.openxmlformats.org/drawingml/2006/table">
            <a:tbl>
              <a:tblPr/>
              <a:tblGrid>
                <a:gridCol w="4084371">
                  <a:extLst>
                    <a:ext uri="{9D8B030D-6E8A-4147-A177-3AD203B41FA5}">
                      <a16:colId xmlns:a16="http://schemas.microsoft.com/office/drawing/2014/main" val="20000"/>
                    </a:ext>
                  </a:extLst>
                </a:gridCol>
                <a:gridCol w="2272873">
                  <a:extLst>
                    <a:ext uri="{9D8B030D-6E8A-4147-A177-3AD203B41FA5}">
                      <a16:colId xmlns:a16="http://schemas.microsoft.com/office/drawing/2014/main" val="20001"/>
                    </a:ext>
                  </a:extLst>
                </a:gridCol>
                <a:gridCol w="2178366">
                  <a:extLst>
                    <a:ext uri="{9D8B030D-6E8A-4147-A177-3AD203B41FA5}">
                      <a16:colId xmlns:a16="http://schemas.microsoft.com/office/drawing/2014/main" val="20002"/>
                    </a:ext>
                  </a:extLst>
                </a:gridCol>
                <a:gridCol w="1978795">
                  <a:extLst>
                    <a:ext uri="{9D8B030D-6E8A-4147-A177-3AD203B41FA5}">
                      <a16:colId xmlns:a16="http://schemas.microsoft.com/office/drawing/2014/main" val="20003"/>
                    </a:ext>
                  </a:extLst>
                </a:gridCol>
                <a:gridCol w="2200083">
                  <a:extLst>
                    <a:ext uri="{9D8B030D-6E8A-4147-A177-3AD203B41FA5}">
                      <a16:colId xmlns:a16="http://schemas.microsoft.com/office/drawing/2014/main" val="20004"/>
                    </a:ext>
                  </a:extLst>
                </a:gridCol>
              </a:tblGrid>
              <a:tr h="1342920">
                <a:tc>
                  <a:txBody>
                    <a:bodyPr/>
                    <a:lstStyle/>
                    <a:p>
                      <a:pPr algn="ctr">
                        <a:lnSpc>
                          <a:spcPts val="4199"/>
                        </a:lnSpc>
                        <a:defRPr/>
                      </a:pPr>
                      <a:r>
                        <a:rPr lang="en-US" sz="2999" b="1">
                          <a:solidFill>
                            <a:srgbClr val="000000"/>
                          </a:solidFill>
                          <a:latin typeface="Open Sans Bold"/>
                          <a:ea typeface="Open Sans Bold"/>
                          <a:cs typeface="Open Sans Bold"/>
                          <a:sym typeface="Open Sans Bold"/>
                        </a:rPr>
                        <a:t>Coal</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359"/>
                        </a:lnSpc>
                        <a:defRPr/>
                      </a:pPr>
                      <a:r>
                        <a:rPr lang="en-US" sz="2399" b="1">
                          <a:solidFill>
                            <a:srgbClr val="000000"/>
                          </a:solidFill>
                          <a:latin typeface="Open Sans Bold"/>
                          <a:ea typeface="Open Sans Bold"/>
                          <a:cs typeface="Open Sans Bold"/>
                          <a:sym typeface="Open Sans Bold"/>
                        </a:rPr>
                        <a:t>Logistic Regression</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079"/>
                        </a:lnSpc>
                        <a:defRPr/>
                      </a:pPr>
                      <a:r>
                        <a:rPr lang="en-US" sz="2199" b="1">
                          <a:solidFill>
                            <a:srgbClr val="000000"/>
                          </a:solidFill>
                          <a:latin typeface="Open Sans Bold"/>
                          <a:ea typeface="Open Sans Bold"/>
                          <a:cs typeface="Open Sans Bold"/>
                          <a:sym typeface="Open Sans Bold"/>
                        </a:rPr>
                        <a:t>0.36</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20"/>
                        </a:lnSpc>
                        <a:defRPr/>
                      </a:pPr>
                      <a:r>
                        <a:rPr lang="en-US" sz="2300" b="1">
                          <a:solidFill>
                            <a:srgbClr val="000000"/>
                          </a:solidFill>
                          <a:latin typeface="Open Sans Bold"/>
                          <a:ea typeface="Open Sans Bold"/>
                          <a:cs typeface="Open Sans Bold"/>
                          <a:sym typeface="Open Sans Bold"/>
                        </a:rPr>
                        <a:t>0.50</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0.41</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0"/>
                  </a:ext>
                </a:extLst>
              </a:tr>
              <a:tr h="1342920">
                <a:tc>
                  <a:txBody>
                    <a:bodyPr/>
                    <a:lstStyle/>
                    <a:p>
                      <a:pPr algn="ctr">
                        <a:lnSpc>
                          <a:spcPts val="2659"/>
                        </a:lnSpc>
                        <a:defRPr/>
                      </a:pP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359"/>
                        </a:lnSpc>
                        <a:defRPr/>
                      </a:pPr>
                      <a:r>
                        <a:rPr lang="en-US" sz="2399" b="1">
                          <a:solidFill>
                            <a:srgbClr val="000000"/>
                          </a:solidFill>
                          <a:latin typeface="Open Sans Bold"/>
                          <a:ea typeface="Open Sans Bold"/>
                          <a:cs typeface="Open Sans Bold"/>
                          <a:sym typeface="Open Sans Bold"/>
                        </a:rPr>
                        <a:t>Random Forest</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0.33</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0.46</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0.39</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1"/>
                  </a:ext>
                </a:extLst>
              </a:tr>
              <a:tr h="920859">
                <a:tc>
                  <a:txBody>
                    <a:bodyPr/>
                    <a:lstStyle/>
                    <a:p>
                      <a:pPr algn="ctr">
                        <a:lnSpc>
                          <a:spcPts val="2659"/>
                        </a:lnSpc>
                        <a:defRPr/>
                      </a:pP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359"/>
                        </a:lnSpc>
                        <a:defRPr/>
                      </a:pPr>
                      <a:r>
                        <a:rPr lang="en-US" sz="2399" b="1">
                          <a:solidFill>
                            <a:srgbClr val="000000"/>
                          </a:solidFill>
                          <a:latin typeface="Open Sans Bold"/>
                          <a:ea typeface="Open Sans Bold"/>
                          <a:cs typeface="Open Sans Bold"/>
                          <a:sym typeface="Open Sans Bold"/>
                        </a:rPr>
                        <a:t>SVC</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0.37</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0.42</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0.39</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2"/>
                  </a:ext>
                </a:extLst>
              </a:tr>
              <a:tr h="923348">
                <a:tc>
                  <a:txBody>
                    <a:bodyPr/>
                    <a:lstStyle/>
                    <a:p>
                      <a:pPr algn="ctr">
                        <a:lnSpc>
                          <a:spcPts val="2659"/>
                        </a:lnSpc>
                        <a:defRPr/>
                      </a:pP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359"/>
                        </a:lnSpc>
                        <a:defRPr/>
                      </a:pPr>
                      <a:r>
                        <a:rPr lang="en-US" sz="2399" b="1">
                          <a:solidFill>
                            <a:srgbClr val="000000"/>
                          </a:solidFill>
                          <a:latin typeface="Open Sans Bold"/>
                          <a:ea typeface="Open Sans Bold"/>
                          <a:cs typeface="Open Sans Bold"/>
                          <a:sym typeface="Open Sans Bold"/>
                        </a:rPr>
                        <a:t>XGBoost</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20"/>
                        </a:lnSpc>
                        <a:defRPr/>
                      </a:pPr>
                      <a:r>
                        <a:rPr lang="en-US" sz="2300" b="1">
                          <a:solidFill>
                            <a:srgbClr val="000000"/>
                          </a:solidFill>
                          <a:latin typeface="Open Sans Bold"/>
                          <a:ea typeface="Open Sans Bold"/>
                          <a:cs typeface="Open Sans Bold"/>
                          <a:sym typeface="Open Sans Bold"/>
                        </a:rPr>
                        <a:t>0.34</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0.42</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0.38</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3"/>
                  </a:ext>
                </a:extLst>
              </a:tr>
              <a:tr h="901675">
                <a:tc>
                  <a:txBody>
                    <a:bodyPr/>
                    <a:lstStyle/>
                    <a:p>
                      <a:pPr algn="ctr">
                        <a:lnSpc>
                          <a:spcPts val="2659"/>
                        </a:lnSpc>
                        <a:defRPr/>
                      </a:pP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219"/>
                        </a:lnSpc>
                        <a:defRPr/>
                      </a:pPr>
                      <a:r>
                        <a:rPr lang="en-US" sz="2299" b="1">
                          <a:solidFill>
                            <a:srgbClr val="000000"/>
                          </a:solidFill>
                          <a:latin typeface="Open Sans Bold"/>
                          <a:ea typeface="Open Sans Bold"/>
                          <a:cs typeface="Open Sans Bold"/>
                          <a:sym typeface="Open Sans Bold"/>
                        </a:rPr>
                        <a:t>KNN</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0.20</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0.29</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0.24</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4" name="TextBox 14"/>
          <p:cNvSpPr txBox="1"/>
          <p:nvPr/>
        </p:nvSpPr>
        <p:spPr>
          <a:xfrm>
            <a:off x="2204512" y="529539"/>
            <a:ext cx="3048518" cy="1137477"/>
          </a:xfrm>
          <a:prstGeom prst="rect">
            <a:avLst/>
          </a:prstGeom>
        </p:spPr>
        <p:txBody>
          <a:bodyPr lIns="0" tIns="0" rIns="0" bIns="0" rtlCol="0" anchor="t">
            <a:spAutoFit/>
          </a:bodyPr>
          <a:lstStyle/>
          <a:p>
            <a:pPr algn="ctr">
              <a:lnSpc>
                <a:spcPts val="9229"/>
              </a:lnSpc>
            </a:pPr>
            <a:r>
              <a:rPr lang="en-US" sz="6592" b="1">
                <a:solidFill>
                  <a:srgbClr val="000000"/>
                </a:solidFill>
                <a:latin typeface="Century Gothic Paneuropean Bold"/>
                <a:ea typeface="Century Gothic Paneuropean Bold"/>
                <a:cs typeface="Century Gothic Paneuropean Bold"/>
                <a:sym typeface="Century Gothic Paneuropean Bold"/>
              </a:rPr>
              <a:t>RESULTS</a:t>
            </a:r>
          </a:p>
        </p:txBody>
      </p:sp>
      <p:graphicFrame>
        <p:nvGraphicFramePr>
          <p:cNvPr id="15" name="Table 15"/>
          <p:cNvGraphicFramePr>
            <a:graphicFrameLocks noGrp="1"/>
          </p:cNvGraphicFramePr>
          <p:nvPr/>
        </p:nvGraphicFramePr>
        <p:xfrm>
          <a:off x="2525618" y="2257496"/>
          <a:ext cx="12714488" cy="981075"/>
        </p:xfrm>
        <a:graphic>
          <a:graphicData uri="http://schemas.openxmlformats.org/drawingml/2006/table">
            <a:tbl>
              <a:tblPr/>
              <a:tblGrid>
                <a:gridCol w="3984118">
                  <a:extLst>
                    <a:ext uri="{9D8B030D-6E8A-4147-A177-3AD203B41FA5}">
                      <a16:colId xmlns:a16="http://schemas.microsoft.com/office/drawing/2014/main" val="20000"/>
                    </a:ext>
                  </a:extLst>
                </a:gridCol>
                <a:gridCol w="2390550">
                  <a:extLst>
                    <a:ext uri="{9D8B030D-6E8A-4147-A177-3AD203B41FA5}">
                      <a16:colId xmlns:a16="http://schemas.microsoft.com/office/drawing/2014/main" val="20001"/>
                    </a:ext>
                  </a:extLst>
                </a:gridCol>
                <a:gridCol w="2132947">
                  <a:extLst>
                    <a:ext uri="{9D8B030D-6E8A-4147-A177-3AD203B41FA5}">
                      <a16:colId xmlns:a16="http://schemas.microsoft.com/office/drawing/2014/main" val="20002"/>
                    </a:ext>
                  </a:extLst>
                </a:gridCol>
                <a:gridCol w="1800462">
                  <a:extLst>
                    <a:ext uri="{9D8B030D-6E8A-4147-A177-3AD203B41FA5}">
                      <a16:colId xmlns:a16="http://schemas.microsoft.com/office/drawing/2014/main" val="20003"/>
                    </a:ext>
                  </a:extLst>
                </a:gridCol>
                <a:gridCol w="2406412">
                  <a:extLst>
                    <a:ext uri="{9D8B030D-6E8A-4147-A177-3AD203B41FA5}">
                      <a16:colId xmlns:a16="http://schemas.microsoft.com/office/drawing/2014/main" val="20004"/>
                    </a:ext>
                  </a:extLst>
                </a:gridCol>
              </a:tblGrid>
              <a:tr h="981075">
                <a:tc>
                  <a:txBody>
                    <a:bodyPr/>
                    <a:lstStyle/>
                    <a:p>
                      <a:pPr algn="l">
                        <a:lnSpc>
                          <a:spcPts val="3499"/>
                        </a:lnSpc>
                        <a:defRPr/>
                      </a:pPr>
                      <a:r>
                        <a:rPr lang="en-US" sz="2499" b="1">
                          <a:solidFill>
                            <a:srgbClr val="000000"/>
                          </a:solidFill>
                          <a:latin typeface="Open Sans Bold"/>
                          <a:ea typeface="Open Sans Bold"/>
                          <a:cs typeface="Open Sans Bold"/>
                          <a:sym typeface="Open Sans Bold"/>
                        </a:rPr>
                        <a:t>Facies</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Open Sans Bold"/>
                          <a:ea typeface="Open Sans Bold"/>
                          <a:cs typeface="Open Sans Bold"/>
                          <a:sym typeface="Open Sans Bold"/>
                        </a:rPr>
                        <a:t>Model</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Open Sans Bold"/>
                          <a:ea typeface="Open Sans Bold"/>
                          <a:cs typeface="Open Sans Bold"/>
                          <a:sym typeface="Open Sans Bold"/>
                        </a:rPr>
                        <a:t>Precision</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Open Sans Bold"/>
                          <a:ea typeface="Open Sans Bold"/>
                          <a:cs typeface="Open Sans Bold"/>
                          <a:sym typeface="Open Sans Bold"/>
                        </a:rPr>
                        <a:t>Recall</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Open Sans Bold"/>
                          <a:ea typeface="Open Sans Bold"/>
                          <a:cs typeface="Open Sans Bold"/>
                          <a:sym typeface="Open Sans Bold"/>
                        </a:rPr>
                        <a:t>F1 Score</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aphicFrame>
        <p:nvGraphicFramePr>
          <p:cNvPr id="13" name="Table 13"/>
          <p:cNvGraphicFramePr>
            <a:graphicFrameLocks noGrp="1"/>
          </p:cNvGraphicFramePr>
          <p:nvPr/>
        </p:nvGraphicFramePr>
        <p:xfrm>
          <a:off x="2204512" y="3523323"/>
          <a:ext cx="12993636" cy="5734889"/>
        </p:xfrm>
        <a:graphic>
          <a:graphicData uri="http://schemas.openxmlformats.org/drawingml/2006/table">
            <a:tbl>
              <a:tblPr/>
              <a:tblGrid>
                <a:gridCol w="3795055">
                  <a:extLst>
                    <a:ext uri="{9D8B030D-6E8A-4147-A177-3AD203B41FA5}">
                      <a16:colId xmlns:a16="http://schemas.microsoft.com/office/drawing/2014/main" val="20000"/>
                    </a:ext>
                  </a:extLst>
                </a:gridCol>
                <a:gridCol w="3001341">
                  <a:extLst>
                    <a:ext uri="{9D8B030D-6E8A-4147-A177-3AD203B41FA5}">
                      <a16:colId xmlns:a16="http://schemas.microsoft.com/office/drawing/2014/main" val="20001"/>
                    </a:ext>
                  </a:extLst>
                </a:gridCol>
                <a:gridCol w="1743100">
                  <a:extLst>
                    <a:ext uri="{9D8B030D-6E8A-4147-A177-3AD203B41FA5}">
                      <a16:colId xmlns:a16="http://schemas.microsoft.com/office/drawing/2014/main" val="20002"/>
                    </a:ext>
                  </a:extLst>
                </a:gridCol>
                <a:gridCol w="2109138">
                  <a:extLst>
                    <a:ext uri="{9D8B030D-6E8A-4147-A177-3AD203B41FA5}">
                      <a16:colId xmlns:a16="http://schemas.microsoft.com/office/drawing/2014/main" val="20003"/>
                    </a:ext>
                  </a:extLst>
                </a:gridCol>
                <a:gridCol w="2345002">
                  <a:extLst>
                    <a:ext uri="{9D8B030D-6E8A-4147-A177-3AD203B41FA5}">
                      <a16:colId xmlns:a16="http://schemas.microsoft.com/office/drawing/2014/main" val="20004"/>
                    </a:ext>
                  </a:extLst>
                </a:gridCol>
              </a:tblGrid>
              <a:tr h="1230687">
                <a:tc>
                  <a:txBody>
                    <a:bodyPr/>
                    <a:lstStyle/>
                    <a:p>
                      <a:pPr algn="l">
                        <a:lnSpc>
                          <a:spcPts val="3639"/>
                        </a:lnSpc>
                        <a:defRPr/>
                      </a:pPr>
                      <a:r>
                        <a:rPr lang="en-US" sz="2599" b="1">
                          <a:solidFill>
                            <a:srgbClr val="000000"/>
                          </a:solidFill>
                          <a:latin typeface="Arimo Bold"/>
                          <a:ea typeface="Arimo Bold"/>
                          <a:cs typeface="Arimo Bold"/>
                          <a:sym typeface="Arimo Bold"/>
                        </a:rPr>
                        <a:t>Shaly Sandstone (ss)</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639"/>
                        </a:lnSpc>
                        <a:defRPr/>
                      </a:pPr>
                      <a:r>
                        <a:rPr lang="en-US" sz="2599" b="1">
                          <a:solidFill>
                            <a:srgbClr val="000000"/>
                          </a:solidFill>
                          <a:latin typeface="Arimo Bold"/>
                          <a:ea typeface="Arimo Bold"/>
                          <a:cs typeface="Arimo Bold"/>
                          <a:sym typeface="Arimo Bold"/>
                        </a:rPr>
                        <a:t>SVC</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079"/>
                        </a:lnSpc>
                        <a:defRPr/>
                      </a:pPr>
                      <a:r>
                        <a:rPr lang="en-US" sz="2199" b="1">
                          <a:solidFill>
                            <a:srgbClr val="000000"/>
                          </a:solidFill>
                          <a:latin typeface="Open Sans Bold"/>
                          <a:ea typeface="Open Sans Bold"/>
                          <a:cs typeface="Open Sans Bold"/>
                          <a:sym typeface="Open Sans Bold"/>
                        </a:rPr>
                        <a:t>0.40</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20"/>
                        </a:lnSpc>
                        <a:defRPr/>
                      </a:pPr>
                      <a:r>
                        <a:rPr lang="en-US" sz="2300" b="1">
                          <a:solidFill>
                            <a:srgbClr val="3F3E44"/>
                          </a:solidFill>
                          <a:latin typeface="Open Sans Bold"/>
                          <a:ea typeface="Open Sans Bold"/>
                          <a:cs typeface="Open Sans Bold"/>
                          <a:sym typeface="Open Sans Bold"/>
                        </a:rPr>
                        <a:t>0.68</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0.50</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0"/>
                  </a:ext>
                </a:extLst>
              </a:tr>
              <a:tr h="1342418">
                <a:tc>
                  <a:txBody>
                    <a:bodyPr/>
                    <a:lstStyle/>
                    <a:p>
                      <a:pPr algn="ctr">
                        <a:lnSpc>
                          <a:spcPts val="3499"/>
                        </a:lnSpc>
                        <a:defRPr/>
                      </a:pP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359"/>
                        </a:lnSpc>
                        <a:defRPr/>
                      </a:pPr>
                      <a:r>
                        <a:rPr lang="en-US" sz="2399" b="1">
                          <a:solidFill>
                            <a:srgbClr val="000000"/>
                          </a:solidFill>
                          <a:latin typeface="Open Sans Bold"/>
                          <a:ea typeface="Open Sans Bold"/>
                          <a:cs typeface="Open Sans Bold"/>
                          <a:sym typeface="Open Sans Bold"/>
                        </a:rPr>
                        <a:t>Logistic Regression</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079"/>
                        </a:lnSpc>
                        <a:defRPr/>
                      </a:pPr>
                      <a:r>
                        <a:rPr lang="en-US" sz="2199" b="1">
                          <a:solidFill>
                            <a:srgbClr val="000000"/>
                          </a:solidFill>
                          <a:latin typeface="Open Sans Bold"/>
                          <a:ea typeface="Open Sans Bold"/>
                          <a:cs typeface="Open Sans Bold"/>
                          <a:sym typeface="Open Sans Bold"/>
                        </a:rPr>
                        <a:t>0.46</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20"/>
                        </a:lnSpc>
                        <a:defRPr/>
                      </a:pPr>
                      <a:r>
                        <a:rPr lang="en-US" sz="2300" b="1">
                          <a:solidFill>
                            <a:srgbClr val="000000"/>
                          </a:solidFill>
                          <a:latin typeface="Open Sans Bold"/>
                          <a:ea typeface="Open Sans Bold"/>
                          <a:cs typeface="Open Sans Bold"/>
                          <a:sym typeface="Open Sans Bold"/>
                        </a:rPr>
                        <a:t>0.52</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0.49</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1"/>
                  </a:ext>
                </a:extLst>
              </a:tr>
              <a:tr h="920515">
                <a:tc>
                  <a:txBody>
                    <a:bodyPr/>
                    <a:lstStyle/>
                    <a:p>
                      <a:pPr algn="ctr">
                        <a:lnSpc>
                          <a:spcPts val="2659"/>
                        </a:lnSpc>
                        <a:defRPr/>
                      </a:pP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359"/>
                        </a:lnSpc>
                        <a:defRPr/>
                      </a:pPr>
                      <a:r>
                        <a:rPr lang="en-US" sz="2399" b="1">
                          <a:solidFill>
                            <a:srgbClr val="000000"/>
                          </a:solidFill>
                          <a:latin typeface="Open Sans Bold"/>
                          <a:ea typeface="Open Sans Bold"/>
                          <a:cs typeface="Open Sans Bold"/>
                          <a:sym typeface="Open Sans Bold"/>
                        </a:rPr>
                        <a:t>XGBoost</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20"/>
                        </a:lnSpc>
                        <a:defRPr/>
                      </a:pPr>
                      <a:r>
                        <a:rPr lang="en-US" sz="2300" b="1">
                          <a:solidFill>
                            <a:srgbClr val="000000"/>
                          </a:solidFill>
                          <a:latin typeface="Open Sans Bold"/>
                          <a:ea typeface="Open Sans Bold"/>
                          <a:cs typeface="Open Sans Bold"/>
                          <a:sym typeface="Open Sans Bold"/>
                        </a:rPr>
                        <a:t>0.40</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0.52</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0.45</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2"/>
                  </a:ext>
                </a:extLst>
              </a:tr>
              <a:tr h="1339931">
                <a:tc>
                  <a:txBody>
                    <a:bodyPr/>
                    <a:lstStyle/>
                    <a:p>
                      <a:pPr algn="ctr">
                        <a:lnSpc>
                          <a:spcPts val="2659"/>
                        </a:lnSpc>
                        <a:defRPr/>
                      </a:pP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359"/>
                        </a:lnSpc>
                        <a:defRPr/>
                      </a:pPr>
                      <a:r>
                        <a:rPr lang="en-US" sz="2399" b="1">
                          <a:solidFill>
                            <a:srgbClr val="000000"/>
                          </a:solidFill>
                          <a:latin typeface="Open Sans Bold"/>
                          <a:ea typeface="Open Sans Bold"/>
                          <a:cs typeface="Open Sans Bold"/>
                          <a:sym typeface="Open Sans Bold"/>
                        </a:rPr>
                        <a:t>Random Forest</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0.37</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0.52</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0.43</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3"/>
                  </a:ext>
                </a:extLst>
              </a:tr>
              <a:tr h="901338">
                <a:tc>
                  <a:txBody>
                    <a:bodyPr/>
                    <a:lstStyle/>
                    <a:p>
                      <a:pPr algn="ctr">
                        <a:lnSpc>
                          <a:spcPts val="2659"/>
                        </a:lnSpc>
                        <a:defRPr/>
                      </a:pP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219"/>
                        </a:lnSpc>
                        <a:defRPr/>
                      </a:pPr>
                      <a:r>
                        <a:rPr lang="en-US" sz="2299" b="1">
                          <a:solidFill>
                            <a:srgbClr val="000000"/>
                          </a:solidFill>
                          <a:latin typeface="Open Sans Bold"/>
                          <a:ea typeface="Open Sans Bold"/>
                          <a:cs typeface="Open Sans Bold"/>
                          <a:sym typeface="Open Sans Bold"/>
                        </a:rPr>
                        <a:t>KNN</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0.34</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0.38</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0.36</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4" name="TextBox 14"/>
          <p:cNvSpPr txBox="1"/>
          <p:nvPr/>
        </p:nvSpPr>
        <p:spPr>
          <a:xfrm>
            <a:off x="2204512" y="529539"/>
            <a:ext cx="3048518" cy="1137477"/>
          </a:xfrm>
          <a:prstGeom prst="rect">
            <a:avLst/>
          </a:prstGeom>
        </p:spPr>
        <p:txBody>
          <a:bodyPr lIns="0" tIns="0" rIns="0" bIns="0" rtlCol="0" anchor="t">
            <a:spAutoFit/>
          </a:bodyPr>
          <a:lstStyle/>
          <a:p>
            <a:pPr algn="ctr">
              <a:lnSpc>
                <a:spcPts val="9229"/>
              </a:lnSpc>
            </a:pPr>
            <a:r>
              <a:rPr lang="en-US" sz="6592" b="1">
                <a:solidFill>
                  <a:srgbClr val="000000"/>
                </a:solidFill>
                <a:latin typeface="Century Gothic Paneuropean Bold"/>
                <a:ea typeface="Century Gothic Paneuropean Bold"/>
                <a:cs typeface="Century Gothic Paneuropean Bold"/>
                <a:sym typeface="Century Gothic Paneuropean Bold"/>
              </a:rPr>
              <a:t>RESULTS</a:t>
            </a:r>
          </a:p>
        </p:txBody>
      </p:sp>
      <p:graphicFrame>
        <p:nvGraphicFramePr>
          <p:cNvPr id="15" name="Table 15"/>
          <p:cNvGraphicFramePr>
            <a:graphicFrameLocks noGrp="1"/>
          </p:cNvGraphicFramePr>
          <p:nvPr/>
        </p:nvGraphicFramePr>
        <p:xfrm>
          <a:off x="2204512" y="2104098"/>
          <a:ext cx="12993636" cy="981075"/>
        </p:xfrm>
        <a:graphic>
          <a:graphicData uri="http://schemas.openxmlformats.org/drawingml/2006/table">
            <a:tbl>
              <a:tblPr/>
              <a:tblGrid>
                <a:gridCol w="3983861">
                  <a:extLst>
                    <a:ext uri="{9D8B030D-6E8A-4147-A177-3AD203B41FA5}">
                      <a16:colId xmlns:a16="http://schemas.microsoft.com/office/drawing/2014/main" val="20000"/>
                    </a:ext>
                  </a:extLst>
                </a:gridCol>
                <a:gridCol w="2512957">
                  <a:extLst>
                    <a:ext uri="{9D8B030D-6E8A-4147-A177-3AD203B41FA5}">
                      <a16:colId xmlns:a16="http://schemas.microsoft.com/office/drawing/2014/main" val="20001"/>
                    </a:ext>
                  </a:extLst>
                </a:gridCol>
                <a:gridCol w="2087119">
                  <a:extLst>
                    <a:ext uri="{9D8B030D-6E8A-4147-A177-3AD203B41FA5}">
                      <a16:colId xmlns:a16="http://schemas.microsoft.com/office/drawing/2014/main" val="20002"/>
                    </a:ext>
                  </a:extLst>
                </a:gridCol>
                <a:gridCol w="2107830">
                  <a:extLst>
                    <a:ext uri="{9D8B030D-6E8A-4147-A177-3AD203B41FA5}">
                      <a16:colId xmlns:a16="http://schemas.microsoft.com/office/drawing/2014/main" val="20003"/>
                    </a:ext>
                  </a:extLst>
                </a:gridCol>
                <a:gridCol w="2301869">
                  <a:extLst>
                    <a:ext uri="{9D8B030D-6E8A-4147-A177-3AD203B41FA5}">
                      <a16:colId xmlns:a16="http://schemas.microsoft.com/office/drawing/2014/main" val="20004"/>
                    </a:ext>
                  </a:extLst>
                </a:gridCol>
              </a:tblGrid>
              <a:tr h="981075">
                <a:tc>
                  <a:txBody>
                    <a:bodyPr/>
                    <a:lstStyle/>
                    <a:p>
                      <a:pPr algn="l">
                        <a:lnSpc>
                          <a:spcPts val="3499"/>
                        </a:lnSpc>
                        <a:defRPr/>
                      </a:pPr>
                      <a:r>
                        <a:rPr lang="en-US" sz="2499" b="1">
                          <a:solidFill>
                            <a:srgbClr val="000000"/>
                          </a:solidFill>
                          <a:latin typeface="Open Sans Bold"/>
                          <a:ea typeface="Open Sans Bold"/>
                          <a:cs typeface="Open Sans Bold"/>
                          <a:sym typeface="Open Sans Bold"/>
                        </a:rPr>
                        <a:t>Facies</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Open Sans Bold"/>
                          <a:ea typeface="Open Sans Bold"/>
                          <a:cs typeface="Open Sans Bold"/>
                          <a:sym typeface="Open Sans Bold"/>
                        </a:rPr>
                        <a:t>Model</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Open Sans Bold"/>
                          <a:ea typeface="Open Sans Bold"/>
                          <a:cs typeface="Open Sans Bold"/>
                          <a:sym typeface="Open Sans Bold"/>
                        </a:rPr>
                        <a:t>Precision</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Open Sans Bold"/>
                          <a:ea typeface="Open Sans Bold"/>
                          <a:cs typeface="Open Sans Bold"/>
                          <a:sym typeface="Open Sans Bold"/>
                        </a:rPr>
                        <a:t>Recall</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Open Sans Bold"/>
                          <a:ea typeface="Open Sans Bold"/>
                          <a:cs typeface="Open Sans Bold"/>
                          <a:sym typeface="Open Sans Bold"/>
                        </a:rPr>
                        <a:t>F1 Score</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3728771" y="1667016"/>
            <a:ext cx="11651705" cy="7762948"/>
          </a:xfrm>
          <a:custGeom>
            <a:avLst/>
            <a:gdLst/>
            <a:ahLst/>
            <a:cxnLst/>
            <a:rect l="l" t="t" r="r" b="b"/>
            <a:pathLst>
              <a:path w="11651705" h="7762948">
                <a:moveTo>
                  <a:pt x="0" y="0"/>
                </a:moveTo>
                <a:lnTo>
                  <a:pt x="11651705" y="0"/>
                </a:lnTo>
                <a:lnTo>
                  <a:pt x="11651705" y="7762949"/>
                </a:lnTo>
                <a:lnTo>
                  <a:pt x="0" y="7762949"/>
                </a:lnTo>
                <a:lnTo>
                  <a:pt x="0" y="0"/>
                </a:lnTo>
                <a:close/>
              </a:path>
            </a:pathLst>
          </a:custGeom>
          <a:blipFill>
            <a:blip r:embed="rId3"/>
            <a:stretch>
              <a:fillRect/>
            </a:stretch>
          </a:blipFill>
        </p:spPr>
      </p:sp>
      <p:sp>
        <p:nvSpPr>
          <p:cNvPr id="14" name="TextBox 14"/>
          <p:cNvSpPr txBox="1"/>
          <p:nvPr/>
        </p:nvSpPr>
        <p:spPr>
          <a:xfrm>
            <a:off x="2204512" y="529539"/>
            <a:ext cx="3048518" cy="1137477"/>
          </a:xfrm>
          <a:prstGeom prst="rect">
            <a:avLst/>
          </a:prstGeom>
        </p:spPr>
        <p:txBody>
          <a:bodyPr lIns="0" tIns="0" rIns="0" bIns="0" rtlCol="0" anchor="t">
            <a:spAutoFit/>
          </a:bodyPr>
          <a:lstStyle/>
          <a:p>
            <a:pPr algn="ctr">
              <a:lnSpc>
                <a:spcPts val="9229"/>
              </a:lnSpc>
            </a:pPr>
            <a:r>
              <a:rPr lang="en-US" sz="6592" b="1">
                <a:solidFill>
                  <a:srgbClr val="000000"/>
                </a:solidFill>
                <a:latin typeface="Century Gothic Paneuropean Bold"/>
                <a:ea typeface="Century Gothic Paneuropean Bold"/>
                <a:cs typeface="Century Gothic Paneuropean Bold"/>
                <a:sym typeface="Century Gothic Paneuropean Bold"/>
              </a:rPr>
              <a:t>RESULTS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3440150" y="2017156"/>
            <a:ext cx="11254873" cy="7498559"/>
          </a:xfrm>
          <a:custGeom>
            <a:avLst/>
            <a:gdLst/>
            <a:ahLst/>
            <a:cxnLst/>
            <a:rect l="l" t="t" r="r" b="b"/>
            <a:pathLst>
              <a:path w="11254873" h="7498559">
                <a:moveTo>
                  <a:pt x="0" y="0"/>
                </a:moveTo>
                <a:lnTo>
                  <a:pt x="11254874" y="0"/>
                </a:lnTo>
                <a:lnTo>
                  <a:pt x="11254874" y="7498559"/>
                </a:lnTo>
                <a:lnTo>
                  <a:pt x="0" y="7498559"/>
                </a:lnTo>
                <a:lnTo>
                  <a:pt x="0" y="0"/>
                </a:lnTo>
                <a:close/>
              </a:path>
            </a:pathLst>
          </a:custGeom>
          <a:blipFill>
            <a:blip r:embed="rId3"/>
            <a:stretch>
              <a:fillRect/>
            </a:stretch>
          </a:blipFill>
        </p:spPr>
      </p:sp>
      <p:sp>
        <p:nvSpPr>
          <p:cNvPr id="14" name="TextBox 14"/>
          <p:cNvSpPr txBox="1"/>
          <p:nvPr/>
        </p:nvSpPr>
        <p:spPr>
          <a:xfrm>
            <a:off x="2204512" y="529539"/>
            <a:ext cx="3048518" cy="1137477"/>
          </a:xfrm>
          <a:prstGeom prst="rect">
            <a:avLst/>
          </a:prstGeom>
        </p:spPr>
        <p:txBody>
          <a:bodyPr lIns="0" tIns="0" rIns="0" bIns="0" rtlCol="0" anchor="t">
            <a:spAutoFit/>
          </a:bodyPr>
          <a:lstStyle/>
          <a:p>
            <a:pPr algn="ctr">
              <a:lnSpc>
                <a:spcPts val="9229"/>
              </a:lnSpc>
            </a:pPr>
            <a:r>
              <a:rPr lang="en-US" sz="6592" b="1">
                <a:solidFill>
                  <a:srgbClr val="000000"/>
                </a:solidFill>
                <a:latin typeface="Century Gothic Paneuropean Bold"/>
                <a:ea typeface="Century Gothic Paneuropean Bold"/>
                <a:cs typeface="Century Gothic Paneuropean Bold"/>
                <a:sym typeface="Century Gothic Paneuropean Bold"/>
              </a:rPr>
              <a:t>RESULTS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aphicFrame>
        <p:nvGraphicFramePr>
          <p:cNvPr id="13" name="Table 13"/>
          <p:cNvGraphicFramePr>
            <a:graphicFrameLocks noGrp="1"/>
          </p:cNvGraphicFramePr>
          <p:nvPr/>
        </p:nvGraphicFramePr>
        <p:xfrm>
          <a:off x="2525618" y="3493167"/>
          <a:ext cx="12714488" cy="5572125"/>
        </p:xfrm>
        <a:graphic>
          <a:graphicData uri="http://schemas.openxmlformats.org/drawingml/2006/table">
            <a:tbl>
              <a:tblPr/>
              <a:tblGrid>
                <a:gridCol w="3892180">
                  <a:extLst>
                    <a:ext uri="{9D8B030D-6E8A-4147-A177-3AD203B41FA5}">
                      <a16:colId xmlns:a16="http://schemas.microsoft.com/office/drawing/2014/main" val="20000"/>
                    </a:ext>
                  </a:extLst>
                </a:gridCol>
                <a:gridCol w="2465064">
                  <a:extLst>
                    <a:ext uri="{9D8B030D-6E8A-4147-A177-3AD203B41FA5}">
                      <a16:colId xmlns:a16="http://schemas.microsoft.com/office/drawing/2014/main" val="20001"/>
                    </a:ext>
                  </a:extLst>
                </a:gridCol>
                <a:gridCol w="2178366">
                  <a:extLst>
                    <a:ext uri="{9D8B030D-6E8A-4147-A177-3AD203B41FA5}">
                      <a16:colId xmlns:a16="http://schemas.microsoft.com/office/drawing/2014/main" val="20002"/>
                    </a:ext>
                  </a:extLst>
                </a:gridCol>
                <a:gridCol w="1786605">
                  <a:extLst>
                    <a:ext uri="{9D8B030D-6E8A-4147-A177-3AD203B41FA5}">
                      <a16:colId xmlns:a16="http://schemas.microsoft.com/office/drawing/2014/main" val="20003"/>
                    </a:ext>
                  </a:extLst>
                </a:gridCol>
                <a:gridCol w="2392274">
                  <a:extLst>
                    <a:ext uri="{9D8B030D-6E8A-4147-A177-3AD203B41FA5}">
                      <a16:colId xmlns:a16="http://schemas.microsoft.com/office/drawing/2014/main" val="20004"/>
                    </a:ext>
                  </a:extLst>
                </a:gridCol>
              </a:tblGrid>
              <a:tr h="1064554">
                <a:tc>
                  <a:txBody>
                    <a:bodyPr/>
                    <a:lstStyle/>
                    <a:p>
                      <a:pPr algn="ctr">
                        <a:lnSpc>
                          <a:spcPts val="4339"/>
                        </a:lnSpc>
                        <a:defRPr/>
                      </a:pPr>
                      <a:r>
                        <a:rPr lang="en-US" sz="3099" b="1">
                          <a:solidFill>
                            <a:srgbClr val="000000"/>
                          </a:solidFill>
                          <a:latin typeface="Open Sans Bold"/>
                          <a:ea typeface="Open Sans Bold"/>
                          <a:cs typeface="Open Sans Bold"/>
                          <a:sym typeface="Open Sans Bold"/>
                        </a:rPr>
                        <a:t>Grey Shale</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359"/>
                        </a:lnSpc>
                        <a:defRPr/>
                      </a:pPr>
                      <a:r>
                        <a:rPr lang="en-US" sz="2399" b="1">
                          <a:solidFill>
                            <a:srgbClr val="000000"/>
                          </a:solidFill>
                          <a:latin typeface="Open Sans Bold"/>
                          <a:ea typeface="Open Sans Bold"/>
                          <a:cs typeface="Open Sans Bold"/>
                          <a:sym typeface="Open Sans Bold"/>
                        </a:rPr>
                        <a:t>SVC</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0.20</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0.33</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0.25</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0"/>
                  </a:ext>
                </a:extLst>
              </a:tr>
              <a:tr h="901514">
                <a:tc>
                  <a:txBody>
                    <a:bodyPr/>
                    <a:lstStyle/>
                    <a:p>
                      <a:pPr algn="ctr">
                        <a:lnSpc>
                          <a:spcPts val="2659"/>
                        </a:lnSpc>
                        <a:defRPr/>
                      </a:pP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219"/>
                        </a:lnSpc>
                        <a:defRPr/>
                      </a:pPr>
                      <a:r>
                        <a:rPr lang="en-US" sz="2299" b="1">
                          <a:solidFill>
                            <a:srgbClr val="000000"/>
                          </a:solidFill>
                          <a:latin typeface="Open Sans Bold"/>
                          <a:ea typeface="Open Sans Bold"/>
                          <a:cs typeface="Open Sans Bold"/>
                          <a:sym typeface="Open Sans Bold"/>
                        </a:rPr>
                        <a:t>KNN</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0.20</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0.30</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0.24</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1"/>
                  </a:ext>
                </a:extLst>
              </a:tr>
              <a:tr h="920695">
                <a:tc>
                  <a:txBody>
                    <a:bodyPr/>
                    <a:lstStyle/>
                    <a:p>
                      <a:pPr algn="ctr">
                        <a:lnSpc>
                          <a:spcPts val="2659"/>
                        </a:lnSpc>
                        <a:defRPr/>
                      </a:pP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359"/>
                        </a:lnSpc>
                        <a:defRPr/>
                      </a:pPr>
                      <a:r>
                        <a:rPr lang="en-US" sz="2399" b="1">
                          <a:solidFill>
                            <a:srgbClr val="000000"/>
                          </a:solidFill>
                          <a:latin typeface="Open Sans Bold"/>
                          <a:ea typeface="Open Sans Bold"/>
                          <a:cs typeface="Open Sans Bold"/>
                          <a:sym typeface="Open Sans Bold"/>
                        </a:rPr>
                        <a:t>XGBoost</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20"/>
                        </a:lnSpc>
                        <a:defRPr/>
                      </a:pPr>
                      <a:r>
                        <a:rPr lang="en-US" sz="2300" b="1">
                          <a:solidFill>
                            <a:srgbClr val="000000"/>
                          </a:solidFill>
                          <a:latin typeface="Open Sans Bold"/>
                          <a:ea typeface="Open Sans Bold"/>
                          <a:cs typeface="Open Sans Bold"/>
                          <a:sym typeface="Open Sans Bold"/>
                        </a:rPr>
                        <a:t>0.24</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0.22</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0.23</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2"/>
                  </a:ext>
                </a:extLst>
              </a:tr>
              <a:tr h="1342681">
                <a:tc>
                  <a:txBody>
                    <a:bodyPr/>
                    <a:lstStyle/>
                    <a:p>
                      <a:pPr algn="ctr">
                        <a:lnSpc>
                          <a:spcPts val="2659"/>
                        </a:lnSpc>
                        <a:defRPr/>
                      </a:pP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359"/>
                        </a:lnSpc>
                        <a:defRPr/>
                      </a:pPr>
                      <a:r>
                        <a:rPr lang="en-US" sz="2399" b="1">
                          <a:solidFill>
                            <a:srgbClr val="000000"/>
                          </a:solidFill>
                          <a:latin typeface="Open Sans Bold"/>
                          <a:ea typeface="Open Sans Bold"/>
                          <a:cs typeface="Open Sans Bold"/>
                          <a:sym typeface="Open Sans Bold"/>
                        </a:rPr>
                        <a:t>Random Forest</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0.21</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0.22</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0.22</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3"/>
                  </a:ext>
                </a:extLst>
              </a:tr>
              <a:tr h="1342681">
                <a:tc>
                  <a:txBody>
                    <a:bodyPr/>
                    <a:lstStyle/>
                    <a:p>
                      <a:pPr algn="ctr">
                        <a:lnSpc>
                          <a:spcPts val="4619"/>
                        </a:lnSpc>
                        <a:defRPr/>
                      </a:pP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l">
                        <a:lnSpc>
                          <a:spcPts val="3359"/>
                        </a:lnSpc>
                        <a:defRPr/>
                      </a:pPr>
                      <a:r>
                        <a:rPr lang="en-US" sz="2399" b="1">
                          <a:solidFill>
                            <a:srgbClr val="000000"/>
                          </a:solidFill>
                          <a:latin typeface="Open Sans Bold"/>
                          <a:ea typeface="Open Sans Bold"/>
                          <a:cs typeface="Open Sans Bold"/>
                          <a:sym typeface="Open Sans Bold"/>
                        </a:rPr>
                        <a:t>Logistic Regression</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079"/>
                        </a:lnSpc>
                        <a:defRPr/>
                      </a:pPr>
                      <a:r>
                        <a:rPr lang="en-US" sz="2199" b="1">
                          <a:solidFill>
                            <a:srgbClr val="000000"/>
                          </a:solidFill>
                          <a:latin typeface="Open Sans Bold"/>
                          <a:ea typeface="Open Sans Bold"/>
                          <a:cs typeface="Open Sans Bold"/>
                          <a:sym typeface="Open Sans Bold"/>
                        </a:rPr>
                        <a:t>0.16</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20"/>
                        </a:lnSpc>
                        <a:defRPr/>
                      </a:pPr>
                      <a:r>
                        <a:rPr lang="en-US" sz="2300" b="1">
                          <a:solidFill>
                            <a:srgbClr val="000000"/>
                          </a:solidFill>
                          <a:latin typeface="Open Sans Bold"/>
                          <a:ea typeface="Open Sans Bold"/>
                          <a:cs typeface="Open Sans Bold"/>
                          <a:sym typeface="Open Sans Bold"/>
                        </a:rPr>
                        <a:t>0.26</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tc>
                  <a:txBody>
                    <a:bodyPr/>
                    <a:lstStyle/>
                    <a:p>
                      <a:pPr algn="ctr">
                        <a:lnSpc>
                          <a:spcPts val="3219"/>
                        </a:lnSpc>
                        <a:defRPr/>
                      </a:pPr>
                      <a:r>
                        <a:rPr lang="en-US" sz="2299" b="1">
                          <a:solidFill>
                            <a:srgbClr val="000000"/>
                          </a:solidFill>
                          <a:latin typeface="Open Sans Bold"/>
                          <a:ea typeface="Open Sans Bold"/>
                          <a:cs typeface="Open Sans Bold"/>
                          <a:sym typeface="Open Sans Bold"/>
                        </a:rPr>
                        <a:t>0.20</a:t>
                      </a:r>
                      <a:endParaRPr lang="en-US" sz="1100"/>
                    </a:p>
                  </a:txBody>
                  <a:tcPr marL="190500" marR="190500" marT="190500" marB="190500" anchor="ctr">
                    <a:lnL w="38100" cap="flat" cmpd="sng" algn="ctr">
                      <a:solidFill>
                        <a:srgbClr val="949393"/>
                      </a:solidFill>
                      <a:prstDash val="solid"/>
                      <a:round/>
                      <a:headEnd type="none" w="med" len="med"/>
                      <a:tailEnd type="none" w="med" len="med"/>
                    </a:lnL>
                    <a:lnR w="38100" cap="flat" cmpd="sng" algn="ctr">
                      <a:solidFill>
                        <a:srgbClr val="949393"/>
                      </a:solidFill>
                      <a:prstDash val="solid"/>
                      <a:round/>
                      <a:headEnd type="none" w="med" len="med"/>
                      <a:tailEnd type="none" w="med" len="med"/>
                    </a:lnR>
                    <a:lnT w="38100" cap="flat" cmpd="sng" algn="ctr">
                      <a:solidFill>
                        <a:srgbClr val="949393"/>
                      </a:solidFill>
                      <a:prstDash val="solid"/>
                      <a:round/>
                      <a:headEnd type="none" w="med" len="med"/>
                      <a:tailEnd type="none" w="med" len="med"/>
                    </a:lnT>
                    <a:lnB w="38100" cap="flat" cmpd="sng" algn="ctr">
                      <a:solidFill>
                        <a:srgbClr val="949393"/>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4" name="TextBox 14"/>
          <p:cNvSpPr txBox="1"/>
          <p:nvPr/>
        </p:nvSpPr>
        <p:spPr>
          <a:xfrm>
            <a:off x="2204512" y="529539"/>
            <a:ext cx="3048518" cy="1137477"/>
          </a:xfrm>
          <a:prstGeom prst="rect">
            <a:avLst/>
          </a:prstGeom>
        </p:spPr>
        <p:txBody>
          <a:bodyPr lIns="0" tIns="0" rIns="0" bIns="0" rtlCol="0" anchor="t">
            <a:spAutoFit/>
          </a:bodyPr>
          <a:lstStyle/>
          <a:p>
            <a:pPr algn="ctr">
              <a:lnSpc>
                <a:spcPts val="9229"/>
              </a:lnSpc>
            </a:pPr>
            <a:r>
              <a:rPr lang="en-US" sz="6592" b="1">
                <a:solidFill>
                  <a:srgbClr val="000000"/>
                </a:solidFill>
                <a:latin typeface="Century Gothic Paneuropean Bold"/>
                <a:ea typeface="Century Gothic Paneuropean Bold"/>
                <a:cs typeface="Century Gothic Paneuropean Bold"/>
                <a:sym typeface="Century Gothic Paneuropean Bold"/>
              </a:rPr>
              <a:t>RESULTS</a:t>
            </a:r>
          </a:p>
        </p:txBody>
      </p:sp>
      <p:graphicFrame>
        <p:nvGraphicFramePr>
          <p:cNvPr id="15" name="Table 15"/>
          <p:cNvGraphicFramePr>
            <a:graphicFrameLocks noGrp="1"/>
          </p:cNvGraphicFramePr>
          <p:nvPr/>
        </p:nvGraphicFramePr>
        <p:xfrm>
          <a:off x="2525618" y="2104098"/>
          <a:ext cx="12714488" cy="981075"/>
        </p:xfrm>
        <a:graphic>
          <a:graphicData uri="http://schemas.openxmlformats.org/drawingml/2006/table">
            <a:tbl>
              <a:tblPr/>
              <a:tblGrid>
                <a:gridCol w="3984118">
                  <a:extLst>
                    <a:ext uri="{9D8B030D-6E8A-4147-A177-3AD203B41FA5}">
                      <a16:colId xmlns:a16="http://schemas.microsoft.com/office/drawing/2014/main" val="20000"/>
                    </a:ext>
                  </a:extLst>
                </a:gridCol>
                <a:gridCol w="2390550">
                  <a:extLst>
                    <a:ext uri="{9D8B030D-6E8A-4147-A177-3AD203B41FA5}">
                      <a16:colId xmlns:a16="http://schemas.microsoft.com/office/drawing/2014/main" val="20001"/>
                    </a:ext>
                  </a:extLst>
                </a:gridCol>
                <a:gridCol w="2132947">
                  <a:extLst>
                    <a:ext uri="{9D8B030D-6E8A-4147-A177-3AD203B41FA5}">
                      <a16:colId xmlns:a16="http://schemas.microsoft.com/office/drawing/2014/main" val="20002"/>
                    </a:ext>
                  </a:extLst>
                </a:gridCol>
                <a:gridCol w="1800462">
                  <a:extLst>
                    <a:ext uri="{9D8B030D-6E8A-4147-A177-3AD203B41FA5}">
                      <a16:colId xmlns:a16="http://schemas.microsoft.com/office/drawing/2014/main" val="20003"/>
                    </a:ext>
                  </a:extLst>
                </a:gridCol>
                <a:gridCol w="2406412">
                  <a:extLst>
                    <a:ext uri="{9D8B030D-6E8A-4147-A177-3AD203B41FA5}">
                      <a16:colId xmlns:a16="http://schemas.microsoft.com/office/drawing/2014/main" val="20004"/>
                    </a:ext>
                  </a:extLst>
                </a:gridCol>
              </a:tblGrid>
              <a:tr h="981075">
                <a:tc>
                  <a:txBody>
                    <a:bodyPr/>
                    <a:lstStyle/>
                    <a:p>
                      <a:pPr algn="l">
                        <a:lnSpc>
                          <a:spcPts val="3499"/>
                        </a:lnSpc>
                        <a:defRPr/>
                      </a:pPr>
                      <a:r>
                        <a:rPr lang="en-US" sz="2499" b="1">
                          <a:solidFill>
                            <a:srgbClr val="000000"/>
                          </a:solidFill>
                          <a:latin typeface="Open Sans Bold"/>
                          <a:ea typeface="Open Sans Bold"/>
                          <a:cs typeface="Open Sans Bold"/>
                          <a:sym typeface="Open Sans Bold"/>
                        </a:rPr>
                        <a:t>Facies</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Open Sans Bold"/>
                          <a:ea typeface="Open Sans Bold"/>
                          <a:cs typeface="Open Sans Bold"/>
                          <a:sym typeface="Open Sans Bold"/>
                        </a:rPr>
                        <a:t>Model</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Open Sans Bold"/>
                          <a:ea typeface="Open Sans Bold"/>
                          <a:cs typeface="Open Sans Bold"/>
                          <a:sym typeface="Open Sans Bold"/>
                        </a:rPr>
                        <a:t>Precision</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Open Sans Bold"/>
                          <a:ea typeface="Open Sans Bold"/>
                          <a:cs typeface="Open Sans Bold"/>
                          <a:sym typeface="Open Sans Bold"/>
                        </a:rPr>
                        <a:t>Recall</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tc>
                  <a:txBody>
                    <a:bodyPr/>
                    <a:lstStyle/>
                    <a:p>
                      <a:pPr algn="ctr">
                        <a:lnSpc>
                          <a:spcPts val="3499"/>
                        </a:lnSpc>
                        <a:defRPr/>
                      </a:pPr>
                      <a:r>
                        <a:rPr lang="en-US" sz="2499" b="1">
                          <a:solidFill>
                            <a:srgbClr val="000000"/>
                          </a:solidFill>
                          <a:latin typeface="Open Sans Bold"/>
                          <a:ea typeface="Open Sans Bold"/>
                          <a:cs typeface="Open Sans Bold"/>
                          <a:sym typeface="Open Sans Bold"/>
                        </a:rPr>
                        <a:t>F1 Score</a:t>
                      </a:r>
                      <a:endParaRPr lang="en-US" sz="1100"/>
                    </a:p>
                  </a:txBody>
                  <a:tcPr marL="190500" marR="190500" marT="190500" marB="190500" anchor="ctr">
                    <a:lnL w="38100" cap="flat" cmpd="sng" algn="ctr">
                      <a:solidFill>
                        <a:srgbClr val="545259"/>
                      </a:solidFill>
                      <a:prstDash val="solid"/>
                      <a:round/>
                      <a:headEnd type="none" w="med" len="med"/>
                      <a:tailEnd type="none" w="med" len="med"/>
                    </a:lnL>
                    <a:lnR w="38100" cap="flat" cmpd="sng" algn="ctr">
                      <a:solidFill>
                        <a:srgbClr val="545259"/>
                      </a:solidFill>
                      <a:prstDash val="solid"/>
                      <a:round/>
                      <a:headEnd type="none" w="med" len="med"/>
                      <a:tailEnd type="none" w="med" len="med"/>
                    </a:lnR>
                    <a:lnT w="38100" cap="flat" cmpd="sng" algn="ctr">
                      <a:solidFill>
                        <a:srgbClr val="545259"/>
                      </a:solidFill>
                      <a:prstDash val="solid"/>
                      <a:round/>
                      <a:headEnd type="none" w="med" len="med"/>
                      <a:tailEnd type="none" w="med" len="med"/>
                    </a:lnT>
                    <a:lnB w="38100" cap="flat" cmpd="sng" algn="ctr">
                      <a:solidFill>
                        <a:srgbClr val="545259"/>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3463400" y="1967015"/>
            <a:ext cx="11452439" cy="7630188"/>
          </a:xfrm>
          <a:custGeom>
            <a:avLst/>
            <a:gdLst/>
            <a:ahLst/>
            <a:cxnLst/>
            <a:rect l="l" t="t" r="r" b="b"/>
            <a:pathLst>
              <a:path w="11452439" h="7630188">
                <a:moveTo>
                  <a:pt x="0" y="0"/>
                </a:moveTo>
                <a:lnTo>
                  <a:pt x="11452439" y="0"/>
                </a:lnTo>
                <a:lnTo>
                  <a:pt x="11452439" y="7630187"/>
                </a:lnTo>
                <a:lnTo>
                  <a:pt x="0" y="7630187"/>
                </a:lnTo>
                <a:lnTo>
                  <a:pt x="0" y="0"/>
                </a:lnTo>
                <a:close/>
              </a:path>
            </a:pathLst>
          </a:custGeom>
          <a:blipFill>
            <a:blip r:embed="rId3"/>
            <a:stretch>
              <a:fillRect/>
            </a:stretch>
          </a:blipFill>
        </p:spPr>
      </p:sp>
      <p:sp>
        <p:nvSpPr>
          <p:cNvPr id="14" name="TextBox 14"/>
          <p:cNvSpPr txBox="1"/>
          <p:nvPr/>
        </p:nvSpPr>
        <p:spPr>
          <a:xfrm>
            <a:off x="2204512" y="529539"/>
            <a:ext cx="3048518" cy="1137477"/>
          </a:xfrm>
          <a:prstGeom prst="rect">
            <a:avLst/>
          </a:prstGeom>
        </p:spPr>
        <p:txBody>
          <a:bodyPr lIns="0" tIns="0" rIns="0" bIns="0" rtlCol="0" anchor="t">
            <a:spAutoFit/>
          </a:bodyPr>
          <a:lstStyle/>
          <a:p>
            <a:pPr algn="ctr">
              <a:lnSpc>
                <a:spcPts val="9229"/>
              </a:lnSpc>
            </a:pPr>
            <a:r>
              <a:rPr lang="en-US" sz="6592" b="1">
                <a:solidFill>
                  <a:srgbClr val="000000"/>
                </a:solidFill>
                <a:latin typeface="Century Gothic Paneuropean Bold"/>
                <a:ea typeface="Century Gothic Paneuropean Bold"/>
                <a:cs typeface="Century Gothic Paneuropean Bold"/>
                <a:sym typeface="Century Gothic Paneuropean Bold"/>
              </a:rPr>
              <a:t>RESULTS</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aphicFrame>
        <p:nvGraphicFramePr>
          <p:cNvPr id="13" name="Table 13"/>
          <p:cNvGraphicFramePr>
            <a:graphicFrameLocks noGrp="1"/>
          </p:cNvGraphicFramePr>
          <p:nvPr/>
        </p:nvGraphicFramePr>
        <p:xfrm>
          <a:off x="3352570" y="2409520"/>
          <a:ext cx="10880258" cy="6286498"/>
        </p:xfrm>
        <a:graphic>
          <a:graphicData uri="http://schemas.openxmlformats.org/drawingml/2006/table">
            <a:tbl>
              <a:tblPr/>
              <a:tblGrid>
                <a:gridCol w="7744468">
                  <a:extLst>
                    <a:ext uri="{9D8B030D-6E8A-4147-A177-3AD203B41FA5}">
                      <a16:colId xmlns:a16="http://schemas.microsoft.com/office/drawing/2014/main" val="20000"/>
                    </a:ext>
                  </a:extLst>
                </a:gridCol>
                <a:gridCol w="3135790">
                  <a:extLst>
                    <a:ext uri="{9D8B030D-6E8A-4147-A177-3AD203B41FA5}">
                      <a16:colId xmlns:a16="http://schemas.microsoft.com/office/drawing/2014/main" val="20001"/>
                    </a:ext>
                  </a:extLst>
                </a:gridCol>
              </a:tblGrid>
              <a:tr h="1025389">
                <a:tc>
                  <a:txBody>
                    <a:bodyPr/>
                    <a:lstStyle/>
                    <a:p>
                      <a:pPr algn="ctr">
                        <a:lnSpc>
                          <a:spcPts val="3499"/>
                        </a:lnSpc>
                        <a:defRPr/>
                      </a:pPr>
                      <a:r>
                        <a:rPr lang="en-US" sz="2499" b="1">
                          <a:solidFill>
                            <a:srgbClr val="000000"/>
                          </a:solidFill>
                          <a:latin typeface="Open Sans Bold"/>
                          <a:ea typeface="Open Sans Bold"/>
                          <a:cs typeface="Open Sans Bold"/>
                          <a:sym typeface="Open Sans Bold"/>
                        </a:rPr>
                        <a:t>Models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Open Sans Bold"/>
                          <a:ea typeface="Open Sans Bold"/>
                          <a:cs typeface="Open Sans Bold"/>
                          <a:sym typeface="Open Sans Bold"/>
                        </a:rPr>
                        <a:t>Accuracy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248487">
                <a:tc>
                  <a:txBody>
                    <a:bodyPr/>
                    <a:lstStyle/>
                    <a:p>
                      <a:pPr algn="l">
                        <a:lnSpc>
                          <a:spcPts val="3359"/>
                        </a:lnSpc>
                        <a:defRPr/>
                      </a:pPr>
                      <a:r>
                        <a:rPr lang="en-US" sz="2399">
                          <a:solidFill>
                            <a:srgbClr val="000000"/>
                          </a:solidFill>
                          <a:latin typeface="Arimo"/>
                          <a:ea typeface="Arimo"/>
                          <a:cs typeface="Arimo"/>
                          <a:sym typeface="Arimo"/>
                        </a:rPr>
                        <a:t>LogisticRegression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b="1">
                          <a:solidFill>
                            <a:srgbClr val="000000"/>
                          </a:solidFill>
                          <a:latin typeface="Open Sans Bold"/>
                          <a:ea typeface="Open Sans Bold"/>
                          <a:cs typeface="Open Sans Bold"/>
                          <a:sym typeface="Open Sans Bold"/>
                        </a:rPr>
                        <a:t>0.57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25389">
                <a:tc>
                  <a:txBody>
                    <a:bodyPr/>
                    <a:lstStyle/>
                    <a:p>
                      <a:pPr algn="l">
                        <a:lnSpc>
                          <a:spcPts val="3359"/>
                        </a:lnSpc>
                        <a:defRPr/>
                      </a:pPr>
                      <a:r>
                        <a:rPr lang="en-US" sz="2399">
                          <a:solidFill>
                            <a:srgbClr val="000000"/>
                          </a:solidFill>
                          <a:latin typeface="Arimo"/>
                          <a:ea typeface="Arimo"/>
                          <a:cs typeface="Arimo"/>
                          <a:sym typeface="Arimo"/>
                        </a:rPr>
                        <a:t>XGBClassifier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400" b="1">
                          <a:solidFill>
                            <a:srgbClr val="000000"/>
                          </a:solidFill>
                          <a:latin typeface="Open Sans Bold"/>
                          <a:ea typeface="Open Sans Bold"/>
                          <a:cs typeface="Open Sans Bold"/>
                          <a:sym typeface="Open Sans Bold"/>
                        </a:rPr>
                        <a:t>0.57</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936455">
                <a:tc>
                  <a:txBody>
                    <a:bodyPr/>
                    <a:lstStyle/>
                    <a:p>
                      <a:pPr algn="l">
                        <a:lnSpc>
                          <a:spcPts val="3359"/>
                        </a:lnSpc>
                        <a:defRPr/>
                      </a:pPr>
                      <a:r>
                        <a:rPr lang="en-US" sz="2399">
                          <a:solidFill>
                            <a:srgbClr val="000000"/>
                          </a:solidFill>
                          <a:latin typeface="Open Sans"/>
                          <a:ea typeface="Open Sans"/>
                          <a:cs typeface="Open Sans"/>
                          <a:sym typeface="Open Sans"/>
                        </a:rPr>
                        <a:t>RandomForestClassifier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Open Sans Bold"/>
                          <a:ea typeface="Open Sans Bold"/>
                          <a:cs typeface="Open Sans Bold"/>
                          <a:sym typeface="Open Sans Bold"/>
                        </a:rPr>
                        <a:t>0.56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025389">
                <a:tc>
                  <a:txBody>
                    <a:bodyPr/>
                    <a:lstStyle/>
                    <a:p>
                      <a:pPr algn="l">
                        <a:lnSpc>
                          <a:spcPts val="3359"/>
                        </a:lnSpc>
                        <a:defRPr/>
                      </a:pPr>
                      <a:r>
                        <a:rPr lang="en-US" sz="2400">
                          <a:solidFill>
                            <a:srgbClr val="000000"/>
                          </a:solidFill>
                          <a:latin typeface="Arimo"/>
                          <a:ea typeface="Arimo"/>
                          <a:cs typeface="Arimo"/>
                          <a:sym typeface="Arimo"/>
                        </a:rPr>
                        <a:t>SVC </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Open Sans Bold"/>
                          <a:ea typeface="Open Sans Bold"/>
                          <a:cs typeface="Open Sans Bold"/>
                          <a:sym typeface="Open Sans Bold"/>
                        </a:rPr>
                        <a:t>0.53</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025389">
                <a:tc>
                  <a:txBody>
                    <a:bodyPr/>
                    <a:lstStyle/>
                    <a:p>
                      <a:pPr algn="l">
                        <a:lnSpc>
                          <a:spcPts val="3359"/>
                        </a:lnSpc>
                        <a:defRPr/>
                      </a:pPr>
                      <a:r>
                        <a:rPr lang="en-US" sz="2399">
                          <a:solidFill>
                            <a:srgbClr val="000000"/>
                          </a:solidFill>
                          <a:latin typeface="Canva Sans"/>
                          <a:ea typeface="Canva Sans"/>
                          <a:cs typeface="Canva Sans"/>
                          <a:sym typeface="Canva Sans"/>
                        </a:rPr>
                        <a:t>KNN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359"/>
                        </a:lnSpc>
                        <a:defRPr/>
                      </a:pPr>
                      <a:r>
                        <a:rPr lang="en-US" sz="2399" b="1">
                          <a:solidFill>
                            <a:srgbClr val="000000"/>
                          </a:solidFill>
                          <a:latin typeface="Open Sans Bold"/>
                          <a:ea typeface="Open Sans Bold"/>
                          <a:cs typeface="Open Sans Bold"/>
                          <a:sym typeface="Open Sans Bold"/>
                        </a:rPr>
                        <a:t>0.49</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4" name="TextBox 14"/>
          <p:cNvSpPr txBox="1"/>
          <p:nvPr/>
        </p:nvSpPr>
        <p:spPr>
          <a:xfrm>
            <a:off x="2204512" y="529539"/>
            <a:ext cx="3048518" cy="1137477"/>
          </a:xfrm>
          <a:prstGeom prst="rect">
            <a:avLst/>
          </a:prstGeom>
        </p:spPr>
        <p:txBody>
          <a:bodyPr lIns="0" tIns="0" rIns="0" bIns="0" rtlCol="0" anchor="t">
            <a:spAutoFit/>
          </a:bodyPr>
          <a:lstStyle/>
          <a:p>
            <a:pPr algn="ctr">
              <a:lnSpc>
                <a:spcPts val="9229"/>
              </a:lnSpc>
            </a:pPr>
            <a:r>
              <a:rPr lang="en-US" sz="6592" b="1">
                <a:solidFill>
                  <a:srgbClr val="000000"/>
                </a:solidFill>
                <a:latin typeface="Century Gothic Paneuropean Bold"/>
                <a:ea typeface="Century Gothic Paneuropean Bold"/>
                <a:cs typeface="Century Gothic Paneuropean Bold"/>
                <a:sym typeface="Century Gothic Paneuropean Bold"/>
              </a:rPr>
              <a:t>RESULTS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488343" y="-989670"/>
            <a:ext cx="1080715" cy="2956684"/>
            <a:chOff x="0" y="0"/>
            <a:chExt cx="284633" cy="778715"/>
          </a:xfrm>
        </p:grpSpPr>
        <p:sp>
          <p:nvSpPr>
            <p:cNvPr id="10" name="Freeform 10"/>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1" name="TextBox 11"/>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925472" y="3651301"/>
            <a:ext cx="14306287" cy="2807609"/>
          </a:xfrm>
          <a:custGeom>
            <a:avLst/>
            <a:gdLst/>
            <a:ahLst/>
            <a:cxnLst/>
            <a:rect l="l" t="t" r="r" b="b"/>
            <a:pathLst>
              <a:path w="14306287" h="2807609">
                <a:moveTo>
                  <a:pt x="0" y="0"/>
                </a:moveTo>
                <a:lnTo>
                  <a:pt x="14306287" y="0"/>
                </a:lnTo>
                <a:lnTo>
                  <a:pt x="14306287" y="2807608"/>
                </a:lnTo>
                <a:lnTo>
                  <a:pt x="0" y="2807608"/>
                </a:lnTo>
                <a:lnTo>
                  <a:pt x="0" y="0"/>
                </a:lnTo>
                <a:close/>
              </a:path>
            </a:pathLst>
          </a:custGeom>
          <a:blipFill>
            <a:blip r:embed="rId3"/>
            <a:stretch>
              <a:fillRect/>
            </a:stretch>
          </a:blipFill>
        </p:spPr>
      </p:sp>
      <p:sp>
        <p:nvSpPr>
          <p:cNvPr id="13" name="TextBox 13"/>
          <p:cNvSpPr txBox="1"/>
          <p:nvPr/>
        </p:nvSpPr>
        <p:spPr>
          <a:xfrm>
            <a:off x="1925472" y="933450"/>
            <a:ext cx="4090268" cy="887044"/>
          </a:xfrm>
          <a:prstGeom prst="rect">
            <a:avLst/>
          </a:prstGeom>
        </p:spPr>
        <p:txBody>
          <a:bodyPr lIns="0" tIns="0" rIns="0" bIns="0" rtlCol="0" anchor="t">
            <a:spAutoFit/>
          </a:bodyPr>
          <a:lstStyle/>
          <a:p>
            <a:pPr algn="l">
              <a:lnSpc>
                <a:spcPts val="7282"/>
              </a:lnSpc>
            </a:pPr>
            <a:r>
              <a:rPr lang="en-US" sz="5202" b="1" u="sng">
                <a:solidFill>
                  <a:srgbClr val="7A7A7C"/>
                </a:solidFill>
                <a:latin typeface="Century Gothic Paneuropean Bold"/>
                <a:ea typeface="Century Gothic Paneuropean Bold"/>
                <a:cs typeface="Century Gothic Paneuropean Bold"/>
                <a:sym typeface="Century Gothic Paneuropean Bold"/>
              </a:rPr>
              <a:t>INSIGHTS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488343" y="-989670"/>
            <a:ext cx="1080715" cy="2956684"/>
            <a:chOff x="0" y="0"/>
            <a:chExt cx="284633" cy="778715"/>
          </a:xfrm>
        </p:grpSpPr>
        <p:sp>
          <p:nvSpPr>
            <p:cNvPr id="10" name="Freeform 10"/>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1" name="TextBox 11"/>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921190" y="3085173"/>
            <a:ext cx="14445619" cy="4622598"/>
          </a:xfrm>
          <a:custGeom>
            <a:avLst/>
            <a:gdLst/>
            <a:ahLst/>
            <a:cxnLst/>
            <a:rect l="l" t="t" r="r" b="b"/>
            <a:pathLst>
              <a:path w="14445619" h="4622598">
                <a:moveTo>
                  <a:pt x="0" y="0"/>
                </a:moveTo>
                <a:lnTo>
                  <a:pt x="14445620" y="0"/>
                </a:lnTo>
                <a:lnTo>
                  <a:pt x="14445620" y="4622598"/>
                </a:lnTo>
                <a:lnTo>
                  <a:pt x="0" y="4622598"/>
                </a:lnTo>
                <a:lnTo>
                  <a:pt x="0" y="0"/>
                </a:lnTo>
                <a:close/>
              </a:path>
            </a:pathLst>
          </a:custGeom>
          <a:blipFill>
            <a:blip r:embed="rId3"/>
            <a:stretch>
              <a:fillRect/>
            </a:stretch>
          </a:blipFill>
        </p:spPr>
      </p:sp>
      <p:sp>
        <p:nvSpPr>
          <p:cNvPr id="13" name="TextBox 13"/>
          <p:cNvSpPr txBox="1"/>
          <p:nvPr/>
        </p:nvSpPr>
        <p:spPr>
          <a:xfrm>
            <a:off x="4361258" y="1119924"/>
            <a:ext cx="2953941" cy="863600"/>
          </a:xfrm>
          <a:prstGeom prst="rect">
            <a:avLst/>
          </a:prstGeom>
        </p:spPr>
        <p:txBody>
          <a:bodyPr wrap="square" lIns="0" tIns="0" rIns="0" bIns="0" rtlCol="0" anchor="t">
            <a:spAutoFit/>
          </a:bodyPr>
          <a:lstStyle/>
          <a:p>
            <a:pPr algn="ctr">
              <a:lnSpc>
                <a:spcPts val="7000"/>
              </a:lnSpc>
              <a:spcBef>
                <a:spcPct val="0"/>
              </a:spcBef>
            </a:pPr>
            <a:r>
              <a:rPr lang="en-US" sz="5000" dirty="0">
                <a:solidFill>
                  <a:srgbClr val="000000"/>
                </a:solidFill>
                <a:latin typeface="League Spartan"/>
                <a:ea typeface="League Spartan"/>
                <a:cs typeface="League Spartan"/>
                <a:sym typeface="League Spartan"/>
              </a:rPr>
              <a:t>Results</a:t>
            </a:r>
          </a:p>
        </p:txBody>
      </p:sp>
      <p:sp>
        <p:nvSpPr>
          <p:cNvPr id="14" name="TextBox 14"/>
          <p:cNvSpPr txBox="1"/>
          <p:nvPr/>
        </p:nvSpPr>
        <p:spPr>
          <a:xfrm>
            <a:off x="2051049" y="1138974"/>
            <a:ext cx="2310210" cy="852156"/>
          </a:xfrm>
          <a:prstGeom prst="rect">
            <a:avLst/>
          </a:prstGeom>
        </p:spPr>
        <p:txBody>
          <a:bodyPr wrap="square" lIns="0" tIns="0" rIns="0" bIns="0" rtlCol="0" anchor="t">
            <a:spAutoFit/>
          </a:bodyPr>
          <a:lstStyle/>
          <a:p>
            <a:pPr algn="ctr">
              <a:lnSpc>
                <a:spcPts val="6859"/>
              </a:lnSpc>
              <a:spcBef>
                <a:spcPct val="0"/>
              </a:spcBef>
            </a:pPr>
            <a:r>
              <a:rPr lang="en-US" sz="4899" dirty="0">
                <a:solidFill>
                  <a:srgbClr val="000000"/>
                </a:solidFill>
                <a:latin typeface="League Spartan"/>
                <a:ea typeface="League Spartan"/>
                <a:cs typeface="League Spartan"/>
                <a:sym typeface="League Spartan"/>
              </a:rPr>
              <a:t>Well 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488343" y="-989670"/>
            <a:ext cx="1080715" cy="2956684"/>
            <a:chOff x="0" y="0"/>
            <a:chExt cx="284633" cy="778715"/>
          </a:xfrm>
        </p:grpSpPr>
        <p:sp>
          <p:nvSpPr>
            <p:cNvPr id="10" name="Freeform 10"/>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1" name="TextBox 11"/>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2517333" y="2445329"/>
            <a:ext cx="12374680" cy="5893442"/>
          </a:xfrm>
          <a:custGeom>
            <a:avLst/>
            <a:gdLst/>
            <a:ahLst/>
            <a:cxnLst/>
            <a:rect l="l" t="t" r="r" b="b"/>
            <a:pathLst>
              <a:path w="12374680" h="5893442">
                <a:moveTo>
                  <a:pt x="0" y="0"/>
                </a:moveTo>
                <a:lnTo>
                  <a:pt x="12374680" y="0"/>
                </a:lnTo>
                <a:lnTo>
                  <a:pt x="12374680" y="5893442"/>
                </a:lnTo>
                <a:lnTo>
                  <a:pt x="0" y="5893442"/>
                </a:lnTo>
                <a:lnTo>
                  <a:pt x="0" y="0"/>
                </a:lnTo>
                <a:close/>
              </a:path>
            </a:pathLst>
          </a:custGeom>
          <a:blipFill>
            <a:blip r:embed="rId3"/>
            <a:stretch>
              <a:fillRect/>
            </a:stretch>
          </a:blipFill>
        </p:spPr>
      </p:sp>
      <p:sp>
        <p:nvSpPr>
          <p:cNvPr id="13" name="TextBox 13"/>
          <p:cNvSpPr txBox="1"/>
          <p:nvPr/>
        </p:nvSpPr>
        <p:spPr>
          <a:xfrm>
            <a:off x="2517332" y="1103415"/>
            <a:ext cx="3273867" cy="863600"/>
          </a:xfrm>
          <a:prstGeom prst="rect">
            <a:avLst/>
          </a:prstGeom>
        </p:spPr>
        <p:txBody>
          <a:bodyPr wrap="square" lIns="0" tIns="0" rIns="0" bIns="0" rtlCol="0" anchor="t">
            <a:spAutoFit/>
          </a:bodyPr>
          <a:lstStyle/>
          <a:p>
            <a:pPr algn="ctr">
              <a:lnSpc>
                <a:spcPts val="7000"/>
              </a:lnSpc>
              <a:spcBef>
                <a:spcPct val="0"/>
              </a:spcBef>
            </a:pPr>
            <a:r>
              <a:rPr lang="en-US" sz="5000" dirty="0">
                <a:solidFill>
                  <a:srgbClr val="000000"/>
                </a:solidFill>
                <a:latin typeface="League Spartan"/>
                <a:ea typeface="League Spartan"/>
                <a:cs typeface="League Spartan"/>
                <a:sym typeface="League Spartan"/>
              </a:rPr>
              <a:t>Results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488343" y="-989670"/>
            <a:ext cx="1080715" cy="2956684"/>
            <a:chOff x="0" y="0"/>
            <a:chExt cx="284633" cy="778715"/>
          </a:xfrm>
        </p:grpSpPr>
        <p:sp>
          <p:nvSpPr>
            <p:cNvPr id="10" name="Freeform 10"/>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1" name="TextBox 11"/>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2104070" y="3605404"/>
            <a:ext cx="13605126" cy="2899402"/>
          </a:xfrm>
          <a:custGeom>
            <a:avLst/>
            <a:gdLst/>
            <a:ahLst/>
            <a:cxnLst/>
            <a:rect l="l" t="t" r="r" b="b"/>
            <a:pathLst>
              <a:path w="13605126" h="2899402">
                <a:moveTo>
                  <a:pt x="0" y="0"/>
                </a:moveTo>
                <a:lnTo>
                  <a:pt x="13605126" y="0"/>
                </a:lnTo>
                <a:lnTo>
                  <a:pt x="13605126" y="2899402"/>
                </a:lnTo>
                <a:lnTo>
                  <a:pt x="0" y="2899402"/>
                </a:lnTo>
                <a:lnTo>
                  <a:pt x="0" y="0"/>
                </a:lnTo>
                <a:close/>
              </a:path>
            </a:pathLst>
          </a:custGeom>
          <a:blipFill>
            <a:blip r:embed="rId3"/>
            <a:stretch>
              <a:fillRect l="-1234" r="-1234"/>
            </a:stretch>
          </a:blipFill>
        </p:spPr>
      </p:sp>
      <p:sp>
        <p:nvSpPr>
          <p:cNvPr id="13" name="TextBox 13"/>
          <p:cNvSpPr txBox="1"/>
          <p:nvPr/>
        </p:nvSpPr>
        <p:spPr>
          <a:xfrm>
            <a:off x="2104070" y="1103415"/>
            <a:ext cx="3077530" cy="863600"/>
          </a:xfrm>
          <a:prstGeom prst="rect">
            <a:avLst/>
          </a:prstGeom>
        </p:spPr>
        <p:txBody>
          <a:bodyPr wrap="square" lIns="0" tIns="0" rIns="0" bIns="0" rtlCol="0" anchor="t">
            <a:spAutoFit/>
          </a:bodyPr>
          <a:lstStyle/>
          <a:p>
            <a:pPr algn="ctr">
              <a:lnSpc>
                <a:spcPts val="7000"/>
              </a:lnSpc>
              <a:spcBef>
                <a:spcPct val="0"/>
              </a:spcBef>
            </a:pPr>
            <a:r>
              <a:rPr lang="en-US" sz="5000" dirty="0">
                <a:solidFill>
                  <a:srgbClr val="000000"/>
                </a:solidFill>
                <a:latin typeface="League Spartan"/>
                <a:ea typeface="League Spartan"/>
                <a:cs typeface="League Spartan"/>
                <a:sym typeface="League Spartan"/>
              </a:rPr>
              <a:t>Results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488343" y="-989670"/>
            <a:ext cx="1080715" cy="2956684"/>
            <a:chOff x="0" y="0"/>
            <a:chExt cx="284633" cy="778715"/>
          </a:xfrm>
        </p:grpSpPr>
        <p:sp>
          <p:nvSpPr>
            <p:cNvPr id="10" name="Freeform 10"/>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1" name="TextBox 11"/>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4995495" y="2401268"/>
            <a:ext cx="8297010" cy="5484464"/>
          </a:xfrm>
          <a:custGeom>
            <a:avLst/>
            <a:gdLst/>
            <a:ahLst/>
            <a:cxnLst/>
            <a:rect l="l" t="t" r="r" b="b"/>
            <a:pathLst>
              <a:path w="8297010" h="5484464">
                <a:moveTo>
                  <a:pt x="0" y="0"/>
                </a:moveTo>
                <a:lnTo>
                  <a:pt x="8297010" y="0"/>
                </a:lnTo>
                <a:lnTo>
                  <a:pt x="8297010" y="5484464"/>
                </a:lnTo>
                <a:lnTo>
                  <a:pt x="0" y="5484464"/>
                </a:lnTo>
                <a:lnTo>
                  <a:pt x="0" y="0"/>
                </a:lnTo>
                <a:close/>
              </a:path>
            </a:pathLst>
          </a:custGeom>
          <a:blipFill>
            <a:blip r:embed="rId3"/>
            <a:stretch>
              <a:fillRect/>
            </a:stretch>
          </a:blipFill>
        </p:spPr>
      </p:sp>
      <p:sp>
        <p:nvSpPr>
          <p:cNvPr id="13" name="Freeform 13"/>
          <p:cNvSpPr/>
          <p:nvPr/>
        </p:nvSpPr>
        <p:spPr>
          <a:xfrm>
            <a:off x="2921382" y="1702789"/>
            <a:ext cx="11136220" cy="7361230"/>
          </a:xfrm>
          <a:custGeom>
            <a:avLst/>
            <a:gdLst/>
            <a:ahLst/>
            <a:cxnLst/>
            <a:rect l="l" t="t" r="r" b="b"/>
            <a:pathLst>
              <a:path w="11136220" h="7361230">
                <a:moveTo>
                  <a:pt x="0" y="0"/>
                </a:moveTo>
                <a:lnTo>
                  <a:pt x="11136220" y="0"/>
                </a:lnTo>
                <a:lnTo>
                  <a:pt x="11136220" y="7361230"/>
                </a:lnTo>
                <a:lnTo>
                  <a:pt x="0" y="7361230"/>
                </a:lnTo>
                <a:lnTo>
                  <a:pt x="0" y="0"/>
                </a:lnTo>
                <a:close/>
              </a:path>
            </a:pathLst>
          </a:custGeom>
          <a:blipFill>
            <a:blip r:embed="rId3"/>
            <a:stretch>
              <a:fillRect/>
            </a:stretch>
          </a:blipFill>
        </p:spPr>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488343" y="-989670"/>
            <a:ext cx="1080715" cy="2956684"/>
            <a:chOff x="0" y="0"/>
            <a:chExt cx="284633" cy="778715"/>
          </a:xfrm>
        </p:grpSpPr>
        <p:sp>
          <p:nvSpPr>
            <p:cNvPr id="10" name="Freeform 10"/>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1" name="TextBox 11"/>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696398" y="1574243"/>
            <a:ext cx="14895204" cy="8229600"/>
          </a:xfrm>
          <a:custGeom>
            <a:avLst/>
            <a:gdLst/>
            <a:ahLst/>
            <a:cxnLst/>
            <a:rect l="l" t="t" r="r" b="b"/>
            <a:pathLst>
              <a:path w="14895204" h="8229600">
                <a:moveTo>
                  <a:pt x="0" y="0"/>
                </a:moveTo>
                <a:lnTo>
                  <a:pt x="14895204" y="0"/>
                </a:lnTo>
                <a:lnTo>
                  <a:pt x="14895204" y="8229600"/>
                </a:lnTo>
                <a:lnTo>
                  <a:pt x="0" y="8229600"/>
                </a:lnTo>
                <a:lnTo>
                  <a:pt x="0" y="0"/>
                </a:lnTo>
                <a:close/>
              </a:path>
            </a:pathLst>
          </a:custGeom>
          <a:blipFill>
            <a:blip r:embed="rId3"/>
            <a:stretch>
              <a:fillRect/>
            </a:stretch>
          </a:blipFill>
        </p:spPr>
      </p:sp>
      <p:sp>
        <p:nvSpPr>
          <p:cNvPr id="13" name="TextBox 13"/>
          <p:cNvSpPr txBox="1"/>
          <p:nvPr/>
        </p:nvSpPr>
        <p:spPr>
          <a:xfrm>
            <a:off x="1696398" y="650875"/>
            <a:ext cx="8438202" cy="692497"/>
          </a:xfrm>
          <a:prstGeom prst="rect">
            <a:avLst/>
          </a:prstGeom>
        </p:spPr>
        <p:txBody>
          <a:bodyPr wrap="square" lIns="0" tIns="0" rIns="0" bIns="0" rtlCol="0" anchor="t">
            <a:spAutoFit/>
          </a:bodyPr>
          <a:lstStyle/>
          <a:p>
            <a:pPr algn="ctr">
              <a:lnSpc>
                <a:spcPts val="5599"/>
              </a:lnSpc>
              <a:spcBef>
                <a:spcPct val="0"/>
              </a:spcBef>
            </a:pPr>
            <a:r>
              <a:rPr lang="en-US" sz="3999" dirty="0">
                <a:solidFill>
                  <a:srgbClr val="000000"/>
                </a:solidFill>
                <a:latin typeface="League Spartan"/>
                <a:ea typeface="League Spartan"/>
                <a:cs typeface="League Spartan"/>
                <a:sym typeface="League Spartan"/>
              </a:rPr>
              <a:t>True Facies  Vs Predicted Facies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488343" y="-989670"/>
            <a:ext cx="1080715" cy="2956684"/>
            <a:chOff x="0" y="0"/>
            <a:chExt cx="284633" cy="778715"/>
          </a:xfrm>
        </p:grpSpPr>
        <p:sp>
          <p:nvSpPr>
            <p:cNvPr id="10" name="Freeform 10"/>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1" name="TextBox 11"/>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028700" y="2505468"/>
            <a:ext cx="7178290" cy="5809504"/>
          </a:xfrm>
          <a:custGeom>
            <a:avLst/>
            <a:gdLst/>
            <a:ahLst/>
            <a:cxnLst/>
            <a:rect l="l" t="t" r="r" b="b"/>
            <a:pathLst>
              <a:path w="7178290" h="5809504">
                <a:moveTo>
                  <a:pt x="0" y="0"/>
                </a:moveTo>
                <a:lnTo>
                  <a:pt x="7178290" y="0"/>
                </a:lnTo>
                <a:lnTo>
                  <a:pt x="7178290" y="5809504"/>
                </a:lnTo>
                <a:lnTo>
                  <a:pt x="0" y="5809504"/>
                </a:lnTo>
                <a:lnTo>
                  <a:pt x="0" y="0"/>
                </a:lnTo>
                <a:close/>
              </a:path>
            </a:pathLst>
          </a:custGeom>
          <a:blipFill>
            <a:blip r:embed="rId3"/>
            <a:stretch>
              <a:fillRect/>
            </a:stretch>
          </a:blipFill>
        </p:spPr>
      </p:sp>
      <p:sp>
        <p:nvSpPr>
          <p:cNvPr id="13" name="TextBox 13"/>
          <p:cNvSpPr txBox="1"/>
          <p:nvPr/>
        </p:nvSpPr>
        <p:spPr>
          <a:xfrm>
            <a:off x="2013373" y="942975"/>
            <a:ext cx="3110508" cy="811532"/>
          </a:xfrm>
          <a:prstGeom prst="rect">
            <a:avLst/>
          </a:prstGeom>
        </p:spPr>
        <p:txBody>
          <a:bodyPr lIns="0" tIns="0" rIns="0" bIns="0" rtlCol="0" anchor="t">
            <a:spAutoFit/>
          </a:bodyPr>
          <a:lstStyle/>
          <a:p>
            <a:pPr algn="ctr">
              <a:lnSpc>
                <a:spcPts val="6719"/>
              </a:lnSpc>
              <a:spcBef>
                <a:spcPct val="0"/>
              </a:spcBef>
            </a:pPr>
            <a:r>
              <a:rPr lang="en-US" sz="4799" b="1">
                <a:solidFill>
                  <a:srgbClr val="000000"/>
                </a:solidFill>
                <a:latin typeface="Open Sans Bold"/>
                <a:ea typeface="Open Sans Bold"/>
                <a:cs typeface="Open Sans Bold"/>
                <a:sym typeface="Open Sans Bold"/>
              </a:rPr>
              <a:t>Clustering</a:t>
            </a:r>
          </a:p>
        </p:txBody>
      </p:sp>
      <p:sp>
        <p:nvSpPr>
          <p:cNvPr id="14" name="TextBox 14"/>
          <p:cNvSpPr txBox="1"/>
          <p:nvPr/>
        </p:nvSpPr>
        <p:spPr>
          <a:xfrm>
            <a:off x="8310989" y="2546370"/>
            <a:ext cx="8407953" cy="5680075"/>
          </a:xfrm>
          <a:prstGeom prst="rect">
            <a:avLst/>
          </a:prstGeom>
        </p:spPr>
        <p:txBody>
          <a:bodyPr lIns="0" tIns="0" rIns="0" bIns="0" rtlCol="0" anchor="t">
            <a:spAutoFit/>
          </a:bodyPr>
          <a:lstStyle/>
          <a:p>
            <a:pPr algn="l">
              <a:lnSpc>
                <a:spcPts val="3499"/>
              </a:lnSpc>
              <a:spcBef>
                <a:spcPct val="0"/>
              </a:spcBef>
            </a:pPr>
            <a:r>
              <a:rPr lang="en-US" sz="2499" b="1">
                <a:solidFill>
                  <a:srgbClr val="000000"/>
                </a:solidFill>
                <a:latin typeface="Open Sans Bold"/>
                <a:ea typeface="Open Sans Bold"/>
                <a:cs typeface="Open Sans Bold"/>
                <a:sym typeface="Open Sans Bold"/>
              </a:rPr>
              <a:t>Cluster 0:</a:t>
            </a:r>
            <a:r>
              <a:rPr lang="en-US" sz="2499">
                <a:solidFill>
                  <a:srgbClr val="000000"/>
                </a:solidFill>
                <a:latin typeface="Open Sans"/>
                <a:ea typeface="Open Sans"/>
                <a:cs typeface="Open Sans"/>
                <a:sym typeface="Open Sans"/>
              </a:rPr>
              <a:t> Characterized by relatively high caliper and density, moderate resistivity, and high gamma ray. This cluster might represent shaly or mixed lithologies.</a:t>
            </a:r>
          </a:p>
          <a:p>
            <a:pPr algn="l">
              <a:lnSpc>
                <a:spcPts val="3499"/>
              </a:lnSpc>
              <a:spcBef>
                <a:spcPct val="0"/>
              </a:spcBef>
            </a:pPr>
            <a:r>
              <a:rPr lang="en-US" sz="2499" b="1">
                <a:solidFill>
                  <a:srgbClr val="000000"/>
                </a:solidFill>
                <a:latin typeface="Open Sans Bold"/>
                <a:ea typeface="Open Sans Bold"/>
                <a:cs typeface="Open Sans Bold"/>
                <a:sym typeface="Open Sans Bold"/>
              </a:rPr>
              <a:t>Cluster 1:</a:t>
            </a:r>
            <a:r>
              <a:rPr lang="en-US" sz="2499">
                <a:solidFill>
                  <a:srgbClr val="000000"/>
                </a:solidFill>
                <a:latin typeface="Open Sans"/>
                <a:ea typeface="Open Sans"/>
                <a:cs typeface="Open Sans"/>
                <a:sym typeface="Open Sans"/>
              </a:rPr>
              <a:t> Shows lower caliper, higher density, lower resistivity, and very high gamma ray. This cluster could correspond to highly shaly intervals.</a:t>
            </a:r>
          </a:p>
          <a:p>
            <a:pPr algn="l">
              <a:lnSpc>
                <a:spcPts val="3499"/>
              </a:lnSpc>
              <a:spcBef>
                <a:spcPct val="0"/>
              </a:spcBef>
            </a:pPr>
            <a:r>
              <a:rPr lang="en-US" sz="2499" b="1">
                <a:solidFill>
                  <a:srgbClr val="000000"/>
                </a:solidFill>
                <a:latin typeface="Open Sans Bold"/>
                <a:ea typeface="Open Sans Bold"/>
                <a:cs typeface="Open Sans Bold"/>
                <a:sym typeface="Open Sans Bold"/>
              </a:rPr>
              <a:t>Cluster 2:</a:t>
            </a:r>
            <a:r>
              <a:rPr lang="en-US" sz="2499">
                <a:solidFill>
                  <a:srgbClr val="000000"/>
                </a:solidFill>
                <a:latin typeface="Open Sans"/>
                <a:ea typeface="Open Sans"/>
                <a:cs typeface="Open Sans"/>
                <a:sym typeface="Open Sans"/>
              </a:rPr>
              <a:t> Has high caliper, lower density, moderate to high resistivity, and moderate gamma ray. This might indicate porous zones or potentially some sandstone.</a:t>
            </a:r>
          </a:p>
          <a:p>
            <a:pPr algn="l">
              <a:lnSpc>
                <a:spcPts val="3499"/>
              </a:lnSpc>
              <a:spcBef>
                <a:spcPct val="0"/>
              </a:spcBef>
            </a:pPr>
            <a:r>
              <a:rPr lang="en-US" sz="2499" b="1">
                <a:solidFill>
                  <a:srgbClr val="000000"/>
                </a:solidFill>
                <a:latin typeface="Open Sans Bold"/>
                <a:ea typeface="Open Sans Bold"/>
                <a:cs typeface="Open Sans Bold"/>
                <a:sym typeface="Open Sans Bold"/>
              </a:rPr>
              <a:t>Cluster 3:</a:t>
            </a:r>
            <a:r>
              <a:rPr lang="en-US" sz="2499">
                <a:solidFill>
                  <a:srgbClr val="000000"/>
                </a:solidFill>
                <a:latin typeface="Open Sans"/>
                <a:ea typeface="Open Sans"/>
                <a:cs typeface="Open Sans"/>
                <a:sym typeface="Open Sans"/>
              </a:rPr>
              <a:t> Exhibits very low caliper, high density, very high resistivity, and moderate gamma ray. </a:t>
            </a:r>
          </a:p>
          <a:p>
            <a:pPr algn="l">
              <a:lnSpc>
                <a:spcPts val="3499"/>
              </a:lnSpc>
              <a:spcBef>
                <a:spcPct val="0"/>
              </a:spcBef>
            </a:pPr>
            <a:r>
              <a:rPr lang="en-US" sz="2499" b="1">
                <a:solidFill>
                  <a:srgbClr val="000000"/>
                </a:solidFill>
                <a:latin typeface="Open Sans Bold"/>
                <a:ea typeface="Open Sans Bold"/>
                <a:cs typeface="Open Sans Bold"/>
                <a:sym typeface="Open Sans Bold"/>
              </a:rPr>
              <a:t>Cluster 4:</a:t>
            </a:r>
            <a:r>
              <a:rPr lang="en-US" sz="2499">
                <a:solidFill>
                  <a:srgbClr val="000000"/>
                </a:solidFill>
                <a:latin typeface="Open Sans"/>
                <a:ea typeface="Open Sans"/>
                <a:cs typeface="Open Sans"/>
                <a:sym typeface="Open Sans"/>
              </a:rPr>
              <a:t> Characterized by moderate caliper, very low density, very high resistivity, and very low gamma ray.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488343" y="-989670"/>
            <a:ext cx="1080715" cy="2956684"/>
            <a:chOff x="0" y="0"/>
            <a:chExt cx="284633" cy="778715"/>
          </a:xfrm>
        </p:grpSpPr>
        <p:sp>
          <p:nvSpPr>
            <p:cNvPr id="10" name="Freeform 10"/>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1" name="TextBox 11"/>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1914967" y="1968695"/>
            <a:ext cx="7674812" cy="3677888"/>
          </a:xfrm>
          <a:custGeom>
            <a:avLst/>
            <a:gdLst/>
            <a:ahLst/>
            <a:cxnLst/>
            <a:rect l="l" t="t" r="r" b="b"/>
            <a:pathLst>
              <a:path w="7674812" h="3677888">
                <a:moveTo>
                  <a:pt x="0" y="0"/>
                </a:moveTo>
                <a:lnTo>
                  <a:pt x="7674812" y="0"/>
                </a:lnTo>
                <a:lnTo>
                  <a:pt x="7674812" y="3677888"/>
                </a:lnTo>
                <a:lnTo>
                  <a:pt x="0" y="3677888"/>
                </a:lnTo>
                <a:lnTo>
                  <a:pt x="0" y="0"/>
                </a:lnTo>
                <a:close/>
              </a:path>
            </a:pathLst>
          </a:custGeom>
          <a:blipFill>
            <a:blip r:embed="rId3"/>
            <a:stretch>
              <a:fillRect r="-19745" b="-98028"/>
            </a:stretch>
          </a:blipFill>
        </p:spPr>
      </p:sp>
      <p:sp>
        <p:nvSpPr>
          <p:cNvPr id="13" name="Freeform 13"/>
          <p:cNvSpPr/>
          <p:nvPr/>
        </p:nvSpPr>
        <p:spPr>
          <a:xfrm>
            <a:off x="8133711" y="6018058"/>
            <a:ext cx="8585232" cy="3412630"/>
          </a:xfrm>
          <a:custGeom>
            <a:avLst/>
            <a:gdLst/>
            <a:ahLst/>
            <a:cxnLst/>
            <a:rect l="l" t="t" r="r" b="b"/>
            <a:pathLst>
              <a:path w="8585232" h="3412630">
                <a:moveTo>
                  <a:pt x="0" y="0"/>
                </a:moveTo>
                <a:lnTo>
                  <a:pt x="8585232" y="0"/>
                </a:lnTo>
                <a:lnTo>
                  <a:pt x="8585232" y="3412630"/>
                </a:lnTo>
                <a:lnTo>
                  <a:pt x="0" y="3412630"/>
                </a:lnTo>
                <a:lnTo>
                  <a:pt x="0" y="0"/>
                </a:lnTo>
                <a:close/>
              </a:path>
            </a:pathLst>
          </a:custGeom>
          <a:blipFill>
            <a:blip r:embed="rId4"/>
            <a:stretch>
              <a:fillRect/>
            </a:stretch>
          </a:blipFill>
        </p:spPr>
      </p:sp>
      <p:sp>
        <p:nvSpPr>
          <p:cNvPr id="14" name="TextBox 14"/>
          <p:cNvSpPr txBox="1"/>
          <p:nvPr/>
        </p:nvSpPr>
        <p:spPr>
          <a:xfrm>
            <a:off x="1569057" y="684726"/>
            <a:ext cx="9756677" cy="1283970"/>
          </a:xfrm>
          <a:prstGeom prst="rect">
            <a:avLst/>
          </a:prstGeom>
        </p:spPr>
        <p:txBody>
          <a:bodyPr lIns="0" tIns="0" rIns="0" bIns="0" rtlCol="0" anchor="t">
            <a:spAutoFit/>
          </a:bodyPr>
          <a:lstStyle/>
          <a:p>
            <a:pPr algn="ctr">
              <a:lnSpc>
                <a:spcPts val="4900"/>
              </a:lnSpc>
              <a:spcBef>
                <a:spcPct val="0"/>
              </a:spcBef>
            </a:pPr>
            <a:r>
              <a:rPr lang="en-US" sz="3500" b="1">
                <a:solidFill>
                  <a:srgbClr val="000000"/>
                </a:solidFill>
                <a:latin typeface="Open Sans Bold"/>
                <a:ea typeface="Open Sans Bold"/>
                <a:cs typeface="Open Sans Bold"/>
                <a:sym typeface="Open Sans Bold"/>
              </a:rPr>
              <a:t> Comparison of Clusters with Original Facies</a:t>
            </a:r>
          </a:p>
          <a:p>
            <a:pPr algn="ctr">
              <a:lnSpc>
                <a:spcPts val="2659"/>
              </a:lnSpc>
              <a:spcBef>
                <a:spcPct val="0"/>
              </a:spcBef>
            </a:pPr>
            <a:endParaRPr lang="en-US" sz="3500" b="1">
              <a:solidFill>
                <a:srgbClr val="000000"/>
              </a:solidFill>
              <a:latin typeface="Open Sans Bold"/>
              <a:ea typeface="Open Sans Bold"/>
              <a:cs typeface="Open Sans Bold"/>
              <a:sym typeface="Open Sans Bold"/>
            </a:endParaRPr>
          </a:p>
          <a:p>
            <a:pPr algn="ctr">
              <a:lnSpc>
                <a:spcPts val="2659"/>
              </a:lnSpc>
              <a:spcBef>
                <a:spcPct val="0"/>
              </a:spcBef>
            </a:pPr>
            <a:endParaRPr lang="en-US" sz="3500" b="1">
              <a:solidFill>
                <a:srgbClr val="000000"/>
              </a:solidFill>
              <a:latin typeface="Open Sans Bold"/>
              <a:ea typeface="Open Sans Bold"/>
              <a:cs typeface="Open Sans Bold"/>
              <a:sym typeface="Open Sans Bold"/>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488343" y="-989670"/>
            <a:ext cx="1080715" cy="2956684"/>
            <a:chOff x="0" y="0"/>
            <a:chExt cx="284633" cy="778715"/>
          </a:xfrm>
        </p:grpSpPr>
        <p:sp>
          <p:nvSpPr>
            <p:cNvPr id="10" name="Freeform 10"/>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1" name="TextBox 11"/>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2" name="Freeform 12"/>
          <p:cNvSpPr/>
          <p:nvPr/>
        </p:nvSpPr>
        <p:spPr>
          <a:xfrm>
            <a:off x="2871089" y="1638155"/>
            <a:ext cx="12154821" cy="6833899"/>
          </a:xfrm>
          <a:custGeom>
            <a:avLst/>
            <a:gdLst/>
            <a:ahLst/>
            <a:cxnLst/>
            <a:rect l="l" t="t" r="r" b="b"/>
            <a:pathLst>
              <a:path w="12154821" h="6833899">
                <a:moveTo>
                  <a:pt x="0" y="0"/>
                </a:moveTo>
                <a:lnTo>
                  <a:pt x="12154821" y="0"/>
                </a:lnTo>
                <a:lnTo>
                  <a:pt x="12154821" y="6833900"/>
                </a:lnTo>
                <a:lnTo>
                  <a:pt x="0" y="6833900"/>
                </a:lnTo>
                <a:lnTo>
                  <a:pt x="0" y="0"/>
                </a:lnTo>
                <a:close/>
              </a:path>
            </a:pathLst>
          </a:custGeom>
          <a:blipFill>
            <a:blip r:embed="rId3"/>
            <a:stretch>
              <a:fillRect/>
            </a:stretch>
          </a:blipFill>
        </p:spPr>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488343" y="-989670"/>
            <a:ext cx="1080715" cy="2956684"/>
            <a:chOff x="0" y="0"/>
            <a:chExt cx="284633" cy="778715"/>
          </a:xfrm>
        </p:grpSpPr>
        <p:sp>
          <p:nvSpPr>
            <p:cNvPr id="10" name="Freeform 10"/>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1" name="TextBox 11"/>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785986" y="1091958"/>
            <a:ext cx="13374118" cy="1341703"/>
          </a:xfrm>
          <a:prstGeom prst="rect">
            <a:avLst/>
          </a:prstGeom>
        </p:spPr>
        <p:txBody>
          <a:bodyPr lIns="0" tIns="0" rIns="0" bIns="0" rtlCol="0" anchor="t">
            <a:spAutoFit/>
          </a:bodyPr>
          <a:lstStyle/>
          <a:p>
            <a:pPr algn="l">
              <a:lnSpc>
                <a:spcPts val="6722"/>
              </a:lnSpc>
            </a:pPr>
            <a:r>
              <a:rPr lang="en-US" sz="4802" b="1" u="sng">
                <a:solidFill>
                  <a:srgbClr val="7A7A7C"/>
                </a:solidFill>
                <a:latin typeface="Century Gothic Paneuropean Bold"/>
                <a:ea typeface="Century Gothic Paneuropean Bold"/>
                <a:cs typeface="Century Gothic Paneuropean Bold"/>
                <a:sym typeface="Century Gothic Paneuropean Bold"/>
              </a:rPr>
              <a:t>DATA LIMITATIONS &amp; OBSERVATIONS</a:t>
            </a:r>
          </a:p>
          <a:p>
            <a:pPr algn="ctr">
              <a:lnSpc>
                <a:spcPts val="3922"/>
              </a:lnSpc>
            </a:pPr>
            <a:endParaRPr lang="en-US" sz="4802" b="1" u="sng">
              <a:solidFill>
                <a:srgbClr val="7A7A7C"/>
              </a:solidFill>
              <a:latin typeface="Century Gothic Paneuropean Bold"/>
              <a:ea typeface="Century Gothic Paneuropean Bold"/>
              <a:cs typeface="Century Gothic Paneuropean Bold"/>
              <a:sym typeface="Century Gothic Paneuropean Bold"/>
            </a:endParaRPr>
          </a:p>
        </p:txBody>
      </p:sp>
      <p:grpSp>
        <p:nvGrpSpPr>
          <p:cNvPr id="3" name="Group 3"/>
          <p:cNvGrpSpPr/>
          <p:nvPr/>
        </p:nvGrpSpPr>
        <p:grpSpPr>
          <a:xfrm>
            <a:off x="16718943" y="-989670"/>
            <a:ext cx="1080715" cy="2956684"/>
            <a:chOff x="0" y="0"/>
            <a:chExt cx="284633" cy="778715"/>
          </a:xfrm>
        </p:grpSpPr>
        <p:sp>
          <p:nvSpPr>
            <p:cNvPr id="4" name="Freeform 4"/>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5" name="TextBox 5"/>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529352" y="9803843"/>
            <a:ext cx="19346704" cy="821917"/>
            <a:chOff x="0" y="0"/>
            <a:chExt cx="5095428" cy="216472"/>
          </a:xfrm>
        </p:grpSpPr>
        <p:sp>
          <p:nvSpPr>
            <p:cNvPr id="7" name="Freeform 7"/>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8" name="TextBox 8"/>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488343" y="-989670"/>
            <a:ext cx="1080715" cy="2956684"/>
            <a:chOff x="0" y="0"/>
            <a:chExt cx="284633" cy="778715"/>
          </a:xfrm>
        </p:grpSpPr>
        <p:sp>
          <p:nvSpPr>
            <p:cNvPr id="12" name="Freeform 12"/>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3" name="TextBox 13"/>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1785986" y="2262212"/>
            <a:ext cx="6185198" cy="712472"/>
          </a:xfrm>
          <a:prstGeom prst="rect">
            <a:avLst/>
          </a:prstGeom>
        </p:spPr>
        <p:txBody>
          <a:bodyPr lIns="0" tIns="0" rIns="0" bIns="0" rtlCol="0" anchor="t">
            <a:spAutoFit/>
          </a:bodyPr>
          <a:lstStyle/>
          <a:p>
            <a:pPr marL="906767" lvl="1" indent="-453384" algn="l">
              <a:lnSpc>
                <a:spcPts val="5879"/>
              </a:lnSpc>
              <a:buFont typeface="Arial"/>
              <a:buChar char="•"/>
            </a:pPr>
            <a:r>
              <a:rPr lang="en-US" sz="4199" b="1">
                <a:solidFill>
                  <a:srgbClr val="7A7A7C"/>
                </a:solidFill>
                <a:latin typeface="Open Sans Bold"/>
                <a:ea typeface="Open Sans Bold"/>
                <a:cs typeface="Open Sans Bold"/>
                <a:sym typeface="Open Sans Bold"/>
              </a:rPr>
              <a:t>📉 Limited Dataset:</a:t>
            </a:r>
          </a:p>
        </p:txBody>
      </p:sp>
      <p:sp>
        <p:nvSpPr>
          <p:cNvPr id="15" name="TextBox 15"/>
          <p:cNvSpPr txBox="1"/>
          <p:nvPr/>
        </p:nvSpPr>
        <p:spPr>
          <a:xfrm>
            <a:off x="2569170" y="3028820"/>
            <a:ext cx="13149659" cy="1893571"/>
          </a:xfrm>
          <a:prstGeom prst="rect">
            <a:avLst/>
          </a:prstGeom>
        </p:spPr>
        <p:txBody>
          <a:bodyPr lIns="0" tIns="0" rIns="0" bIns="0" rtlCol="0" anchor="t">
            <a:spAutoFit/>
          </a:bodyPr>
          <a:lstStyle/>
          <a:p>
            <a:pPr algn="l">
              <a:lnSpc>
                <a:spcPts val="4899"/>
              </a:lnSpc>
            </a:pPr>
            <a:r>
              <a:rPr lang="en-US" sz="3499">
                <a:solidFill>
                  <a:srgbClr val="7A7A7C"/>
                </a:solidFill>
                <a:latin typeface="Open Sans"/>
                <a:ea typeface="Open Sans"/>
                <a:cs typeface="Open Sans"/>
                <a:sym typeface="Open Sans"/>
              </a:rPr>
              <a:t>Only 2,522 data points are available, which may be inadequate for robust model training and generalization.</a:t>
            </a:r>
          </a:p>
          <a:p>
            <a:pPr algn="ctr">
              <a:lnSpc>
                <a:spcPts val="2659"/>
              </a:lnSpc>
            </a:pPr>
            <a:endParaRPr lang="en-US" sz="3499">
              <a:solidFill>
                <a:srgbClr val="7A7A7C"/>
              </a:solidFill>
              <a:latin typeface="Open Sans"/>
              <a:ea typeface="Open Sans"/>
              <a:cs typeface="Open Sans"/>
              <a:sym typeface="Open Sans"/>
            </a:endParaRPr>
          </a:p>
          <a:p>
            <a:pPr algn="ctr">
              <a:lnSpc>
                <a:spcPts val="2659"/>
              </a:lnSpc>
            </a:pPr>
            <a:endParaRPr lang="en-US" sz="3499">
              <a:solidFill>
                <a:srgbClr val="7A7A7C"/>
              </a:solidFill>
              <a:latin typeface="Open Sans"/>
              <a:ea typeface="Open Sans"/>
              <a:cs typeface="Open Sans"/>
              <a:sym typeface="Open Sans"/>
            </a:endParaRPr>
          </a:p>
        </p:txBody>
      </p:sp>
      <p:sp>
        <p:nvSpPr>
          <p:cNvPr id="16" name="TextBox 16"/>
          <p:cNvSpPr txBox="1"/>
          <p:nvPr/>
        </p:nvSpPr>
        <p:spPr>
          <a:xfrm>
            <a:off x="1785986" y="4431028"/>
            <a:ext cx="8016975" cy="712472"/>
          </a:xfrm>
          <a:prstGeom prst="rect">
            <a:avLst/>
          </a:prstGeom>
        </p:spPr>
        <p:txBody>
          <a:bodyPr lIns="0" tIns="0" rIns="0" bIns="0" rtlCol="0" anchor="t">
            <a:spAutoFit/>
          </a:bodyPr>
          <a:lstStyle/>
          <a:p>
            <a:pPr marL="906767" lvl="1" indent="-453384" algn="l">
              <a:lnSpc>
                <a:spcPts val="5879"/>
              </a:lnSpc>
              <a:buFont typeface="Arial"/>
              <a:buChar char="•"/>
            </a:pPr>
            <a:r>
              <a:rPr lang="en-US" sz="4199" b="1">
                <a:solidFill>
                  <a:srgbClr val="7A7A7C"/>
                </a:solidFill>
                <a:latin typeface="Open Sans Bold"/>
                <a:ea typeface="Open Sans Bold"/>
                <a:cs typeface="Open Sans Bold"/>
                <a:sym typeface="Open Sans Bold"/>
              </a:rPr>
              <a:t>🧠 Insufficient Feature Set</a:t>
            </a:r>
          </a:p>
        </p:txBody>
      </p:sp>
      <p:sp>
        <p:nvSpPr>
          <p:cNvPr id="17" name="TextBox 17"/>
          <p:cNvSpPr txBox="1"/>
          <p:nvPr/>
        </p:nvSpPr>
        <p:spPr>
          <a:xfrm>
            <a:off x="2569170" y="5191125"/>
            <a:ext cx="13149659" cy="1835150"/>
          </a:xfrm>
          <a:prstGeom prst="rect">
            <a:avLst/>
          </a:prstGeom>
        </p:spPr>
        <p:txBody>
          <a:bodyPr lIns="0" tIns="0" rIns="0" bIns="0" rtlCol="0" anchor="t">
            <a:spAutoFit/>
          </a:bodyPr>
          <a:lstStyle/>
          <a:p>
            <a:pPr algn="l">
              <a:lnSpc>
                <a:spcPts val="4900"/>
              </a:lnSpc>
            </a:pPr>
            <a:r>
              <a:rPr lang="en-US" sz="3500">
                <a:solidFill>
                  <a:srgbClr val="7A7A7C"/>
                </a:solidFill>
                <a:latin typeface="Open Sans"/>
                <a:ea typeface="Open Sans"/>
                <a:cs typeface="Open Sans"/>
                <a:sym typeface="Open Sans"/>
              </a:rPr>
              <a:t>The current features may not effectively capture the variations required for accurate facies classification.</a:t>
            </a:r>
          </a:p>
          <a:p>
            <a:pPr algn="l">
              <a:lnSpc>
                <a:spcPts val="4900"/>
              </a:lnSpc>
            </a:pPr>
            <a:endParaRPr lang="en-US" sz="3500">
              <a:solidFill>
                <a:srgbClr val="7A7A7C"/>
              </a:solidFill>
              <a:latin typeface="Open Sans"/>
              <a:ea typeface="Open Sans"/>
              <a:cs typeface="Open Sans"/>
              <a:sym typeface="Open Sans"/>
            </a:endParaRPr>
          </a:p>
        </p:txBody>
      </p:sp>
      <p:sp>
        <p:nvSpPr>
          <p:cNvPr id="18" name="TextBox 18"/>
          <p:cNvSpPr txBox="1"/>
          <p:nvPr/>
        </p:nvSpPr>
        <p:spPr>
          <a:xfrm>
            <a:off x="1785986" y="6631939"/>
            <a:ext cx="9297988" cy="712472"/>
          </a:xfrm>
          <a:prstGeom prst="rect">
            <a:avLst/>
          </a:prstGeom>
        </p:spPr>
        <p:txBody>
          <a:bodyPr lIns="0" tIns="0" rIns="0" bIns="0" rtlCol="0" anchor="t">
            <a:spAutoFit/>
          </a:bodyPr>
          <a:lstStyle/>
          <a:p>
            <a:pPr marL="906767" lvl="1" indent="-453384" algn="l">
              <a:lnSpc>
                <a:spcPts val="5879"/>
              </a:lnSpc>
              <a:buFont typeface="Arial"/>
              <a:buChar char="•"/>
            </a:pPr>
            <a:r>
              <a:rPr lang="en-US" sz="4199" b="1">
                <a:solidFill>
                  <a:srgbClr val="7A7A7C"/>
                </a:solidFill>
                <a:latin typeface="Open Sans Bold"/>
                <a:ea typeface="Open Sans Bold"/>
                <a:cs typeface="Open Sans Bold"/>
                <a:sym typeface="Open Sans Bold"/>
              </a:rPr>
              <a:t>⚠️ Overlapping Feature Values:</a:t>
            </a:r>
          </a:p>
        </p:txBody>
      </p:sp>
      <p:sp>
        <p:nvSpPr>
          <p:cNvPr id="19" name="TextBox 19"/>
          <p:cNvSpPr txBox="1"/>
          <p:nvPr/>
        </p:nvSpPr>
        <p:spPr>
          <a:xfrm>
            <a:off x="2559645" y="7392036"/>
            <a:ext cx="13149659" cy="2454275"/>
          </a:xfrm>
          <a:prstGeom prst="rect">
            <a:avLst/>
          </a:prstGeom>
        </p:spPr>
        <p:txBody>
          <a:bodyPr lIns="0" tIns="0" rIns="0" bIns="0" rtlCol="0" anchor="t">
            <a:spAutoFit/>
          </a:bodyPr>
          <a:lstStyle/>
          <a:p>
            <a:pPr algn="l">
              <a:lnSpc>
                <a:spcPts val="4900"/>
              </a:lnSpc>
            </a:pPr>
            <a:r>
              <a:rPr lang="en-US" sz="3500">
                <a:solidFill>
                  <a:srgbClr val="7A7A7C"/>
                </a:solidFill>
                <a:latin typeface="Open Sans"/>
                <a:ea typeface="Open Sans"/>
                <a:cs typeface="Open Sans"/>
                <a:sym typeface="Open Sans"/>
              </a:rPr>
              <a:t>Several data points exhibit very similar feature values but are labeled as different facies, indicating possible issues with data representation or labeling accuracy.</a:t>
            </a:r>
          </a:p>
          <a:p>
            <a:pPr algn="l">
              <a:lnSpc>
                <a:spcPts val="4900"/>
              </a:lnSpc>
            </a:pPr>
            <a:endParaRPr lang="en-US" sz="3500">
              <a:solidFill>
                <a:srgbClr val="7A7A7C"/>
              </a:solidFill>
              <a:latin typeface="Open Sans"/>
              <a:ea typeface="Open Sans"/>
              <a:cs typeface="Open Sans"/>
              <a:sym typeface="Open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1569057" y="904875"/>
            <a:ext cx="4951950" cy="1005397"/>
          </a:xfrm>
          <a:prstGeom prst="rect">
            <a:avLst/>
          </a:prstGeom>
        </p:spPr>
        <p:txBody>
          <a:bodyPr lIns="0" tIns="0" rIns="0" bIns="0" rtlCol="0" anchor="t">
            <a:spAutoFit/>
          </a:bodyPr>
          <a:lstStyle/>
          <a:p>
            <a:pPr algn="ctr">
              <a:lnSpc>
                <a:spcPts val="8109"/>
              </a:lnSpc>
            </a:pPr>
            <a:r>
              <a:rPr lang="en-US" sz="5792" b="1">
                <a:solidFill>
                  <a:srgbClr val="000000"/>
                </a:solidFill>
                <a:latin typeface="Century Gothic Paneuropean Bold"/>
                <a:ea typeface="Century Gothic Paneuropean Bold"/>
                <a:cs typeface="Century Gothic Paneuropean Bold"/>
                <a:sym typeface="Century Gothic Paneuropean Bold"/>
              </a:rPr>
              <a:t>OBJECTIVE -2</a:t>
            </a:r>
          </a:p>
        </p:txBody>
      </p:sp>
      <p:sp>
        <p:nvSpPr>
          <p:cNvPr id="14" name="TextBox 14"/>
          <p:cNvSpPr txBox="1"/>
          <p:nvPr/>
        </p:nvSpPr>
        <p:spPr>
          <a:xfrm>
            <a:off x="1569057" y="3339925"/>
            <a:ext cx="15313888" cy="1455422"/>
          </a:xfrm>
          <a:prstGeom prst="rect">
            <a:avLst/>
          </a:prstGeom>
        </p:spPr>
        <p:txBody>
          <a:bodyPr lIns="0" tIns="0" rIns="0" bIns="0" rtlCol="0" anchor="t">
            <a:spAutoFit/>
          </a:bodyPr>
          <a:lstStyle/>
          <a:p>
            <a:pPr algn="l">
              <a:lnSpc>
                <a:spcPts val="5879"/>
              </a:lnSpc>
              <a:spcBef>
                <a:spcPct val="0"/>
              </a:spcBef>
            </a:pPr>
            <a:r>
              <a:rPr lang="en-US" sz="4199">
                <a:solidFill>
                  <a:srgbClr val="000000"/>
                </a:solidFill>
                <a:latin typeface="Open Sans"/>
                <a:ea typeface="Open Sans"/>
                <a:cs typeface="Open Sans"/>
                <a:sym typeface="Open Sans"/>
              </a:rPr>
              <a:t>Acquiring FE-SEM images and calculating pore characteristics like aspect ratio, porosity from the images.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1981821" y="1039915"/>
            <a:ext cx="7376413" cy="927100"/>
          </a:xfrm>
          <a:prstGeom prst="rect">
            <a:avLst/>
          </a:prstGeom>
        </p:spPr>
        <p:txBody>
          <a:bodyPr lIns="0" tIns="0" rIns="0" bIns="0" rtlCol="0" anchor="t">
            <a:spAutoFit/>
          </a:bodyPr>
          <a:lstStyle/>
          <a:p>
            <a:pPr algn="ctr">
              <a:lnSpc>
                <a:spcPts val="7699"/>
              </a:lnSpc>
              <a:spcBef>
                <a:spcPct val="0"/>
              </a:spcBef>
            </a:pPr>
            <a:r>
              <a:rPr lang="en-US" sz="5499" b="1">
                <a:solidFill>
                  <a:srgbClr val="000000"/>
                </a:solidFill>
                <a:latin typeface="Open Sans Bold"/>
                <a:ea typeface="Open Sans Bold"/>
                <a:cs typeface="Open Sans Bold"/>
                <a:sym typeface="Open Sans Bold"/>
              </a:rPr>
              <a:t>Materials &amp; Methods </a:t>
            </a:r>
          </a:p>
        </p:txBody>
      </p:sp>
      <p:sp>
        <p:nvSpPr>
          <p:cNvPr id="14" name="TextBox 14"/>
          <p:cNvSpPr txBox="1"/>
          <p:nvPr/>
        </p:nvSpPr>
        <p:spPr>
          <a:xfrm>
            <a:off x="1544747" y="2240577"/>
            <a:ext cx="15174195" cy="6647180"/>
          </a:xfrm>
          <a:prstGeom prst="rect">
            <a:avLst/>
          </a:prstGeom>
        </p:spPr>
        <p:txBody>
          <a:bodyPr lIns="0" tIns="0" rIns="0" bIns="0" rtlCol="0" anchor="t">
            <a:spAutoFit/>
          </a:bodyPr>
          <a:lstStyle/>
          <a:p>
            <a:pPr marL="820421" lvl="1" indent="-410210" algn="l">
              <a:lnSpc>
                <a:spcPts val="5320"/>
              </a:lnSpc>
              <a:buFont typeface="Arial"/>
              <a:buChar char="•"/>
            </a:pPr>
            <a:r>
              <a:rPr lang="en-US" sz="3800">
                <a:solidFill>
                  <a:srgbClr val="000000"/>
                </a:solidFill>
                <a:latin typeface="Open Sans"/>
                <a:ea typeface="Open Sans"/>
                <a:cs typeface="Open Sans"/>
                <a:sym typeface="Open Sans"/>
              </a:rPr>
              <a:t>Backscattered Electron (BSE) images were taken for 27 shale samples.</a:t>
            </a:r>
          </a:p>
          <a:p>
            <a:pPr marL="820421" lvl="1" indent="-410210" algn="l">
              <a:lnSpc>
                <a:spcPts val="5320"/>
              </a:lnSpc>
              <a:buFont typeface="Arial"/>
              <a:buChar char="•"/>
            </a:pPr>
            <a:r>
              <a:rPr lang="en-US" sz="3800">
                <a:solidFill>
                  <a:srgbClr val="000000"/>
                </a:solidFill>
                <a:latin typeface="Open Sans"/>
                <a:ea typeface="Open Sans"/>
                <a:cs typeface="Open Sans"/>
                <a:sym typeface="Open Sans"/>
              </a:rPr>
              <a:t>Imaging performed at three magnifications: 150x, 300x, and 1200x</a:t>
            </a:r>
          </a:p>
          <a:p>
            <a:pPr marL="820421" lvl="1" indent="-410210" algn="l">
              <a:lnSpc>
                <a:spcPts val="5320"/>
              </a:lnSpc>
              <a:buFont typeface="Arial"/>
              <a:buChar char="•"/>
            </a:pPr>
            <a:r>
              <a:rPr lang="en-US" sz="3800">
                <a:solidFill>
                  <a:srgbClr val="000000"/>
                </a:solidFill>
                <a:latin typeface="Open Sans"/>
                <a:ea typeface="Open Sans"/>
                <a:cs typeface="Open Sans"/>
                <a:sym typeface="Open Sans"/>
              </a:rPr>
              <a:t>At each magnification, approximately 15–16 images were captured.</a:t>
            </a:r>
          </a:p>
          <a:p>
            <a:pPr marL="820421" lvl="1" indent="-410210" algn="l">
              <a:lnSpc>
                <a:spcPts val="5320"/>
              </a:lnSpc>
              <a:buFont typeface="Arial"/>
              <a:buChar char="•"/>
            </a:pPr>
            <a:r>
              <a:rPr lang="en-US" sz="3800">
                <a:solidFill>
                  <a:srgbClr val="000000"/>
                </a:solidFill>
                <a:latin typeface="Open Sans"/>
                <a:ea typeface="Open Sans"/>
                <a:cs typeface="Open Sans"/>
                <a:sym typeface="Open Sans"/>
              </a:rPr>
              <a:t>Constant parameters maintained during imaging:</a:t>
            </a:r>
          </a:p>
          <a:p>
            <a:pPr marL="1640841" lvl="2" indent="-546947" algn="l">
              <a:lnSpc>
                <a:spcPts val="5320"/>
              </a:lnSpc>
              <a:buFont typeface="Arial"/>
              <a:buChar char="⚬"/>
            </a:pPr>
            <a:r>
              <a:rPr lang="en-US" sz="3800">
                <a:solidFill>
                  <a:srgbClr val="000000"/>
                </a:solidFill>
                <a:latin typeface="Open Sans"/>
                <a:ea typeface="Open Sans"/>
                <a:cs typeface="Open Sans"/>
                <a:sym typeface="Open Sans"/>
              </a:rPr>
              <a:t>Working Distance: 12 mm</a:t>
            </a:r>
          </a:p>
          <a:p>
            <a:pPr marL="1640841" lvl="2" indent="-546947" algn="l">
              <a:lnSpc>
                <a:spcPts val="5320"/>
              </a:lnSpc>
              <a:buFont typeface="Arial"/>
              <a:buChar char="⚬"/>
            </a:pPr>
            <a:r>
              <a:rPr lang="en-US" sz="3800">
                <a:solidFill>
                  <a:srgbClr val="000000"/>
                </a:solidFill>
                <a:latin typeface="Open Sans"/>
                <a:ea typeface="Open Sans"/>
                <a:cs typeface="Open Sans"/>
                <a:sym typeface="Open Sans"/>
              </a:rPr>
              <a:t>Electron Beam Energy: 20 kV</a:t>
            </a:r>
          </a:p>
          <a:p>
            <a:pPr algn="l">
              <a:lnSpc>
                <a:spcPts val="5320"/>
              </a:lnSpc>
              <a:spcBef>
                <a:spcPct val="0"/>
              </a:spcBef>
            </a:pPr>
            <a:endParaRPr lang="en-US" sz="3800">
              <a:solidFill>
                <a:srgbClr val="000000"/>
              </a:solidFill>
              <a:latin typeface="Open Sans"/>
              <a:ea typeface="Open Sans"/>
              <a:cs typeface="Open Sans"/>
              <a:sym typeface="Open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4246480" y="2180264"/>
            <a:ext cx="4897520" cy="3488208"/>
          </a:xfrm>
          <a:custGeom>
            <a:avLst/>
            <a:gdLst/>
            <a:ahLst/>
            <a:cxnLst/>
            <a:rect l="l" t="t" r="r" b="b"/>
            <a:pathLst>
              <a:path w="4897520" h="3488208">
                <a:moveTo>
                  <a:pt x="0" y="0"/>
                </a:moveTo>
                <a:lnTo>
                  <a:pt x="4897520" y="0"/>
                </a:lnTo>
                <a:lnTo>
                  <a:pt x="4897520" y="3488208"/>
                </a:lnTo>
                <a:lnTo>
                  <a:pt x="0" y="3488208"/>
                </a:lnTo>
                <a:lnTo>
                  <a:pt x="0" y="0"/>
                </a:lnTo>
                <a:close/>
              </a:path>
            </a:pathLst>
          </a:custGeom>
          <a:blipFill>
            <a:blip r:embed="rId3"/>
            <a:stretch>
              <a:fillRect/>
            </a:stretch>
          </a:blipFill>
        </p:spPr>
      </p:sp>
      <p:sp>
        <p:nvSpPr>
          <p:cNvPr id="14" name="Freeform 14"/>
          <p:cNvSpPr/>
          <p:nvPr/>
        </p:nvSpPr>
        <p:spPr>
          <a:xfrm>
            <a:off x="11249025" y="2180264"/>
            <a:ext cx="4897520" cy="3488208"/>
          </a:xfrm>
          <a:custGeom>
            <a:avLst/>
            <a:gdLst/>
            <a:ahLst/>
            <a:cxnLst/>
            <a:rect l="l" t="t" r="r" b="b"/>
            <a:pathLst>
              <a:path w="4897520" h="3488208">
                <a:moveTo>
                  <a:pt x="0" y="0"/>
                </a:moveTo>
                <a:lnTo>
                  <a:pt x="4897520" y="0"/>
                </a:lnTo>
                <a:lnTo>
                  <a:pt x="4897520" y="3488208"/>
                </a:lnTo>
                <a:lnTo>
                  <a:pt x="0" y="3488208"/>
                </a:lnTo>
                <a:lnTo>
                  <a:pt x="0" y="0"/>
                </a:lnTo>
                <a:close/>
              </a:path>
            </a:pathLst>
          </a:custGeom>
          <a:blipFill>
            <a:blip r:embed="rId4"/>
            <a:stretch>
              <a:fillRect/>
            </a:stretch>
          </a:blipFill>
        </p:spPr>
      </p:sp>
      <p:sp>
        <p:nvSpPr>
          <p:cNvPr id="15" name="Freeform 15"/>
          <p:cNvSpPr/>
          <p:nvPr/>
        </p:nvSpPr>
        <p:spPr>
          <a:xfrm>
            <a:off x="7627103" y="5881721"/>
            <a:ext cx="4897520" cy="3779247"/>
          </a:xfrm>
          <a:custGeom>
            <a:avLst/>
            <a:gdLst/>
            <a:ahLst/>
            <a:cxnLst/>
            <a:rect l="l" t="t" r="r" b="b"/>
            <a:pathLst>
              <a:path w="4897520" h="3779247">
                <a:moveTo>
                  <a:pt x="0" y="0"/>
                </a:moveTo>
                <a:lnTo>
                  <a:pt x="4897521" y="0"/>
                </a:lnTo>
                <a:lnTo>
                  <a:pt x="4897521" y="3779247"/>
                </a:lnTo>
                <a:lnTo>
                  <a:pt x="0" y="3779247"/>
                </a:lnTo>
                <a:lnTo>
                  <a:pt x="0" y="0"/>
                </a:lnTo>
                <a:close/>
              </a:path>
            </a:pathLst>
          </a:custGeom>
          <a:blipFill>
            <a:blip r:embed="rId5"/>
            <a:stretch>
              <a:fillRect l="-2525" t="-2169" r="-8168"/>
            </a:stretch>
          </a:blipFill>
        </p:spPr>
      </p:sp>
      <p:sp>
        <p:nvSpPr>
          <p:cNvPr id="16" name="TextBox 16"/>
          <p:cNvSpPr txBox="1"/>
          <p:nvPr/>
        </p:nvSpPr>
        <p:spPr>
          <a:xfrm>
            <a:off x="1981821" y="1039915"/>
            <a:ext cx="5402811" cy="927100"/>
          </a:xfrm>
          <a:prstGeom prst="rect">
            <a:avLst/>
          </a:prstGeom>
        </p:spPr>
        <p:txBody>
          <a:bodyPr lIns="0" tIns="0" rIns="0" bIns="0" rtlCol="0" anchor="t">
            <a:spAutoFit/>
          </a:bodyPr>
          <a:lstStyle/>
          <a:p>
            <a:pPr algn="ctr">
              <a:lnSpc>
                <a:spcPts val="7699"/>
              </a:lnSpc>
              <a:spcBef>
                <a:spcPct val="0"/>
              </a:spcBef>
            </a:pPr>
            <a:r>
              <a:rPr lang="en-US" sz="5499" b="1">
                <a:solidFill>
                  <a:srgbClr val="000000"/>
                </a:solidFill>
                <a:latin typeface="Open Sans Bold"/>
                <a:ea typeface="Open Sans Bold"/>
                <a:cs typeface="Open Sans Bold"/>
                <a:sym typeface="Open Sans Bold"/>
              </a:rPr>
              <a:t>Sample Images</a:t>
            </a:r>
          </a:p>
        </p:txBody>
      </p:sp>
      <p:sp>
        <p:nvSpPr>
          <p:cNvPr id="17" name="TextBox 17"/>
          <p:cNvSpPr txBox="1"/>
          <p:nvPr/>
        </p:nvSpPr>
        <p:spPr>
          <a:xfrm>
            <a:off x="3141398" y="2769281"/>
            <a:ext cx="505007" cy="565108"/>
          </a:xfrm>
          <a:prstGeom prst="rect">
            <a:avLst/>
          </a:prstGeom>
        </p:spPr>
        <p:txBody>
          <a:bodyPr lIns="0" tIns="0" rIns="0" bIns="0" rtlCol="0" anchor="t">
            <a:spAutoFit/>
          </a:bodyPr>
          <a:lstStyle/>
          <a:p>
            <a:pPr algn="ctr">
              <a:lnSpc>
                <a:spcPts val="4621"/>
              </a:lnSpc>
              <a:spcBef>
                <a:spcPct val="0"/>
              </a:spcBef>
            </a:pPr>
            <a:r>
              <a:rPr lang="en-US" sz="3301">
                <a:solidFill>
                  <a:srgbClr val="000000"/>
                </a:solidFill>
                <a:latin typeface="Open Sans"/>
                <a:ea typeface="Open Sans"/>
                <a:cs typeface="Open Sans"/>
                <a:sym typeface="Open Sans"/>
              </a:rPr>
              <a:t>A4</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1881235" y="4887530"/>
            <a:ext cx="12051876" cy="1875770"/>
          </a:xfrm>
          <a:custGeom>
            <a:avLst/>
            <a:gdLst/>
            <a:ahLst/>
            <a:cxnLst/>
            <a:rect l="l" t="t" r="r" b="b"/>
            <a:pathLst>
              <a:path w="12051876" h="1875770">
                <a:moveTo>
                  <a:pt x="0" y="0"/>
                </a:moveTo>
                <a:lnTo>
                  <a:pt x="12051876" y="0"/>
                </a:lnTo>
                <a:lnTo>
                  <a:pt x="12051876" y="1875769"/>
                </a:lnTo>
                <a:lnTo>
                  <a:pt x="0" y="1875769"/>
                </a:lnTo>
                <a:lnTo>
                  <a:pt x="0" y="0"/>
                </a:lnTo>
                <a:close/>
              </a:path>
            </a:pathLst>
          </a:custGeom>
          <a:blipFill>
            <a:blip r:embed="rId3"/>
            <a:stretch>
              <a:fillRect b="-128088"/>
            </a:stretch>
          </a:blipFill>
        </p:spPr>
      </p:sp>
      <p:sp>
        <p:nvSpPr>
          <p:cNvPr id="14" name="Freeform 14"/>
          <p:cNvSpPr/>
          <p:nvPr/>
        </p:nvSpPr>
        <p:spPr>
          <a:xfrm>
            <a:off x="15040876" y="4021893"/>
            <a:ext cx="556523" cy="533962"/>
          </a:xfrm>
          <a:custGeom>
            <a:avLst/>
            <a:gdLst/>
            <a:ahLst/>
            <a:cxnLst/>
            <a:rect l="l" t="t" r="r" b="b"/>
            <a:pathLst>
              <a:path w="556523" h="533962">
                <a:moveTo>
                  <a:pt x="0" y="0"/>
                </a:moveTo>
                <a:lnTo>
                  <a:pt x="556523" y="0"/>
                </a:lnTo>
                <a:lnTo>
                  <a:pt x="556523" y="533962"/>
                </a:lnTo>
                <a:lnTo>
                  <a:pt x="0" y="533962"/>
                </a:lnTo>
                <a:lnTo>
                  <a:pt x="0" y="0"/>
                </a:lnTo>
                <a:close/>
              </a:path>
            </a:pathLst>
          </a:custGeom>
          <a:blipFill>
            <a:blip r:embed="rId4"/>
            <a:stretch>
              <a:fillRect/>
            </a:stretch>
          </a:blipFill>
        </p:spPr>
      </p:sp>
      <p:sp>
        <p:nvSpPr>
          <p:cNvPr id="15" name="Freeform 15"/>
          <p:cNvSpPr/>
          <p:nvPr/>
        </p:nvSpPr>
        <p:spPr>
          <a:xfrm>
            <a:off x="2710720" y="7669299"/>
            <a:ext cx="1177289" cy="504400"/>
          </a:xfrm>
          <a:custGeom>
            <a:avLst/>
            <a:gdLst/>
            <a:ahLst/>
            <a:cxnLst/>
            <a:rect l="l" t="t" r="r" b="b"/>
            <a:pathLst>
              <a:path w="1177289" h="504400">
                <a:moveTo>
                  <a:pt x="0" y="0"/>
                </a:moveTo>
                <a:lnTo>
                  <a:pt x="1177289" y="0"/>
                </a:lnTo>
                <a:lnTo>
                  <a:pt x="1177289" y="504400"/>
                </a:lnTo>
                <a:lnTo>
                  <a:pt x="0" y="504400"/>
                </a:lnTo>
                <a:lnTo>
                  <a:pt x="0" y="0"/>
                </a:lnTo>
                <a:close/>
              </a:path>
            </a:pathLst>
          </a:custGeom>
          <a:blipFill>
            <a:blip r:embed="rId5"/>
            <a:stretch>
              <a:fillRect l="-14041" t="-30588" r="-12169" b="-13109"/>
            </a:stretch>
          </a:blipFill>
        </p:spPr>
      </p:sp>
      <p:sp>
        <p:nvSpPr>
          <p:cNvPr id="16" name="Freeform 16"/>
          <p:cNvSpPr/>
          <p:nvPr/>
        </p:nvSpPr>
        <p:spPr>
          <a:xfrm>
            <a:off x="2751530" y="8343279"/>
            <a:ext cx="1095670" cy="404746"/>
          </a:xfrm>
          <a:custGeom>
            <a:avLst/>
            <a:gdLst/>
            <a:ahLst/>
            <a:cxnLst/>
            <a:rect l="l" t="t" r="r" b="b"/>
            <a:pathLst>
              <a:path w="1095670" h="404746">
                <a:moveTo>
                  <a:pt x="0" y="0"/>
                </a:moveTo>
                <a:lnTo>
                  <a:pt x="1095669" y="0"/>
                </a:lnTo>
                <a:lnTo>
                  <a:pt x="1095669" y="404746"/>
                </a:lnTo>
                <a:lnTo>
                  <a:pt x="0" y="404746"/>
                </a:lnTo>
                <a:lnTo>
                  <a:pt x="0" y="0"/>
                </a:lnTo>
                <a:close/>
              </a:path>
            </a:pathLst>
          </a:custGeom>
          <a:blipFill>
            <a:blip r:embed="rId6"/>
            <a:stretch>
              <a:fillRect l="-18382" t="-70188" r="-12963" b="-55565"/>
            </a:stretch>
          </a:blipFill>
        </p:spPr>
      </p:sp>
      <p:sp>
        <p:nvSpPr>
          <p:cNvPr id="17" name="TextBox 17"/>
          <p:cNvSpPr txBox="1"/>
          <p:nvPr/>
        </p:nvSpPr>
        <p:spPr>
          <a:xfrm>
            <a:off x="1881235" y="1211998"/>
            <a:ext cx="5585917" cy="811532"/>
          </a:xfrm>
          <a:prstGeom prst="rect">
            <a:avLst/>
          </a:prstGeom>
        </p:spPr>
        <p:txBody>
          <a:bodyPr lIns="0" tIns="0" rIns="0" bIns="0" rtlCol="0" anchor="t">
            <a:spAutoFit/>
          </a:bodyPr>
          <a:lstStyle/>
          <a:p>
            <a:pPr algn="ctr">
              <a:lnSpc>
                <a:spcPts val="6719"/>
              </a:lnSpc>
              <a:spcBef>
                <a:spcPct val="0"/>
              </a:spcBef>
            </a:pPr>
            <a:r>
              <a:rPr lang="en-US" sz="4799" b="1">
                <a:solidFill>
                  <a:srgbClr val="000000"/>
                </a:solidFill>
                <a:latin typeface="Open Sans Bold"/>
                <a:ea typeface="Open Sans Bold"/>
                <a:cs typeface="Open Sans Bold"/>
                <a:sym typeface="Open Sans Bold"/>
              </a:rPr>
              <a:t>Otsu Thresholding</a:t>
            </a:r>
          </a:p>
        </p:txBody>
      </p:sp>
      <p:sp>
        <p:nvSpPr>
          <p:cNvPr id="18" name="TextBox 18"/>
          <p:cNvSpPr txBox="1"/>
          <p:nvPr/>
        </p:nvSpPr>
        <p:spPr>
          <a:xfrm>
            <a:off x="1881235" y="2442489"/>
            <a:ext cx="13716164" cy="2113366"/>
          </a:xfrm>
          <a:prstGeom prst="rect">
            <a:avLst/>
          </a:prstGeom>
        </p:spPr>
        <p:txBody>
          <a:bodyPr lIns="0" tIns="0" rIns="0" bIns="0" rtlCol="0" anchor="t">
            <a:spAutoFit/>
          </a:bodyPr>
          <a:lstStyle/>
          <a:p>
            <a:pPr marL="650764" lvl="1" indent="-325382" algn="l">
              <a:lnSpc>
                <a:spcPts val="4219"/>
              </a:lnSpc>
              <a:buFont typeface="Arial"/>
              <a:buChar char="•"/>
            </a:pPr>
            <a:r>
              <a:rPr lang="en-US" sz="3014">
                <a:solidFill>
                  <a:srgbClr val="000000"/>
                </a:solidFill>
                <a:latin typeface="Open Sans"/>
                <a:ea typeface="Open Sans"/>
                <a:cs typeface="Open Sans"/>
                <a:sym typeface="Open Sans"/>
              </a:rPr>
              <a:t>. It is an algorithm to automatically find the threshold intensity</a:t>
            </a:r>
          </a:p>
          <a:p>
            <a:pPr marL="650764" lvl="1" indent="-325382" algn="l">
              <a:lnSpc>
                <a:spcPts val="4219"/>
              </a:lnSpc>
              <a:buFont typeface="Arial"/>
              <a:buChar char="•"/>
            </a:pPr>
            <a:r>
              <a:rPr lang="en-US" sz="3014">
                <a:solidFill>
                  <a:srgbClr val="000000"/>
                </a:solidFill>
                <a:latin typeface="Open Sans"/>
                <a:ea typeface="Open Sans"/>
                <a:cs typeface="Open Sans"/>
                <a:sym typeface="Open Sans"/>
              </a:rPr>
              <a:t>It works by searching  for the threshold intensity that optimally separates the image into two classes the foreground and the background.</a:t>
            </a:r>
          </a:p>
          <a:p>
            <a:pPr marL="650764" lvl="1" indent="-325382" algn="l">
              <a:lnSpc>
                <a:spcPts val="4219"/>
              </a:lnSpc>
              <a:buFont typeface="Arial"/>
              <a:buChar char="•"/>
            </a:pPr>
            <a:r>
              <a:rPr lang="en-US" sz="3014">
                <a:solidFill>
                  <a:srgbClr val="000000"/>
                </a:solidFill>
                <a:latin typeface="Open Sans"/>
                <a:ea typeface="Open Sans"/>
                <a:cs typeface="Open Sans"/>
                <a:sym typeface="Open Sans"/>
              </a:rPr>
              <a:t>this is done by maximizing a metric called the between class variance</a:t>
            </a:r>
          </a:p>
        </p:txBody>
      </p:sp>
      <p:sp>
        <p:nvSpPr>
          <p:cNvPr id="19" name="TextBox 19"/>
          <p:cNvSpPr txBox="1"/>
          <p:nvPr/>
        </p:nvSpPr>
        <p:spPr>
          <a:xfrm>
            <a:off x="2052012" y="7028299"/>
            <a:ext cx="14570897" cy="1719726"/>
          </a:xfrm>
          <a:prstGeom prst="rect">
            <a:avLst/>
          </a:prstGeom>
        </p:spPr>
        <p:txBody>
          <a:bodyPr lIns="0" tIns="0" rIns="0" bIns="0" rtlCol="0" anchor="t">
            <a:spAutoFit/>
          </a:bodyPr>
          <a:lstStyle/>
          <a:p>
            <a:pPr algn="l">
              <a:lnSpc>
                <a:spcPts val="4601"/>
              </a:lnSpc>
              <a:spcBef>
                <a:spcPct val="0"/>
              </a:spcBef>
            </a:pPr>
            <a:r>
              <a:rPr lang="en-US" sz="3286">
                <a:solidFill>
                  <a:srgbClr val="000000"/>
                </a:solidFill>
                <a:latin typeface="Open Sans"/>
                <a:ea typeface="Open Sans"/>
                <a:cs typeface="Open Sans"/>
                <a:sym typeface="Open Sans"/>
              </a:rPr>
              <a:t>Where:</a:t>
            </a:r>
          </a:p>
          <a:p>
            <a:pPr marL="709648" lvl="1" indent="-354824" algn="l">
              <a:lnSpc>
                <a:spcPts val="4601"/>
              </a:lnSpc>
              <a:buFont typeface="Arial"/>
              <a:buChar char="•"/>
            </a:pPr>
            <a:r>
              <a:rPr lang="en-US" sz="3286">
                <a:solidFill>
                  <a:srgbClr val="000000"/>
                </a:solidFill>
                <a:latin typeface="Open Sans"/>
                <a:ea typeface="Open Sans"/>
                <a:cs typeface="Open Sans"/>
                <a:sym typeface="Open Sans"/>
              </a:rPr>
              <a:t>           : Proportion of pixels in background and foreground respectively.</a:t>
            </a:r>
          </a:p>
          <a:p>
            <a:pPr marL="709648" lvl="1" indent="-354824" algn="l">
              <a:lnSpc>
                <a:spcPts val="4601"/>
              </a:lnSpc>
              <a:buFont typeface="Arial"/>
              <a:buChar char="•"/>
            </a:pPr>
            <a:r>
              <a:rPr lang="en-US" sz="3286">
                <a:solidFill>
                  <a:srgbClr val="000000"/>
                </a:solidFill>
                <a:latin typeface="Open Sans"/>
                <a:ea typeface="Open Sans"/>
                <a:cs typeface="Open Sans"/>
                <a:sym typeface="Open Sans"/>
              </a:rPr>
              <a:t>           : mean intensity of background and foreground respectively</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3654511" y="2447632"/>
            <a:ext cx="10178097" cy="3517583"/>
          </a:xfrm>
          <a:custGeom>
            <a:avLst/>
            <a:gdLst/>
            <a:ahLst/>
            <a:cxnLst/>
            <a:rect l="l" t="t" r="r" b="b"/>
            <a:pathLst>
              <a:path w="10178097" h="3517583">
                <a:moveTo>
                  <a:pt x="0" y="0"/>
                </a:moveTo>
                <a:lnTo>
                  <a:pt x="10178096" y="0"/>
                </a:lnTo>
                <a:lnTo>
                  <a:pt x="10178096" y="3517583"/>
                </a:lnTo>
                <a:lnTo>
                  <a:pt x="0" y="3517583"/>
                </a:lnTo>
                <a:lnTo>
                  <a:pt x="0" y="0"/>
                </a:lnTo>
                <a:close/>
              </a:path>
            </a:pathLst>
          </a:custGeom>
          <a:blipFill>
            <a:blip r:embed="rId3"/>
            <a:stretch>
              <a:fillRect/>
            </a:stretch>
          </a:blipFill>
        </p:spPr>
      </p:sp>
      <p:sp>
        <p:nvSpPr>
          <p:cNvPr id="14" name="TextBox 14"/>
          <p:cNvSpPr txBox="1"/>
          <p:nvPr/>
        </p:nvSpPr>
        <p:spPr>
          <a:xfrm>
            <a:off x="1881235" y="1211998"/>
            <a:ext cx="5585917" cy="811532"/>
          </a:xfrm>
          <a:prstGeom prst="rect">
            <a:avLst/>
          </a:prstGeom>
        </p:spPr>
        <p:txBody>
          <a:bodyPr lIns="0" tIns="0" rIns="0" bIns="0" rtlCol="0" anchor="t">
            <a:spAutoFit/>
          </a:bodyPr>
          <a:lstStyle/>
          <a:p>
            <a:pPr algn="ctr">
              <a:lnSpc>
                <a:spcPts val="6719"/>
              </a:lnSpc>
              <a:spcBef>
                <a:spcPct val="0"/>
              </a:spcBef>
            </a:pPr>
            <a:r>
              <a:rPr lang="en-US" sz="4799" b="1">
                <a:solidFill>
                  <a:srgbClr val="000000"/>
                </a:solidFill>
                <a:latin typeface="Open Sans Bold"/>
                <a:ea typeface="Open Sans Bold"/>
                <a:cs typeface="Open Sans Bold"/>
                <a:sym typeface="Open Sans Bold"/>
              </a:rPr>
              <a:t>Otsu Thresholding</a:t>
            </a:r>
          </a:p>
        </p:txBody>
      </p:sp>
      <p:sp>
        <p:nvSpPr>
          <p:cNvPr id="15" name="TextBox 15"/>
          <p:cNvSpPr txBox="1"/>
          <p:nvPr/>
        </p:nvSpPr>
        <p:spPr>
          <a:xfrm>
            <a:off x="2036948" y="6322642"/>
            <a:ext cx="14681995" cy="3654522"/>
          </a:xfrm>
          <a:prstGeom prst="rect">
            <a:avLst/>
          </a:prstGeom>
        </p:spPr>
        <p:txBody>
          <a:bodyPr lIns="0" tIns="0" rIns="0" bIns="0" rtlCol="0" anchor="t">
            <a:spAutoFit/>
          </a:bodyPr>
          <a:lstStyle/>
          <a:p>
            <a:pPr algn="l">
              <a:lnSpc>
                <a:spcPts val="4649"/>
              </a:lnSpc>
            </a:pPr>
            <a:r>
              <a:rPr lang="en-US" sz="3321" b="1">
                <a:solidFill>
                  <a:srgbClr val="000000"/>
                </a:solidFill>
                <a:latin typeface="Open Sans Bold"/>
                <a:ea typeface="Open Sans Bold"/>
                <a:cs typeface="Open Sans Bold"/>
                <a:sym typeface="Open Sans Bold"/>
              </a:rPr>
              <a:t>Limitations:</a:t>
            </a:r>
          </a:p>
          <a:p>
            <a:pPr marL="630682" lvl="1" indent="-315341" algn="l">
              <a:lnSpc>
                <a:spcPts val="4089"/>
              </a:lnSpc>
              <a:buFont typeface="Arial"/>
              <a:buChar char="•"/>
            </a:pPr>
            <a:r>
              <a:rPr lang="en-US" sz="2921">
                <a:solidFill>
                  <a:srgbClr val="000000"/>
                </a:solidFill>
                <a:latin typeface="Open Sans"/>
                <a:ea typeface="Open Sans"/>
                <a:cs typeface="Open Sans"/>
                <a:sym typeface="Open Sans"/>
              </a:rPr>
              <a:t>Foreground and background intensities may overlap, causing poor segmentation.</a:t>
            </a:r>
          </a:p>
          <a:p>
            <a:pPr marL="630682" lvl="1" indent="-315341" algn="l">
              <a:lnSpc>
                <a:spcPts val="4089"/>
              </a:lnSpc>
              <a:buFont typeface="Arial"/>
              <a:buChar char="•"/>
            </a:pPr>
            <a:r>
              <a:rPr lang="en-US" sz="2921">
                <a:solidFill>
                  <a:srgbClr val="000000"/>
                </a:solidFill>
                <a:latin typeface="Open Sans"/>
                <a:ea typeface="Open Sans"/>
                <a:cs typeface="Open Sans"/>
                <a:sym typeface="Open Sans"/>
              </a:rPr>
              <a:t>Does not perform well when:</a:t>
            </a:r>
          </a:p>
          <a:p>
            <a:pPr marL="1261363" lvl="2" indent="-420454" algn="l">
              <a:lnSpc>
                <a:spcPts val="4089"/>
              </a:lnSpc>
              <a:buFont typeface="Arial"/>
              <a:buChar char="⚬"/>
            </a:pPr>
            <a:r>
              <a:rPr lang="en-US" sz="2921">
                <a:solidFill>
                  <a:srgbClr val="000000"/>
                </a:solidFill>
                <a:latin typeface="Open Sans"/>
                <a:ea typeface="Open Sans"/>
                <a:cs typeface="Open Sans"/>
                <a:sym typeface="Open Sans"/>
              </a:rPr>
              <a:t>The image has very dark or very bright regions.</a:t>
            </a:r>
          </a:p>
          <a:p>
            <a:pPr marL="1261363" lvl="2" indent="-420454" algn="l">
              <a:lnSpc>
                <a:spcPts val="4089"/>
              </a:lnSpc>
              <a:buFont typeface="Arial"/>
              <a:buChar char="⚬"/>
            </a:pPr>
            <a:r>
              <a:rPr lang="en-US" sz="2921">
                <a:solidFill>
                  <a:srgbClr val="000000"/>
                </a:solidFill>
                <a:latin typeface="Open Sans"/>
                <a:ea typeface="Open Sans"/>
                <a:cs typeface="Open Sans"/>
                <a:sym typeface="Open Sans"/>
              </a:rPr>
              <a:t>There’s uneven lighting across the image.</a:t>
            </a:r>
          </a:p>
          <a:p>
            <a:pPr marL="1261363" lvl="2" indent="-420454" algn="l">
              <a:lnSpc>
                <a:spcPts val="4089"/>
              </a:lnSpc>
              <a:buFont typeface="Arial"/>
              <a:buChar char="⚬"/>
            </a:pPr>
            <a:r>
              <a:rPr lang="en-US" sz="2921">
                <a:solidFill>
                  <a:srgbClr val="000000"/>
                </a:solidFill>
                <a:latin typeface="Open Sans"/>
                <a:ea typeface="Open Sans"/>
                <a:cs typeface="Open Sans"/>
                <a:sym typeface="Open Sans"/>
              </a:rPr>
              <a:t>Multiple intensity levels exist in the background.</a:t>
            </a:r>
          </a:p>
          <a:p>
            <a:pPr algn="l">
              <a:lnSpc>
                <a:spcPts val="4089"/>
              </a:lnSpc>
              <a:spcBef>
                <a:spcPct val="0"/>
              </a:spcBef>
            </a:pPr>
            <a:endParaRPr lang="en-US" sz="2921">
              <a:solidFill>
                <a:srgbClr val="000000"/>
              </a:solidFill>
              <a:latin typeface="Open Sans"/>
              <a:ea typeface="Open Sans"/>
              <a:cs typeface="Open Sans"/>
              <a:sym typeface="Open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1649069" y="933450"/>
            <a:ext cx="15069874" cy="1810765"/>
          </a:xfrm>
          <a:prstGeom prst="rect">
            <a:avLst/>
          </a:prstGeom>
        </p:spPr>
        <p:txBody>
          <a:bodyPr lIns="0" tIns="0" rIns="0" bIns="0" rtlCol="0" anchor="t">
            <a:spAutoFit/>
          </a:bodyPr>
          <a:lstStyle/>
          <a:p>
            <a:pPr algn="l">
              <a:lnSpc>
                <a:spcPts val="7294"/>
              </a:lnSpc>
              <a:spcBef>
                <a:spcPct val="0"/>
              </a:spcBef>
            </a:pPr>
            <a:r>
              <a:rPr lang="en-US" sz="5210" b="1">
                <a:solidFill>
                  <a:srgbClr val="000000"/>
                </a:solidFill>
                <a:latin typeface="Open Sans Bold"/>
                <a:ea typeface="Open Sans Bold"/>
                <a:cs typeface="Open Sans Bold"/>
                <a:sym typeface="Open Sans Bold"/>
              </a:rPr>
              <a:t>Edge-Threshold Automatic Processing (ETAP) technique</a:t>
            </a:r>
          </a:p>
        </p:txBody>
      </p:sp>
      <p:sp>
        <p:nvSpPr>
          <p:cNvPr id="14" name="TextBox 14"/>
          <p:cNvSpPr txBox="1"/>
          <p:nvPr/>
        </p:nvSpPr>
        <p:spPr>
          <a:xfrm>
            <a:off x="1569057" y="2677540"/>
            <a:ext cx="16028646" cy="6285656"/>
          </a:xfrm>
          <a:prstGeom prst="rect">
            <a:avLst/>
          </a:prstGeom>
        </p:spPr>
        <p:txBody>
          <a:bodyPr lIns="0" tIns="0" rIns="0" bIns="0" rtlCol="0" anchor="t">
            <a:spAutoFit/>
          </a:bodyPr>
          <a:lstStyle/>
          <a:p>
            <a:pPr algn="l">
              <a:lnSpc>
                <a:spcPts val="4531"/>
              </a:lnSpc>
              <a:spcBef>
                <a:spcPct val="0"/>
              </a:spcBef>
            </a:pPr>
            <a:endParaRPr/>
          </a:p>
          <a:p>
            <a:pPr marL="698831" lvl="1" indent="-349415" algn="l">
              <a:lnSpc>
                <a:spcPts val="4531"/>
              </a:lnSpc>
              <a:spcBef>
                <a:spcPct val="0"/>
              </a:spcBef>
              <a:buFont typeface="Arial"/>
              <a:buChar char="•"/>
            </a:pPr>
            <a:r>
              <a:rPr lang="en-US" sz="3236">
                <a:solidFill>
                  <a:srgbClr val="000000"/>
                </a:solidFill>
                <a:latin typeface="Open Sans"/>
                <a:ea typeface="Open Sans"/>
                <a:cs typeface="Open Sans"/>
                <a:sym typeface="Open Sans"/>
              </a:rPr>
              <a:t>Purpose: Automatic detection and classification of pores in microscopic shale images.</a:t>
            </a:r>
          </a:p>
          <a:p>
            <a:pPr marL="698831" lvl="1" indent="-349415" algn="l">
              <a:lnSpc>
                <a:spcPts val="4531"/>
              </a:lnSpc>
              <a:spcBef>
                <a:spcPct val="0"/>
              </a:spcBef>
              <a:buFont typeface="Arial"/>
              <a:buChar char="•"/>
            </a:pPr>
            <a:r>
              <a:rPr lang="en-US" sz="3236">
                <a:solidFill>
                  <a:srgbClr val="000000"/>
                </a:solidFill>
                <a:latin typeface="Open Sans"/>
                <a:ea typeface="Open Sans"/>
                <a:cs typeface="Open Sans"/>
                <a:sym typeface="Open Sans"/>
              </a:rPr>
              <a:t>Method:</a:t>
            </a:r>
          </a:p>
          <a:p>
            <a:pPr marL="1397662" lvl="2" indent="-465887" algn="l">
              <a:lnSpc>
                <a:spcPts val="4531"/>
              </a:lnSpc>
              <a:spcBef>
                <a:spcPct val="0"/>
              </a:spcBef>
              <a:buFont typeface="Arial"/>
              <a:buChar char="⚬"/>
            </a:pPr>
            <a:r>
              <a:rPr lang="en-US" sz="3236">
                <a:solidFill>
                  <a:srgbClr val="000000"/>
                </a:solidFill>
                <a:latin typeface="Open Sans"/>
                <a:ea typeface="Open Sans"/>
                <a:cs typeface="Open Sans"/>
                <a:sym typeface="Open Sans"/>
              </a:rPr>
              <a:t>Uses edge detection to accurately find pore boundaries.</a:t>
            </a:r>
          </a:p>
          <a:p>
            <a:pPr marL="1397662" lvl="2" indent="-465887" algn="l">
              <a:lnSpc>
                <a:spcPts val="4531"/>
              </a:lnSpc>
              <a:spcBef>
                <a:spcPct val="0"/>
              </a:spcBef>
              <a:buFont typeface="Arial"/>
              <a:buChar char="⚬"/>
            </a:pPr>
            <a:r>
              <a:rPr lang="en-US" sz="3236">
                <a:solidFill>
                  <a:srgbClr val="000000"/>
                </a:solidFill>
                <a:latin typeface="Open Sans"/>
                <a:ea typeface="Open Sans"/>
                <a:cs typeface="Open Sans"/>
                <a:sym typeface="Open Sans"/>
              </a:rPr>
              <a:t>Applies grayscale thresholding to separate pores from surrounding materials.</a:t>
            </a:r>
          </a:p>
          <a:p>
            <a:pPr marL="1397662" lvl="2" indent="-465887" algn="l">
              <a:lnSpc>
                <a:spcPts val="4531"/>
              </a:lnSpc>
              <a:spcBef>
                <a:spcPct val="0"/>
              </a:spcBef>
              <a:buFont typeface="Arial"/>
              <a:buChar char="⚬"/>
            </a:pPr>
            <a:r>
              <a:rPr lang="en-US" sz="3236">
                <a:solidFill>
                  <a:srgbClr val="000000"/>
                </a:solidFill>
                <a:latin typeface="Open Sans"/>
                <a:ea typeface="Open Sans"/>
                <a:cs typeface="Open Sans"/>
                <a:sym typeface="Open Sans"/>
              </a:rPr>
              <a:t>Combines both approaches for higher accuracy.</a:t>
            </a:r>
          </a:p>
          <a:p>
            <a:pPr marL="698831" lvl="1" indent="-349415" algn="l">
              <a:lnSpc>
                <a:spcPts val="4531"/>
              </a:lnSpc>
              <a:spcBef>
                <a:spcPct val="0"/>
              </a:spcBef>
              <a:buFont typeface="Arial"/>
              <a:buChar char="•"/>
            </a:pPr>
            <a:r>
              <a:rPr lang="en-US" sz="3236">
                <a:solidFill>
                  <a:srgbClr val="000000"/>
                </a:solidFill>
                <a:latin typeface="Open Sans"/>
                <a:ea typeface="Open Sans"/>
                <a:cs typeface="Open Sans"/>
                <a:sym typeface="Open Sans"/>
              </a:rPr>
              <a:t>Result: Identifies and distinguishes organic and inorganic pores reliably and objectively.</a:t>
            </a:r>
          </a:p>
          <a:p>
            <a:pPr algn="l">
              <a:lnSpc>
                <a:spcPts val="4531"/>
              </a:lnSpc>
              <a:spcBef>
                <a:spcPct val="0"/>
              </a:spcBef>
            </a:pPr>
            <a:endParaRPr lang="en-US" sz="3236">
              <a:solidFill>
                <a:srgbClr val="000000"/>
              </a:solidFill>
              <a:latin typeface="Open Sans"/>
              <a:ea typeface="Open Sans"/>
              <a:cs typeface="Open Sans"/>
              <a:sym typeface="Open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1794727" y="1775534"/>
            <a:ext cx="14924215" cy="2786153"/>
          </a:xfrm>
          <a:prstGeom prst="rect">
            <a:avLst/>
          </a:prstGeom>
        </p:spPr>
        <p:txBody>
          <a:bodyPr lIns="0" tIns="0" rIns="0" bIns="0" rtlCol="0" anchor="t">
            <a:spAutoFit/>
          </a:bodyPr>
          <a:lstStyle/>
          <a:p>
            <a:pPr algn="l">
              <a:lnSpc>
                <a:spcPts val="4457"/>
              </a:lnSpc>
              <a:spcBef>
                <a:spcPct val="0"/>
              </a:spcBef>
            </a:pPr>
            <a:r>
              <a:rPr lang="en-US" sz="3183" b="1">
                <a:solidFill>
                  <a:srgbClr val="000000"/>
                </a:solidFill>
                <a:latin typeface="Open Sans Bold"/>
                <a:ea typeface="Open Sans Bold"/>
                <a:cs typeface="Open Sans Bold"/>
                <a:sym typeface="Open Sans Bold"/>
              </a:rPr>
              <a:t>Step 1: Convert Image to 8-bit Grayscale</a:t>
            </a:r>
          </a:p>
          <a:p>
            <a:pPr marL="687414" lvl="1" indent="-343707" algn="l">
              <a:lnSpc>
                <a:spcPts val="4457"/>
              </a:lnSpc>
              <a:spcBef>
                <a:spcPct val="0"/>
              </a:spcBef>
              <a:buFont typeface="Arial"/>
              <a:buChar char="•"/>
            </a:pPr>
            <a:r>
              <a:rPr lang="en-US" sz="3183">
                <a:solidFill>
                  <a:srgbClr val="000000"/>
                </a:solidFill>
                <a:latin typeface="Open Sans"/>
                <a:ea typeface="Open Sans"/>
                <a:cs typeface="Open Sans"/>
                <a:sym typeface="Open Sans"/>
              </a:rPr>
              <a:t>SEM image is turned into 8-bit grayscale (values from 0 to 255).</a:t>
            </a:r>
          </a:p>
          <a:p>
            <a:pPr marL="687414" lvl="1" indent="-343707" algn="l">
              <a:lnSpc>
                <a:spcPts val="4457"/>
              </a:lnSpc>
              <a:spcBef>
                <a:spcPct val="0"/>
              </a:spcBef>
              <a:buFont typeface="Arial"/>
              <a:buChar char="•"/>
            </a:pPr>
            <a:r>
              <a:rPr lang="en-US" sz="3183">
                <a:solidFill>
                  <a:srgbClr val="000000"/>
                </a:solidFill>
                <a:latin typeface="Open Sans"/>
                <a:ea typeface="Open Sans"/>
                <a:cs typeface="Open Sans"/>
                <a:sym typeface="Open Sans"/>
              </a:rPr>
              <a:t>Each pixel now has a brightness level, with dark = pore, bright = minerals or solid parts.</a:t>
            </a:r>
          </a:p>
          <a:p>
            <a:pPr algn="l">
              <a:lnSpc>
                <a:spcPts val="4457"/>
              </a:lnSpc>
              <a:spcBef>
                <a:spcPct val="0"/>
              </a:spcBef>
            </a:pPr>
            <a:endParaRPr lang="en-US" sz="3183">
              <a:solidFill>
                <a:srgbClr val="000000"/>
              </a:solidFill>
              <a:latin typeface="Open Sans"/>
              <a:ea typeface="Open Sans"/>
              <a:cs typeface="Open Sans"/>
              <a:sym typeface="Open Sans"/>
            </a:endParaRPr>
          </a:p>
        </p:txBody>
      </p:sp>
      <p:sp>
        <p:nvSpPr>
          <p:cNvPr id="14" name="TextBox 14"/>
          <p:cNvSpPr txBox="1"/>
          <p:nvPr/>
        </p:nvSpPr>
        <p:spPr>
          <a:xfrm>
            <a:off x="1794727" y="4654669"/>
            <a:ext cx="13449621" cy="4481701"/>
          </a:xfrm>
          <a:prstGeom prst="rect">
            <a:avLst/>
          </a:prstGeom>
        </p:spPr>
        <p:txBody>
          <a:bodyPr lIns="0" tIns="0" rIns="0" bIns="0" rtlCol="0" anchor="t">
            <a:spAutoFit/>
          </a:bodyPr>
          <a:lstStyle/>
          <a:p>
            <a:pPr algn="l">
              <a:lnSpc>
                <a:spcPts val="4452"/>
              </a:lnSpc>
              <a:spcBef>
                <a:spcPct val="0"/>
              </a:spcBef>
            </a:pPr>
            <a:r>
              <a:rPr lang="en-US" sz="3180" b="1">
                <a:solidFill>
                  <a:srgbClr val="000000"/>
                </a:solidFill>
                <a:latin typeface="Open Sans Bold"/>
                <a:ea typeface="Open Sans Bold"/>
                <a:cs typeface="Open Sans Bold"/>
                <a:sym typeface="Open Sans Bold"/>
              </a:rPr>
              <a:t>Step 2: Analyze Histogram of Pixel Intensities</a:t>
            </a:r>
          </a:p>
          <a:p>
            <a:pPr marL="686577" lvl="1" indent="-343288" algn="l">
              <a:lnSpc>
                <a:spcPts val="4452"/>
              </a:lnSpc>
              <a:spcBef>
                <a:spcPct val="0"/>
              </a:spcBef>
              <a:buFont typeface="Arial"/>
              <a:buChar char="•"/>
            </a:pPr>
            <a:r>
              <a:rPr lang="en-US" sz="3180">
                <a:solidFill>
                  <a:srgbClr val="000000"/>
                </a:solidFill>
                <a:latin typeface="Open Sans"/>
                <a:ea typeface="Open Sans"/>
                <a:cs typeface="Open Sans"/>
                <a:sym typeface="Open Sans"/>
              </a:rPr>
              <a:t>Count how many pixels exist at each brightness level.</a:t>
            </a:r>
          </a:p>
          <a:p>
            <a:pPr marL="686577" lvl="1" indent="-343288" algn="l">
              <a:lnSpc>
                <a:spcPts val="4452"/>
              </a:lnSpc>
              <a:spcBef>
                <a:spcPct val="0"/>
              </a:spcBef>
              <a:buFont typeface="Arial"/>
              <a:buChar char="•"/>
            </a:pPr>
            <a:r>
              <a:rPr lang="en-US" sz="3180">
                <a:solidFill>
                  <a:srgbClr val="000000"/>
                </a:solidFill>
                <a:latin typeface="Open Sans"/>
                <a:ea typeface="Open Sans"/>
                <a:cs typeface="Open Sans"/>
                <a:sym typeface="Open Sans"/>
              </a:rPr>
              <a:t>Plot this as a histogram — a graph showing three main peaks:</a:t>
            </a:r>
          </a:p>
          <a:p>
            <a:pPr marL="1373153" lvl="2" indent="-457718" algn="l">
              <a:lnSpc>
                <a:spcPts val="4452"/>
              </a:lnSpc>
              <a:spcBef>
                <a:spcPct val="0"/>
              </a:spcBef>
              <a:buFont typeface="Arial"/>
              <a:buChar char="⚬"/>
            </a:pPr>
            <a:r>
              <a:rPr lang="en-US" sz="3180">
                <a:solidFill>
                  <a:srgbClr val="000000"/>
                </a:solidFill>
                <a:latin typeface="Open Sans"/>
                <a:ea typeface="Open Sans"/>
                <a:cs typeface="Open Sans"/>
                <a:sym typeface="Open Sans"/>
              </a:rPr>
              <a:t>VP1 = Peak of organic matter</a:t>
            </a:r>
          </a:p>
          <a:p>
            <a:pPr marL="1373153" lvl="2" indent="-457718" algn="l">
              <a:lnSpc>
                <a:spcPts val="4452"/>
              </a:lnSpc>
              <a:spcBef>
                <a:spcPct val="0"/>
              </a:spcBef>
              <a:buFont typeface="Arial"/>
              <a:buChar char="⚬"/>
            </a:pPr>
            <a:r>
              <a:rPr lang="en-US" sz="3180">
                <a:solidFill>
                  <a:srgbClr val="000000"/>
                </a:solidFill>
                <a:latin typeface="Open Sans"/>
                <a:ea typeface="Open Sans"/>
                <a:cs typeface="Open Sans"/>
                <a:sym typeface="Open Sans"/>
              </a:rPr>
              <a:t>VP2 = Peak of main minerals</a:t>
            </a:r>
          </a:p>
          <a:p>
            <a:pPr marL="1373153" lvl="2" indent="-457718" algn="l">
              <a:lnSpc>
                <a:spcPts val="4452"/>
              </a:lnSpc>
              <a:spcBef>
                <a:spcPct val="0"/>
              </a:spcBef>
              <a:buFont typeface="Arial"/>
              <a:buChar char="⚬"/>
            </a:pPr>
            <a:r>
              <a:rPr lang="en-US" sz="3180">
                <a:solidFill>
                  <a:srgbClr val="000000"/>
                </a:solidFill>
                <a:latin typeface="Open Sans"/>
                <a:ea typeface="Open Sans"/>
                <a:cs typeface="Open Sans"/>
                <a:sym typeface="Open Sans"/>
              </a:rPr>
              <a:t>VP3 = Peak of bright minerals</a:t>
            </a:r>
          </a:p>
          <a:p>
            <a:pPr marL="686577" lvl="1" indent="-343288" algn="l">
              <a:lnSpc>
                <a:spcPts val="4452"/>
              </a:lnSpc>
              <a:spcBef>
                <a:spcPct val="0"/>
              </a:spcBef>
              <a:buFont typeface="Arial"/>
              <a:buChar char="•"/>
            </a:pPr>
            <a:r>
              <a:rPr lang="en-US" sz="3180">
                <a:solidFill>
                  <a:srgbClr val="000000"/>
                </a:solidFill>
                <a:latin typeface="Open Sans"/>
                <a:ea typeface="Open Sans"/>
                <a:cs typeface="Open Sans"/>
                <a:sym typeface="Open Sans"/>
              </a:rPr>
              <a:t>Find width (W) of these peaks using Gaussian fitting.</a:t>
            </a:r>
          </a:p>
          <a:p>
            <a:pPr algn="l">
              <a:lnSpc>
                <a:spcPts val="4452"/>
              </a:lnSpc>
              <a:spcBef>
                <a:spcPct val="0"/>
              </a:spcBef>
            </a:pPr>
            <a:endParaRPr lang="en-US" sz="3180">
              <a:solidFill>
                <a:srgbClr val="000000"/>
              </a:solidFill>
              <a:latin typeface="Open Sans"/>
              <a:ea typeface="Open Sans"/>
              <a:cs typeface="Open Sans"/>
              <a:sym typeface="Open Sans"/>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2410602" y="1507474"/>
            <a:ext cx="12929862" cy="7095262"/>
          </a:xfrm>
          <a:custGeom>
            <a:avLst/>
            <a:gdLst/>
            <a:ahLst/>
            <a:cxnLst/>
            <a:rect l="l" t="t" r="r" b="b"/>
            <a:pathLst>
              <a:path w="12929862" h="7095262">
                <a:moveTo>
                  <a:pt x="0" y="0"/>
                </a:moveTo>
                <a:lnTo>
                  <a:pt x="12929863" y="0"/>
                </a:lnTo>
                <a:lnTo>
                  <a:pt x="12929863" y="7095262"/>
                </a:lnTo>
                <a:lnTo>
                  <a:pt x="0" y="7095262"/>
                </a:lnTo>
                <a:lnTo>
                  <a:pt x="0" y="0"/>
                </a:lnTo>
                <a:close/>
              </a:path>
            </a:pathLst>
          </a:custGeom>
          <a:blipFill>
            <a:blip r:embed="rId3"/>
            <a:stretch>
              <a:fillRect/>
            </a:stretch>
          </a:blipFill>
        </p:spPr>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2059010" y="1477079"/>
            <a:ext cx="9756577" cy="4396558"/>
          </a:xfrm>
          <a:prstGeom prst="rect">
            <a:avLst/>
          </a:prstGeom>
        </p:spPr>
        <p:txBody>
          <a:bodyPr lIns="0" tIns="0" rIns="0" bIns="0" rtlCol="0" anchor="t">
            <a:spAutoFit/>
          </a:bodyPr>
          <a:lstStyle/>
          <a:p>
            <a:pPr algn="l">
              <a:lnSpc>
                <a:spcPts val="4550"/>
              </a:lnSpc>
              <a:spcBef>
                <a:spcPct val="0"/>
              </a:spcBef>
            </a:pPr>
            <a:r>
              <a:rPr lang="en-US" sz="3250" b="1">
                <a:solidFill>
                  <a:srgbClr val="000000"/>
                </a:solidFill>
                <a:latin typeface="Open Sans Bold"/>
                <a:ea typeface="Open Sans Bold"/>
                <a:cs typeface="Open Sans Bold"/>
                <a:sym typeface="Open Sans Bold"/>
              </a:rPr>
              <a:t>Step 3: Define Cut-Off Points</a:t>
            </a:r>
          </a:p>
          <a:p>
            <a:pPr marL="681165" lvl="1" indent="-340583" algn="l">
              <a:lnSpc>
                <a:spcPts val="4417"/>
              </a:lnSpc>
              <a:spcBef>
                <a:spcPct val="0"/>
              </a:spcBef>
              <a:buFont typeface="Arial"/>
              <a:buChar char="•"/>
            </a:pPr>
            <a:r>
              <a:rPr lang="en-US" sz="3155">
                <a:solidFill>
                  <a:srgbClr val="000000"/>
                </a:solidFill>
                <a:latin typeface="Open Sans"/>
                <a:ea typeface="Open Sans"/>
                <a:cs typeface="Open Sans"/>
                <a:sym typeface="Open Sans"/>
              </a:rPr>
              <a:t>Pore cut-off (Pcutoff) = VP1 - W</a:t>
            </a:r>
          </a:p>
          <a:p>
            <a:pPr marL="681165" lvl="1" indent="-340583" algn="l">
              <a:lnSpc>
                <a:spcPts val="4417"/>
              </a:lnSpc>
              <a:spcBef>
                <a:spcPct val="0"/>
              </a:spcBef>
              <a:buFont typeface="Arial"/>
              <a:buChar char="•"/>
            </a:pPr>
            <a:r>
              <a:rPr lang="en-US" sz="3155">
                <a:solidFill>
                  <a:srgbClr val="000000"/>
                </a:solidFill>
                <a:latin typeface="Open Sans"/>
                <a:ea typeface="Open Sans"/>
                <a:cs typeface="Open Sans"/>
                <a:sym typeface="Open Sans"/>
              </a:rPr>
              <a:t> (to segment the darkest areas likely to be pores)</a:t>
            </a:r>
          </a:p>
          <a:p>
            <a:pPr marL="681165" lvl="1" indent="-340583" algn="l">
              <a:lnSpc>
                <a:spcPts val="4417"/>
              </a:lnSpc>
              <a:spcBef>
                <a:spcPct val="0"/>
              </a:spcBef>
              <a:buFont typeface="Arial"/>
              <a:buChar char="•"/>
            </a:pPr>
            <a:r>
              <a:rPr lang="en-US" sz="3155">
                <a:solidFill>
                  <a:srgbClr val="000000"/>
                </a:solidFill>
                <a:latin typeface="Open Sans"/>
                <a:ea typeface="Open Sans"/>
                <a:cs typeface="Open Sans"/>
                <a:sym typeface="Open Sans"/>
              </a:rPr>
              <a:t>Kerogen cut-off (Kcutoff) = VP2 - W</a:t>
            </a:r>
          </a:p>
          <a:p>
            <a:pPr marL="681165" lvl="1" indent="-340583" algn="l">
              <a:lnSpc>
                <a:spcPts val="4417"/>
              </a:lnSpc>
              <a:spcBef>
                <a:spcPct val="0"/>
              </a:spcBef>
              <a:buFont typeface="Arial"/>
              <a:buChar char="•"/>
            </a:pPr>
            <a:r>
              <a:rPr lang="en-US" sz="3155">
                <a:solidFill>
                  <a:srgbClr val="000000"/>
                </a:solidFill>
                <a:latin typeface="Open Sans"/>
                <a:ea typeface="Open Sans"/>
                <a:cs typeface="Open Sans"/>
                <a:sym typeface="Open Sans"/>
              </a:rPr>
              <a:t> (to isolate kerogen)</a:t>
            </a:r>
          </a:p>
          <a:p>
            <a:pPr marL="681165" lvl="1" indent="-340583" algn="l">
              <a:lnSpc>
                <a:spcPts val="4417"/>
              </a:lnSpc>
              <a:spcBef>
                <a:spcPct val="0"/>
              </a:spcBef>
              <a:buFont typeface="Arial"/>
              <a:buChar char="•"/>
            </a:pPr>
            <a:r>
              <a:rPr lang="en-US" sz="3155">
                <a:solidFill>
                  <a:srgbClr val="000000"/>
                </a:solidFill>
                <a:latin typeface="Open Sans"/>
                <a:ea typeface="Open Sans"/>
                <a:cs typeface="Open Sans"/>
                <a:sym typeface="Open Sans"/>
              </a:rPr>
              <a:t>Bright mineral cut-off (Mcutoff) = VP2 + W</a:t>
            </a:r>
          </a:p>
          <a:p>
            <a:pPr marL="681165" lvl="1" indent="-340583" algn="l">
              <a:lnSpc>
                <a:spcPts val="4417"/>
              </a:lnSpc>
              <a:spcBef>
                <a:spcPct val="0"/>
              </a:spcBef>
              <a:buFont typeface="Arial"/>
              <a:buChar char="•"/>
            </a:pPr>
            <a:r>
              <a:rPr lang="en-US" sz="3155">
                <a:solidFill>
                  <a:srgbClr val="000000"/>
                </a:solidFill>
                <a:latin typeface="Open Sans"/>
                <a:ea typeface="Open Sans"/>
                <a:cs typeface="Open Sans"/>
                <a:sym typeface="Open Sans"/>
              </a:rPr>
              <a:t> (to isolate very bright mineral regions)</a:t>
            </a:r>
          </a:p>
          <a:p>
            <a:pPr algn="l">
              <a:lnSpc>
                <a:spcPts val="4015"/>
              </a:lnSpc>
              <a:spcBef>
                <a:spcPct val="0"/>
              </a:spcBef>
            </a:pPr>
            <a:endParaRPr lang="en-US" sz="3155">
              <a:solidFill>
                <a:srgbClr val="000000"/>
              </a:solidFill>
              <a:latin typeface="Open Sans"/>
              <a:ea typeface="Open Sans"/>
              <a:cs typeface="Open Sans"/>
              <a:sym typeface="Open Sans"/>
            </a:endParaRPr>
          </a:p>
        </p:txBody>
      </p:sp>
      <p:sp>
        <p:nvSpPr>
          <p:cNvPr id="14" name="TextBox 14"/>
          <p:cNvSpPr txBox="1"/>
          <p:nvPr/>
        </p:nvSpPr>
        <p:spPr>
          <a:xfrm>
            <a:off x="2059010" y="6359412"/>
            <a:ext cx="13658454" cy="2887981"/>
          </a:xfrm>
          <a:prstGeom prst="rect">
            <a:avLst/>
          </a:prstGeom>
        </p:spPr>
        <p:txBody>
          <a:bodyPr lIns="0" tIns="0" rIns="0" bIns="0" rtlCol="0" anchor="t">
            <a:spAutoFit/>
          </a:bodyPr>
          <a:lstStyle/>
          <a:p>
            <a:pPr algn="l">
              <a:lnSpc>
                <a:spcPts val="4619"/>
              </a:lnSpc>
            </a:pPr>
            <a:r>
              <a:rPr lang="en-US" sz="3299" b="1">
                <a:solidFill>
                  <a:srgbClr val="000000"/>
                </a:solidFill>
                <a:latin typeface="Open Sans Bold"/>
                <a:ea typeface="Open Sans Bold"/>
                <a:cs typeface="Open Sans Bold"/>
                <a:sym typeface="Open Sans Bold"/>
              </a:rPr>
              <a:t>Step 4: Segment Initial Images</a:t>
            </a:r>
          </a:p>
          <a:p>
            <a:pPr marL="712462" lvl="1" indent="-356231" algn="l">
              <a:lnSpc>
                <a:spcPts val="4619"/>
              </a:lnSpc>
              <a:spcBef>
                <a:spcPct val="0"/>
              </a:spcBef>
              <a:buFont typeface="Arial"/>
              <a:buChar char="•"/>
            </a:pPr>
            <a:r>
              <a:rPr lang="en-US" sz="3299">
                <a:solidFill>
                  <a:srgbClr val="000000"/>
                </a:solidFill>
                <a:latin typeface="Open Sans"/>
                <a:ea typeface="Open Sans"/>
                <a:cs typeface="Open Sans"/>
                <a:sym typeface="Open Sans"/>
              </a:rPr>
              <a:t>Segment image using these cut-offs to create:</a:t>
            </a:r>
          </a:p>
          <a:p>
            <a:pPr marL="1424924" lvl="2" indent="-474975" algn="l">
              <a:lnSpc>
                <a:spcPts val="4619"/>
              </a:lnSpc>
              <a:spcBef>
                <a:spcPct val="0"/>
              </a:spcBef>
              <a:buFont typeface="Arial"/>
              <a:buChar char="⚬"/>
            </a:pPr>
            <a:r>
              <a:rPr lang="en-US" sz="3299">
                <a:solidFill>
                  <a:srgbClr val="000000"/>
                </a:solidFill>
                <a:latin typeface="Open Sans"/>
                <a:ea typeface="Open Sans"/>
                <a:cs typeface="Open Sans"/>
                <a:sym typeface="Open Sans"/>
              </a:rPr>
              <a:t>Initial pore image (darkest parts below Pcutoff)</a:t>
            </a:r>
          </a:p>
          <a:p>
            <a:pPr marL="1424924" lvl="2" indent="-474975" algn="l">
              <a:lnSpc>
                <a:spcPts val="4619"/>
              </a:lnSpc>
              <a:spcBef>
                <a:spcPct val="0"/>
              </a:spcBef>
              <a:buFont typeface="Arial"/>
              <a:buChar char="⚬"/>
            </a:pPr>
            <a:r>
              <a:rPr lang="en-US" sz="3299">
                <a:solidFill>
                  <a:srgbClr val="000000"/>
                </a:solidFill>
                <a:latin typeface="Open Sans"/>
                <a:ea typeface="Open Sans"/>
                <a:cs typeface="Open Sans"/>
                <a:sym typeface="Open Sans"/>
              </a:rPr>
              <a:t>Initial kerogen-pore image (areas between Pcutoff and Kcutoff)</a:t>
            </a:r>
          </a:p>
          <a:p>
            <a:pPr algn="l">
              <a:lnSpc>
                <a:spcPts val="4619"/>
              </a:lnSpc>
              <a:spcBef>
                <a:spcPct val="0"/>
              </a:spcBef>
            </a:pPr>
            <a:endParaRPr lang="en-US" sz="3299">
              <a:solidFill>
                <a:srgbClr val="000000"/>
              </a:solidFill>
              <a:latin typeface="Open Sans"/>
              <a:ea typeface="Open Sans"/>
              <a:cs typeface="Open Sans"/>
              <a:sym typeface="Open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1846238" y="5253083"/>
            <a:ext cx="7020610" cy="1637347"/>
          </a:xfrm>
          <a:custGeom>
            <a:avLst/>
            <a:gdLst/>
            <a:ahLst/>
            <a:cxnLst/>
            <a:rect l="l" t="t" r="r" b="b"/>
            <a:pathLst>
              <a:path w="7020610" h="1637347">
                <a:moveTo>
                  <a:pt x="0" y="0"/>
                </a:moveTo>
                <a:lnTo>
                  <a:pt x="7020610" y="0"/>
                </a:lnTo>
                <a:lnTo>
                  <a:pt x="7020610" y="1637348"/>
                </a:lnTo>
                <a:lnTo>
                  <a:pt x="0" y="1637348"/>
                </a:lnTo>
                <a:lnTo>
                  <a:pt x="0" y="0"/>
                </a:lnTo>
                <a:close/>
              </a:path>
            </a:pathLst>
          </a:custGeom>
          <a:blipFill>
            <a:blip r:embed="rId3"/>
            <a:stretch>
              <a:fillRect l="-3648" r="-2029"/>
            </a:stretch>
          </a:blipFill>
        </p:spPr>
      </p:sp>
      <p:sp>
        <p:nvSpPr>
          <p:cNvPr id="14" name="Freeform 14"/>
          <p:cNvSpPr/>
          <p:nvPr/>
        </p:nvSpPr>
        <p:spPr>
          <a:xfrm>
            <a:off x="1846238" y="6666131"/>
            <a:ext cx="6031451" cy="2592169"/>
          </a:xfrm>
          <a:custGeom>
            <a:avLst/>
            <a:gdLst/>
            <a:ahLst/>
            <a:cxnLst/>
            <a:rect l="l" t="t" r="r" b="b"/>
            <a:pathLst>
              <a:path w="6031451" h="2592169">
                <a:moveTo>
                  <a:pt x="0" y="0"/>
                </a:moveTo>
                <a:lnTo>
                  <a:pt x="6031451" y="0"/>
                </a:lnTo>
                <a:lnTo>
                  <a:pt x="6031451" y="2592169"/>
                </a:lnTo>
                <a:lnTo>
                  <a:pt x="0" y="2592169"/>
                </a:lnTo>
                <a:lnTo>
                  <a:pt x="0" y="0"/>
                </a:lnTo>
                <a:close/>
              </a:path>
            </a:pathLst>
          </a:custGeom>
          <a:blipFill>
            <a:blip r:embed="rId4"/>
            <a:stretch>
              <a:fillRect/>
            </a:stretch>
          </a:blipFill>
        </p:spPr>
      </p:sp>
      <p:sp>
        <p:nvSpPr>
          <p:cNvPr id="15" name="Freeform 15"/>
          <p:cNvSpPr/>
          <p:nvPr/>
        </p:nvSpPr>
        <p:spPr>
          <a:xfrm>
            <a:off x="9028641" y="7025037"/>
            <a:ext cx="8655657" cy="2444921"/>
          </a:xfrm>
          <a:custGeom>
            <a:avLst/>
            <a:gdLst/>
            <a:ahLst/>
            <a:cxnLst/>
            <a:rect l="l" t="t" r="r" b="b"/>
            <a:pathLst>
              <a:path w="8655657" h="2444921">
                <a:moveTo>
                  <a:pt x="0" y="0"/>
                </a:moveTo>
                <a:lnTo>
                  <a:pt x="8655657" y="0"/>
                </a:lnTo>
                <a:lnTo>
                  <a:pt x="8655657" y="2444921"/>
                </a:lnTo>
                <a:lnTo>
                  <a:pt x="0" y="2444921"/>
                </a:lnTo>
                <a:lnTo>
                  <a:pt x="0" y="0"/>
                </a:lnTo>
                <a:close/>
              </a:path>
            </a:pathLst>
          </a:custGeom>
          <a:blipFill>
            <a:blip r:embed="rId5"/>
            <a:stretch>
              <a:fillRect l="-1332"/>
            </a:stretch>
          </a:blipFill>
        </p:spPr>
      </p:sp>
      <p:sp>
        <p:nvSpPr>
          <p:cNvPr id="16" name="TextBox 16"/>
          <p:cNvSpPr txBox="1"/>
          <p:nvPr/>
        </p:nvSpPr>
        <p:spPr>
          <a:xfrm>
            <a:off x="1846238" y="1744447"/>
            <a:ext cx="13618369" cy="2706270"/>
          </a:xfrm>
          <a:prstGeom prst="rect">
            <a:avLst/>
          </a:prstGeom>
        </p:spPr>
        <p:txBody>
          <a:bodyPr lIns="0" tIns="0" rIns="0" bIns="0" rtlCol="0" anchor="t">
            <a:spAutoFit/>
          </a:bodyPr>
          <a:lstStyle/>
          <a:p>
            <a:pPr algn="l">
              <a:lnSpc>
                <a:spcPts val="4800"/>
              </a:lnSpc>
              <a:spcBef>
                <a:spcPct val="0"/>
              </a:spcBef>
            </a:pPr>
            <a:r>
              <a:rPr lang="en-US" sz="3428" b="1">
                <a:solidFill>
                  <a:srgbClr val="000000"/>
                </a:solidFill>
                <a:latin typeface="Open Sans Bold"/>
                <a:ea typeface="Open Sans Bold"/>
                <a:cs typeface="Open Sans Bold"/>
                <a:sym typeface="Open Sans Bold"/>
              </a:rPr>
              <a:t>Step 5: Region Classification Using Qsti (Shape–Topology Index)</a:t>
            </a:r>
          </a:p>
          <a:p>
            <a:pPr algn="l">
              <a:lnSpc>
                <a:spcPts val="4100"/>
              </a:lnSpc>
              <a:spcBef>
                <a:spcPct val="0"/>
              </a:spcBef>
            </a:pPr>
            <a:r>
              <a:rPr lang="en-US" sz="2928">
                <a:solidFill>
                  <a:srgbClr val="000000"/>
                </a:solidFill>
                <a:latin typeface="Open Sans"/>
                <a:ea typeface="Open Sans"/>
                <a:cs typeface="Open Sans"/>
                <a:sym typeface="Open Sans"/>
              </a:rPr>
              <a:t>Qsti is a special shape-based index used to distinguish between:</a:t>
            </a:r>
          </a:p>
          <a:p>
            <a:pPr marL="632362" lvl="1" indent="-316181" algn="l">
              <a:lnSpc>
                <a:spcPts val="4100"/>
              </a:lnSpc>
              <a:buFont typeface="Arial"/>
              <a:buChar char="•"/>
            </a:pPr>
            <a:r>
              <a:rPr lang="en-US" sz="2928">
                <a:solidFill>
                  <a:srgbClr val="000000"/>
                </a:solidFill>
                <a:latin typeface="Open Sans"/>
                <a:ea typeface="Open Sans"/>
                <a:cs typeface="Open Sans"/>
                <a:sym typeface="Open Sans"/>
              </a:rPr>
              <a:t>Kerogen regions (solid, compact organic matter), and</a:t>
            </a:r>
          </a:p>
          <a:p>
            <a:pPr marL="632362" lvl="1" indent="-316181" algn="l">
              <a:lnSpc>
                <a:spcPts val="4100"/>
              </a:lnSpc>
              <a:buFont typeface="Arial"/>
              <a:buChar char="•"/>
            </a:pPr>
            <a:r>
              <a:rPr lang="en-US" sz="2928">
                <a:solidFill>
                  <a:srgbClr val="000000"/>
                </a:solidFill>
                <a:latin typeface="Open Sans"/>
                <a:ea typeface="Open Sans"/>
                <a:cs typeface="Open Sans"/>
                <a:sym typeface="Open Sans"/>
              </a:rPr>
              <a:t>Mineral pores (large, irregular voids)</a:t>
            </a:r>
          </a:p>
          <a:p>
            <a:pPr algn="l">
              <a:lnSpc>
                <a:spcPts val="4520"/>
              </a:lnSpc>
              <a:spcBef>
                <a:spcPct val="0"/>
              </a:spcBef>
            </a:pPr>
            <a:endParaRPr lang="en-US" sz="2928">
              <a:solidFill>
                <a:srgbClr val="000000"/>
              </a:solidFill>
              <a:latin typeface="Open Sans"/>
              <a:ea typeface="Open Sans"/>
              <a:cs typeface="Open Sans"/>
              <a:sym typeface="Open Sans"/>
            </a:endParaRPr>
          </a:p>
        </p:txBody>
      </p:sp>
      <p:sp>
        <p:nvSpPr>
          <p:cNvPr id="17" name="TextBox 17"/>
          <p:cNvSpPr txBox="1"/>
          <p:nvPr/>
        </p:nvSpPr>
        <p:spPr>
          <a:xfrm>
            <a:off x="2024186" y="4638677"/>
            <a:ext cx="2852613" cy="454804"/>
          </a:xfrm>
          <a:prstGeom prst="rect">
            <a:avLst/>
          </a:prstGeom>
        </p:spPr>
        <p:txBody>
          <a:bodyPr wrap="square" lIns="0" tIns="0" rIns="0" bIns="0" rtlCol="0" anchor="t">
            <a:spAutoFit/>
          </a:bodyPr>
          <a:lstStyle/>
          <a:p>
            <a:pPr algn="ctr">
              <a:lnSpc>
                <a:spcPts val="3779"/>
              </a:lnSpc>
              <a:spcBef>
                <a:spcPct val="0"/>
              </a:spcBef>
            </a:pPr>
            <a:r>
              <a:rPr lang="en-US" sz="2699" b="1" dirty="0" err="1">
                <a:solidFill>
                  <a:srgbClr val="000000"/>
                </a:solidFill>
                <a:latin typeface="Open Sans Bold"/>
                <a:ea typeface="Open Sans Bold"/>
                <a:cs typeface="Open Sans Bold"/>
                <a:sym typeface="Open Sans Bold"/>
              </a:rPr>
              <a:t>Qsti</a:t>
            </a:r>
            <a:r>
              <a:rPr lang="en-US" sz="2699" b="1" dirty="0">
                <a:solidFill>
                  <a:srgbClr val="000000"/>
                </a:solidFill>
                <a:latin typeface="Open Sans Bold"/>
                <a:ea typeface="Open Sans Bold"/>
                <a:cs typeface="Open Sans Bold"/>
                <a:sym typeface="Open Sans Bold"/>
              </a:rPr>
              <a:t>  Formula:</a:t>
            </a:r>
          </a:p>
        </p:txBody>
      </p:sp>
      <p:sp>
        <p:nvSpPr>
          <p:cNvPr id="18" name="TextBox 18"/>
          <p:cNvSpPr txBox="1"/>
          <p:nvPr/>
        </p:nvSpPr>
        <p:spPr>
          <a:xfrm>
            <a:off x="9028641" y="4638677"/>
            <a:ext cx="8068866" cy="2072134"/>
          </a:xfrm>
          <a:prstGeom prst="rect">
            <a:avLst/>
          </a:prstGeom>
        </p:spPr>
        <p:txBody>
          <a:bodyPr lIns="0" tIns="0" rIns="0" bIns="0" rtlCol="0" anchor="t">
            <a:spAutoFit/>
          </a:bodyPr>
          <a:lstStyle/>
          <a:p>
            <a:pPr algn="l">
              <a:lnSpc>
                <a:spcPts val="3787"/>
              </a:lnSpc>
              <a:spcBef>
                <a:spcPct val="0"/>
              </a:spcBef>
            </a:pPr>
            <a:r>
              <a:rPr lang="en-US" sz="2705" b="1">
                <a:solidFill>
                  <a:srgbClr val="000000"/>
                </a:solidFill>
                <a:latin typeface="Open Sans Bold"/>
                <a:ea typeface="Open Sans Bold"/>
                <a:cs typeface="Open Sans Bold"/>
                <a:sym typeface="Open Sans Bold"/>
              </a:rPr>
              <a:t>How It Works:</a:t>
            </a:r>
          </a:p>
          <a:p>
            <a:pPr algn="l">
              <a:lnSpc>
                <a:spcPts val="2988"/>
              </a:lnSpc>
              <a:spcBef>
                <a:spcPct val="0"/>
              </a:spcBef>
            </a:pPr>
            <a:r>
              <a:rPr lang="en-US" sz="2134">
                <a:solidFill>
                  <a:srgbClr val="000000"/>
                </a:solidFill>
                <a:latin typeface="Open Sans"/>
                <a:ea typeface="Open Sans"/>
                <a:cs typeface="Open Sans"/>
                <a:sym typeface="Open Sans"/>
              </a:rPr>
              <a:t>Numerator measures:  how pore-dominated the region is.</a:t>
            </a:r>
          </a:p>
          <a:p>
            <a:pPr algn="l">
              <a:lnSpc>
                <a:spcPts val="3408"/>
              </a:lnSpc>
              <a:spcBef>
                <a:spcPct val="0"/>
              </a:spcBef>
            </a:pPr>
            <a:r>
              <a:rPr lang="en-US" sz="2434">
                <a:solidFill>
                  <a:srgbClr val="000000"/>
                </a:solidFill>
                <a:latin typeface="Open Sans"/>
                <a:ea typeface="Open Sans"/>
                <a:cs typeface="Open Sans"/>
                <a:sym typeface="Open Sans"/>
              </a:rPr>
              <a:t>Denominator measures: how irregular or elongated the </a:t>
            </a:r>
          </a:p>
          <a:p>
            <a:pPr algn="l">
              <a:lnSpc>
                <a:spcPts val="3408"/>
              </a:lnSpc>
              <a:spcBef>
                <a:spcPct val="0"/>
              </a:spcBef>
            </a:pPr>
            <a:r>
              <a:rPr lang="en-US" sz="2434">
                <a:solidFill>
                  <a:srgbClr val="000000"/>
                </a:solidFill>
                <a:latin typeface="Open Sans"/>
                <a:ea typeface="Open Sans"/>
                <a:cs typeface="Open Sans"/>
                <a:sym typeface="Open Sans"/>
              </a:rPr>
              <a:t>region is.</a:t>
            </a:r>
          </a:p>
          <a:p>
            <a:pPr algn="l">
              <a:lnSpc>
                <a:spcPts val="2988"/>
              </a:lnSpc>
              <a:spcBef>
                <a:spcPct val="0"/>
              </a:spcBef>
            </a:pPr>
            <a:r>
              <a:rPr lang="en-US" sz="2134">
                <a:solidFill>
                  <a:srgbClr val="000000"/>
                </a:solidFill>
                <a:latin typeface="Open Sans"/>
                <a:ea typeface="Open Sans"/>
                <a:cs typeface="Open Sans"/>
                <a:sym typeface="Open Sans"/>
              </a:rPr>
              <a:t>The final Qsti value quantifies both shape and content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1995215" y="1663725"/>
            <a:ext cx="11676063" cy="2785746"/>
          </a:xfrm>
          <a:prstGeom prst="rect">
            <a:avLst/>
          </a:prstGeom>
        </p:spPr>
        <p:txBody>
          <a:bodyPr lIns="0" tIns="0" rIns="0" bIns="0" rtlCol="0" anchor="t">
            <a:spAutoFit/>
          </a:bodyPr>
          <a:lstStyle/>
          <a:p>
            <a:pPr algn="l">
              <a:lnSpc>
                <a:spcPts val="4479"/>
              </a:lnSpc>
              <a:spcBef>
                <a:spcPct val="0"/>
              </a:spcBef>
            </a:pPr>
            <a:r>
              <a:rPr lang="en-US" sz="3199" b="1">
                <a:solidFill>
                  <a:srgbClr val="000000"/>
                </a:solidFill>
                <a:latin typeface="Open Sans Bold"/>
                <a:ea typeface="Open Sans Bold"/>
                <a:cs typeface="Open Sans Bold"/>
                <a:sym typeface="Open Sans Bold"/>
              </a:rPr>
              <a:t>Step 6: Extract Kerogen Region</a:t>
            </a:r>
          </a:p>
          <a:p>
            <a:pPr marL="690872" lvl="1" indent="-345436" algn="l">
              <a:lnSpc>
                <a:spcPts val="4479"/>
              </a:lnSpc>
              <a:spcBef>
                <a:spcPct val="0"/>
              </a:spcBef>
              <a:buFont typeface="Arial"/>
              <a:buChar char="•"/>
            </a:pPr>
            <a:r>
              <a:rPr lang="en-US" sz="3199">
                <a:solidFill>
                  <a:srgbClr val="000000"/>
                </a:solidFill>
                <a:latin typeface="Open Sans"/>
                <a:ea typeface="Open Sans"/>
                <a:cs typeface="Open Sans"/>
                <a:sym typeface="Open Sans"/>
              </a:rPr>
              <a:t>Fill and clean up the kerogen regions.</a:t>
            </a:r>
          </a:p>
          <a:p>
            <a:pPr marL="690872" lvl="1" indent="-345436" algn="l">
              <a:lnSpc>
                <a:spcPts val="4479"/>
              </a:lnSpc>
              <a:spcBef>
                <a:spcPct val="0"/>
              </a:spcBef>
              <a:buFont typeface="Arial"/>
              <a:buChar char="•"/>
            </a:pPr>
            <a:r>
              <a:rPr lang="en-US" sz="3199">
                <a:solidFill>
                  <a:srgbClr val="000000"/>
                </a:solidFill>
                <a:latin typeface="Open Sans"/>
                <a:ea typeface="Open Sans"/>
                <a:cs typeface="Open Sans"/>
                <a:sym typeface="Open Sans"/>
              </a:rPr>
              <a:t>Remove bright minerals from kerogen map using Mcutoff.</a:t>
            </a:r>
          </a:p>
          <a:p>
            <a:pPr marL="690872" lvl="1" indent="-345436" algn="l">
              <a:lnSpc>
                <a:spcPts val="4479"/>
              </a:lnSpc>
              <a:spcBef>
                <a:spcPct val="0"/>
              </a:spcBef>
              <a:buFont typeface="Arial"/>
              <a:buChar char="•"/>
            </a:pPr>
            <a:r>
              <a:rPr lang="en-US" sz="3199">
                <a:solidFill>
                  <a:srgbClr val="000000"/>
                </a:solidFill>
                <a:latin typeface="Open Sans"/>
                <a:ea typeface="Open Sans"/>
                <a:cs typeface="Open Sans"/>
                <a:sym typeface="Open Sans"/>
              </a:rPr>
              <a:t>Final kerogen map = kerogen area – bright minerals.</a:t>
            </a:r>
          </a:p>
          <a:p>
            <a:pPr algn="l">
              <a:lnSpc>
                <a:spcPts val="4479"/>
              </a:lnSpc>
              <a:spcBef>
                <a:spcPct val="0"/>
              </a:spcBef>
            </a:pPr>
            <a:endParaRPr lang="en-US" sz="3199">
              <a:solidFill>
                <a:srgbClr val="000000"/>
              </a:solidFill>
              <a:latin typeface="Open Sans"/>
              <a:ea typeface="Open Sans"/>
              <a:cs typeface="Open Sans"/>
              <a:sym typeface="Open Sans"/>
            </a:endParaRPr>
          </a:p>
        </p:txBody>
      </p:sp>
      <p:sp>
        <p:nvSpPr>
          <p:cNvPr id="14" name="TextBox 14"/>
          <p:cNvSpPr txBox="1"/>
          <p:nvPr/>
        </p:nvSpPr>
        <p:spPr>
          <a:xfrm>
            <a:off x="1993503" y="5369724"/>
            <a:ext cx="14300995" cy="2223771"/>
          </a:xfrm>
          <a:prstGeom prst="rect">
            <a:avLst/>
          </a:prstGeom>
        </p:spPr>
        <p:txBody>
          <a:bodyPr lIns="0" tIns="0" rIns="0" bIns="0" rtlCol="0" anchor="t">
            <a:spAutoFit/>
          </a:bodyPr>
          <a:lstStyle/>
          <a:p>
            <a:pPr algn="l">
              <a:lnSpc>
                <a:spcPts val="4479"/>
              </a:lnSpc>
              <a:spcBef>
                <a:spcPct val="0"/>
              </a:spcBef>
            </a:pPr>
            <a:r>
              <a:rPr lang="en-US" sz="3199" b="1">
                <a:solidFill>
                  <a:srgbClr val="000000"/>
                </a:solidFill>
                <a:latin typeface="Open Sans Bold"/>
                <a:ea typeface="Open Sans Bold"/>
                <a:cs typeface="Open Sans Bold"/>
                <a:sym typeface="Open Sans Bold"/>
              </a:rPr>
              <a:t>Step 7: Edge Detection on Kerogen</a:t>
            </a:r>
          </a:p>
          <a:p>
            <a:pPr marL="690872" lvl="1" indent="-345436" algn="l">
              <a:lnSpc>
                <a:spcPts val="4479"/>
              </a:lnSpc>
              <a:spcBef>
                <a:spcPct val="0"/>
              </a:spcBef>
              <a:buFont typeface="Arial"/>
              <a:buChar char="•"/>
            </a:pPr>
            <a:r>
              <a:rPr lang="en-US" sz="3199">
                <a:solidFill>
                  <a:srgbClr val="000000"/>
                </a:solidFill>
                <a:latin typeface="Open Sans"/>
                <a:ea typeface="Open Sans"/>
                <a:cs typeface="Open Sans"/>
                <a:sym typeface="Open Sans"/>
              </a:rPr>
              <a:t>Run edge detection on kerogen region to find kerogen pore boundaries </a:t>
            </a:r>
          </a:p>
          <a:p>
            <a:pPr algn="l">
              <a:lnSpc>
                <a:spcPts val="4479"/>
              </a:lnSpc>
            </a:pPr>
            <a:r>
              <a:rPr lang="en-US" sz="3199">
                <a:solidFill>
                  <a:srgbClr val="000000"/>
                </a:solidFill>
                <a:latin typeface="Open Sans"/>
                <a:ea typeface="Open Sans"/>
                <a:cs typeface="Open Sans"/>
                <a:sym typeface="Open Sans"/>
              </a:rPr>
              <a:t>(sharp changes in brightness).</a:t>
            </a:r>
          </a:p>
          <a:p>
            <a:pPr algn="l">
              <a:lnSpc>
                <a:spcPts val="4479"/>
              </a:lnSpc>
              <a:spcBef>
                <a:spcPct val="0"/>
              </a:spcBef>
            </a:pPr>
            <a:endParaRPr lang="en-US" sz="3199">
              <a:solidFill>
                <a:srgbClr val="000000"/>
              </a:solidFill>
              <a:latin typeface="Open Sans"/>
              <a:ea typeface="Open Sans"/>
              <a:cs typeface="Open Sans"/>
              <a:sym typeface="Open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2173823" y="1444710"/>
            <a:ext cx="14292204" cy="6636451"/>
          </a:xfrm>
          <a:prstGeom prst="rect">
            <a:avLst/>
          </a:prstGeom>
        </p:spPr>
        <p:txBody>
          <a:bodyPr lIns="0" tIns="0" rIns="0" bIns="0" rtlCol="0" anchor="t">
            <a:spAutoFit/>
          </a:bodyPr>
          <a:lstStyle/>
          <a:p>
            <a:pPr algn="l">
              <a:lnSpc>
                <a:spcPts val="4824"/>
              </a:lnSpc>
              <a:spcBef>
                <a:spcPct val="0"/>
              </a:spcBef>
            </a:pPr>
            <a:r>
              <a:rPr lang="en-US" sz="3446" b="1">
                <a:solidFill>
                  <a:srgbClr val="000000"/>
                </a:solidFill>
                <a:latin typeface="Open Sans Bold"/>
                <a:ea typeface="Open Sans Bold"/>
                <a:cs typeface="Open Sans Bold"/>
                <a:sym typeface="Open Sans Bold"/>
              </a:rPr>
              <a:t>Step 8: Apply Thresholds</a:t>
            </a:r>
          </a:p>
          <a:p>
            <a:pPr marL="744024" lvl="1" indent="-372012" algn="l">
              <a:lnSpc>
                <a:spcPts val="4824"/>
              </a:lnSpc>
              <a:spcBef>
                <a:spcPct val="0"/>
              </a:spcBef>
              <a:buFont typeface="Arial"/>
              <a:buChar char="•"/>
            </a:pPr>
            <a:r>
              <a:rPr lang="en-US" sz="3446">
                <a:solidFill>
                  <a:srgbClr val="000000"/>
                </a:solidFill>
                <a:latin typeface="Open Sans"/>
                <a:ea typeface="Open Sans"/>
                <a:cs typeface="Open Sans"/>
                <a:sym typeface="Open Sans"/>
              </a:rPr>
              <a:t>Try many brightness thresholds (from 5 to 100).</a:t>
            </a:r>
          </a:p>
          <a:p>
            <a:pPr marL="744024" lvl="1" indent="-372012" algn="l">
              <a:lnSpc>
                <a:spcPts val="4824"/>
              </a:lnSpc>
              <a:spcBef>
                <a:spcPct val="0"/>
              </a:spcBef>
              <a:buFont typeface="Arial"/>
              <a:buChar char="•"/>
            </a:pPr>
            <a:r>
              <a:rPr lang="en-US" sz="3446">
                <a:solidFill>
                  <a:srgbClr val="000000"/>
                </a:solidFill>
                <a:latin typeface="Open Sans"/>
                <a:ea typeface="Open Sans"/>
                <a:cs typeface="Open Sans"/>
                <a:sym typeface="Open Sans"/>
              </a:rPr>
              <a:t>For each one, compare:</a:t>
            </a:r>
          </a:p>
          <a:p>
            <a:pPr marL="1488048" lvl="2" indent="-496016" algn="l">
              <a:lnSpc>
                <a:spcPts val="4824"/>
              </a:lnSpc>
              <a:spcBef>
                <a:spcPct val="0"/>
              </a:spcBef>
              <a:buFont typeface="Arial"/>
              <a:buChar char="⚬"/>
            </a:pPr>
            <a:r>
              <a:rPr lang="en-US" sz="3446">
                <a:solidFill>
                  <a:srgbClr val="000000"/>
                </a:solidFill>
                <a:latin typeface="Open Sans"/>
                <a:ea typeface="Open Sans"/>
                <a:cs typeface="Open Sans"/>
                <a:sym typeface="Open Sans"/>
              </a:rPr>
              <a:t>Pixels inside the edge = Ainside</a:t>
            </a:r>
          </a:p>
          <a:p>
            <a:pPr marL="1488048" lvl="2" indent="-496016" algn="l">
              <a:lnSpc>
                <a:spcPts val="4824"/>
              </a:lnSpc>
              <a:spcBef>
                <a:spcPct val="0"/>
              </a:spcBef>
              <a:buFont typeface="Arial"/>
              <a:buChar char="⚬"/>
            </a:pPr>
            <a:r>
              <a:rPr lang="en-US" sz="3446">
                <a:solidFill>
                  <a:srgbClr val="000000"/>
                </a:solidFill>
                <a:latin typeface="Open Sans"/>
                <a:ea typeface="Open Sans"/>
                <a:cs typeface="Open Sans"/>
                <a:sym typeface="Open Sans"/>
              </a:rPr>
              <a:t>Pixels outside the edge = Aoutside</a:t>
            </a:r>
          </a:p>
          <a:p>
            <a:pPr marL="744024" lvl="1" indent="-372012" algn="l">
              <a:lnSpc>
                <a:spcPts val="4824"/>
              </a:lnSpc>
              <a:spcBef>
                <a:spcPct val="0"/>
              </a:spcBef>
              <a:buFont typeface="Arial"/>
              <a:buChar char="•"/>
            </a:pPr>
            <a:r>
              <a:rPr lang="en-US" sz="3446">
                <a:solidFill>
                  <a:srgbClr val="000000"/>
                </a:solidFill>
                <a:latin typeface="Open Sans"/>
                <a:ea typeface="Open Sans"/>
                <a:cs typeface="Open Sans"/>
                <a:sym typeface="Open Sans"/>
              </a:rPr>
              <a:t>Calculate a quality score (Qt):</a:t>
            </a:r>
          </a:p>
          <a:p>
            <a:pPr algn="l">
              <a:lnSpc>
                <a:spcPts val="4824"/>
              </a:lnSpc>
              <a:spcBef>
                <a:spcPct val="0"/>
              </a:spcBef>
            </a:pPr>
            <a:endParaRPr lang="en-US" sz="3446">
              <a:solidFill>
                <a:srgbClr val="000000"/>
              </a:solidFill>
              <a:latin typeface="Open Sans"/>
              <a:ea typeface="Open Sans"/>
              <a:cs typeface="Open Sans"/>
              <a:sym typeface="Open Sans"/>
            </a:endParaRPr>
          </a:p>
          <a:p>
            <a:pPr algn="l">
              <a:lnSpc>
                <a:spcPts val="4824"/>
              </a:lnSpc>
              <a:spcBef>
                <a:spcPct val="0"/>
              </a:spcBef>
            </a:pPr>
            <a:endParaRPr lang="en-US" sz="3446">
              <a:solidFill>
                <a:srgbClr val="000000"/>
              </a:solidFill>
              <a:latin typeface="Open Sans"/>
              <a:ea typeface="Open Sans"/>
              <a:cs typeface="Open Sans"/>
              <a:sym typeface="Open Sans"/>
            </a:endParaRPr>
          </a:p>
          <a:p>
            <a:pPr algn="l">
              <a:lnSpc>
                <a:spcPts val="4824"/>
              </a:lnSpc>
              <a:spcBef>
                <a:spcPct val="0"/>
              </a:spcBef>
            </a:pPr>
            <a:endParaRPr lang="en-US" sz="3446">
              <a:solidFill>
                <a:srgbClr val="000000"/>
              </a:solidFill>
              <a:latin typeface="Open Sans"/>
              <a:ea typeface="Open Sans"/>
              <a:cs typeface="Open Sans"/>
              <a:sym typeface="Open Sans"/>
            </a:endParaRPr>
          </a:p>
          <a:p>
            <a:pPr marL="744024" lvl="1" indent="-372012" algn="l">
              <a:lnSpc>
                <a:spcPts val="4824"/>
              </a:lnSpc>
              <a:spcBef>
                <a:spcPct val="0"/>
              </a:spcBef>
              <a:buFont typeface="Arial"/>
              <a:buChar char="•"/>
            </a:pPr>
            <a:r>
              <a:rPr lang="en-US" sz="3446">
                <a:solidFill>
                  <a:srgbClr val="000000"/>
                </a:solidFill>
                <a:latin typeface="Open Sans"/>
                <a:ea typeface="Open Sans"/>
                <a:cs typeface="Open Sans"/>
                <a:sym typeface="Open Sans"/>
              </a:rPr>
              <a:t>The threshold with highest Qt gives the best pore detection.</a:t>
            </a:r>
          </a:p>
          <a:p>
            <a:pPr algn="l">
              <a:lnSpc>
                <a:spcPts val="4824"/>
              </a:lnSpc>
              <a:spcBef>
                <a:spcPct val="0"/>
              </a:spcBef>
            </a:pPr>
            <a:endParaRPr lang="en-US" sz="3446">
              <a:solidFill>
                <a:srgbClr val="000000"/>
              </a:solidFill>
              <a:latin typeface="Open Sans"/>
              <a:ea typeface="Open Sans"/>
              <a:cs typeface="Open Sans"/>
              <a:sym typeface="Open Sans"/>
            </a:endParaRPr>
          </a:p>
        </p:txBody>
      </p:sp>
      <p:sp>
        <p:nvSpPr>
          <p:cNvPr id="14" name="Freeform 14"/>
          <p:cNvSpPr/>
          <p:nvPr/>
        </p:nvSpPr>
        <p:spPr>
          <a:xfrm>
            <a:off x="5788790" y="5143500"/>
            <a:ext cx="6224320" cy="1485349"/>
          </a:xfrm>
          <a:custGeom>
            <a:avLst/>
            <a:gdLst/>
            <a:ahLst/>
            <a:cxnLst/>
            <a:rect l="l" t="t" r="r" b="b"/>
            <a:pathLst>
              <a:path w="6224320" h="1485349">
                <a:moveTo>
                  <a:pt x="0" y="0"/>
                </a:moveTo>
                <a:lnTo>
                  <a:pt x="6224320" y="0"/>
                </a:lnTo>
                <a:lnTo>
                  <a:pt x="6224320" y="1485349"/>
                </a:lnTo>
                <a:lnTo>
                  <a:pt x="0" y="1485349"/>
                </a:lnTo>
                <a:lnTo>
                  <a:pt x="0" y="0"/>
                </a:lnTo>
                <a:close/>
              </a:path>
            </a:pathLst>
          </a:custGeom>
          <a:blipFill>
            <a:blip r:embed="rId3"/>
            <a:stretch>
              <a:fillRect/>
            </a:stretch>
          </a:blipFill>
        </p:spPr>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1914401" y="1655936"/>
            <a:ext cx="16373599" cy="4686301"/>
          </a:xfrm>
          <a:prstGeom prst="rect">
            <a:avLst/>
          </a:prstGeom>
        </p:spPr>
        <p:txBody>
          <a:bodyPr lIns="0" tIns="0" rIns="0" bIns="0" rtlCol="0" anchor="t">
            <a:spAutoFit/>
          </a:bodyPr>
          <a:lstStyle/>
          <a:p>
            <a:pPr algn="l">
              <a:lnSpc>
                <a:spcPts val="4199"/>
              </a:lnSpc>
              <a:spcBef>
                <a:spcPct val="0"/>
              </a:spcBef>
            </a:pPr>
            <a:r>
              <a:rPr lang="en-US" sz="2999" b="1">
                <a:solidFill>
                  <a:srgbClr val="000000"/>
                </a:solidFill>
                <a:latin typeface="Open Sans Bold"/>
                <a:ea typeface="Open Sans Bold"/>
                <a:cs typeface="Open Sans Bold"/>
                <a:sym typeface="Open Sans Bold"/>
              </a:rPr>
              <a:t>Step 9: Combine Both Pore Images</a:t>
            </a:r>
          </a:p>
          <a:p>
            <a:pPr marL="647694" lvl="1" indent="-323847" algn="l">
              <a:lnSpc>
                <a:spcPts val="4199"/>
              </a:lnSpc>
              <a:spcBef>
                <a:spcPct val="0"/>
              </a:spcBef>
              <a:buFont typeface="Arial"/>
              <a:buChar char="•"/>
            </a:pPr>
            <a:r>
              <a:rPr lang="en-US" sz="2999">
                <a:solidFill>
                  <a:srgbClr val="000000"/>
                </a:solidFill>
                <a:latin typeface="Open Sans"/>
                <a:ea typeface="Open Sans"/>
                <a:cs typeface="Open Sans"/>
                <a:sym typeface="Open Sans"/>
              </a:rPr>
              <a:t>Merge the edge-detected pores with thresholded pores to:</a:t>
            </a:r>
          </a:p>
          <a:p>
            <a:pPr marL="1295387" lvl="2" indent="-431796" algn="l">
              <a:lnSpc>
                <a:spcPts val="4199"/>
              </a:lnSpc>
              <a:spcBef>
                <a:spcPct val="0"/>
              </a:spcBef>
              <a:buFont typeface="Arial"/>
              <a:buChar char="⚬"/>
            </a:pPr>
            <a:r>
              <a:rPr lang="en-US" sz="2999">
                <a:solidFill>
                  <a:srgbClr val="000000"/>
                </a:solidFill>
                <a:latin typeface="Open Sans"/>
                <a:ea typeface="Open Sans"/>
                <a:cs typeface="Open Sans"/>
                <a:sym typeface="Open Sans"/>
              </a:rPr>
              <a:t>Fill in missing pores missed by edge detection.</a:t>
            </a:r>
          </a:p>
          <a:p>
            <a:pPr marL="1295387" lvl="2" indent="-431796" algn="l">
              <a:lnSpc>
                <a:spcPts val="4199"/>
              </a:lnSpc>
              <a:spcBef>
                <a:spcPct val="0"/>
              </a:spcBef>
              <a:buFont typeface="Arial"/>
              <a:buChar char="⚬"/>
            </a:pPr>
            <a:r>
              <a:rPr lang="en-US" sz="2999">
                <a:solidFill>
                  <a:srgbClr val="000000"/>
                </a:solidFill>
                <a:latin typeface="Open Sans"/>
                <a:ea typeface="Open Sans"/>
                <a:cs typeface="Open Sans"/>
                <a:sym typeface="Open Sans"/>
              </a:rPr>
              <a:t>Reduce false detections from thresholding alone.</a:t>
            </a:r>
          </a:p>
          <a:p>
            <a:pPr algn="l">
              <a:lnSpc>
                <a:spcPts val="4199"/>
              </a:lnSpc>
              <a:spcBef>
                <a:spcPct val="0"/>
              </a:spcBef>
            </a:pPr>
            <a:r>
              <a:rPr lang="en-US" sz="2999" b="1">
                <a:solidFill>
                  <a:srgbClr val="000000"/>
                </a:solidFill>
                <a:latin typeface="Open Sans Bold"/>
                <a:ea typeface="Open Sans Bold"/>
                <a:cs typeface="Open Sans Bold"/>
                <a:sym typeface="Open Sans Bold"/>
              </a:rPr>
              <a:t>Step 10: Final Result</a:t>
            </a:r>
          </a:p>
          <a:p>
            <a:pPr marL="647694" lvl="1" indent="-323847" algn="l">
              <a:lnSpc>
                <a:spcPts val="4199"/>
              </a:lnSpc>
              <a:spcBef>
                <a:spcPct val="0"/>
              </a:spcBef>
              <a:buFont typeface="Arial"/>
              <a:buChar char="•"/>
            </a:pPr>
            <a:r>
              <a:rPr lang="en-US" sz="2999">
                <a:solidFill>
                  <a:srgbClr val="000000"/>
                </a:solidFill>
                <a:latin typeface="Open Sans"/>
                <a:ea typeface="Open Sans"/>
                <a:cs typeface="Open Sans"/>
                <a:sym typeface="Open Sans"/>
              </a:rPr>
              <a:t>Combine organic pores (in kerogen) and inorganic pores (in mineral region).</a:t>
            </a:r>
          </a:p>
          <a:p>
            <a:pPr marL="647694" lvl="1" indent="-323847" algn="l">
              <a:lnSpc>
                <a:spcPts val="4199"/>
              </a:lnSpc>
              <a:spcBef>
                <a:spcPct val="0"/>
              </a:spcBef>
              <a:buFont typeface="Arial"/>
              <a:buChar char="•"/>
            </a:pPr>
            <a:r>
              <a:rPr lang="en-US" sz="2999">
                <a:solidFill>
                  <a:srgbClr val="000000"/>
                </a:solidFill>
                <a:latin typeface="Open Sans"/>
                <a:ea typeface="Open Sans"/>
                <a:cs typeface="Open Sans"/>
                <a:sym typeface="Open Sans"/>
              </a:rPr>
              <a:t>You now have a final segmented image showing both types of pores separately and clearly.</a:t>
            </a:r>
          </a:p>
          <a:p>
            <a:pPr algn="l">
              <a:lnSpc>
                <a:spcPts val="4199"/>
              </a:lnSpc>
              <a:spcBef>
                <a:spcPct val="0"/>
              </a:spcBef>
            </a:pPr>
            <a:endParaRPr lang="en-US" sz="2999">
              <a:solidFill>
                <a:srgbClr val="000000"/>
              </a:solidFill>
              <a:latin typeface="Open Sans"/>
              <a:ea typeface="Open Sans"/>
              <a:cs typeface="Open Sans"/>
              <a:sym typeface="Open Sans"/>
            </a:endParaRPr>
          </a:p>
        </p:txBody>
      </p:sp>
      <p:sp>
        <p:nvSpPr>
          <p:cNvPr id="14" name="TextBox 14"/>
          <p:cNvSpPr txBox="1"/>
          <p:nvPr/>
        </p:nvSpPr>
        <p:spPr>
          <a:xfrm>
            <a:off x="1914401" y="6285087"/>
            <a:ext cx="13963550" cy="3124482"/>
          </a:xfrm>
          <a:prstGeom prst="rect">
            <a:avLst/>
          </a:prstGeom>
        </p:spPr>
        <p:txBody>
          <a:bodyPr lIns="0" tIns="0" rIns="0" bIns="0" rtlCol="0" anchor="t">
            <a:spAutoFit/>
          </a:bodyPr>
          <a:lstStyle/>
          <a:p>
            <a:pPr algn="l">
              <a:lnSpc>
                <a:spcPts val="4179"/>
              </a:lnSpc>
              <a:spcBef>
                <a:spcPct val="0"/>
              </a:spcBef>
            </a:pPr>
            <a:r>
              <a:rPr lang="en-US" sz="2985" b="1">
                <a:solidFill>
                  <a:srgbClr val="000000"/>
                </a:solidFill>
                <a:latin typeface="Open Sans Bold"/>
                <a:ea typeface="Open Sans Bold"/>
                <a:cs typeface="Open Sans Bold"/>
                <a:sym typeface="Open Sans Bold"/>
              </a:rPr>
              <a:t>Advantages of ETAP:</a:t>
            </a:r>
          </a:p>
          <a:p>
            <a:pPr marL="644598" lvl="1" indent="-322299" algn="l">
              <a:lnSpc>
                <a:spcPts val="4179"/>
              </a:lnSpc>
              <a:spcBef>
                <a:spcPct val="0"/>
              </a:spcBef>
              <a:buFont typeface="Arial"/>
              <a:buChar char="•"/>
            </a:pPr>
            <a:r>
              <a:rPr lang="en-US" sz="2985">
                <a:solidFill>
                  <a:srgbClr val="000000"/>
                </a:solidFill>
                <a:latin typeface="Open Sans"/>
                <a:ea typeface="Open Sans"/>
                <a:cs typeface="Open Sans"/>
                <a:sym typeface="Open Sans"/>
              </a:rPr>
              <a:t>More accurate than threshold or edge detection alone.</a:t>
            </a:r>
          </a:p>
          <a:p>
            <a:pPr marL="644598" lvl="1" indent="-322299" algn="l">
              <a:lnSpc>
                <a:spcPts val="4179"/>
              </a:lnSpc>
              <a:spcBef>
                <a:spcPct val="0"/>
              </a:spcBef>
              <a:buFont typeface="Arial"/>
              <a:buChar char="•"/>
            </a:pPr>
            <a:r>
              <a:rPr lang="en-US" sz="2985">
                <a:solidFill>
                  <a:srgbClr val="000000"/>
                </a:solidFill>
                <a:latin typeface="Open Sans"/>
                <a:ea typeface="Open Sans"/>
                <a:cs typeface="Open Sans"/>
                <a:sym typeface="Open Sans"/>
              </a:rPr>
              <a:t>Automatic and less biased than manual methods.</a:t>
            </a:r>
          </a:p>
          <a:p>
            <a:pPr marL="644598" lvl="1" indent="-322299" algn="l">
              <a:lnSpc>
                <a:spcPts val="4179"/>
              </a:lnSpc>
              <a:spcBef>
                <a:spcPct val="0"/>
              </a:spcBef>
              <a:buFont typeface="Arial"/>
              <a:buChar char="•"/>
            </a:pPr>
            <a:r>
              <a:rPr lang="en-US" sz="2985">
                <a:solidFill>
                  <a:srgbClr val="000000"/>
                </a:solidFill>
                <a:latin typeface="Open Sans"/>
                <a:ea typeface="Open Sans"/>
                <a:cs typeface="Open Sans"/>
                <a:sym typeface="Open Sans"/>
              </a:rPr>
              <a:t>Clearly distinguishes between organic and inorganic pores.</a:t>
            </a:r>
          </a:p>
          <a:p>
            <a:pPr marL="644598" lvl="1" indent="-322299" algn="l">
              <a:lnSpc>
                <a:spcPts val="4179"/>
              </a:lnSpc>
              <a:spcBef>
                <a:spcPct val="0"/>
              </a:spcBef>
              <a:buFont typeface="Arial"/>
              <a:buChar char="•"/>
            </a:pPr>
            <a:r>
              <a:rPr lang="en-US" sz="2985">
                <a:solidFill>
                  <a:srgbClr val="000000"/>
                </a:solidFill>
                <a:latin typeface="Open Sans"/>
                <a:ea typeface="Open Sans"/>
                <a:cs typeface="Open Sans"/>
                <a:sym typeface="Open Sans"/>
              </a:rPr>
              <a:t>Useful for pore size distribution, pore volume, and reservoir quality studies.</a:t>
            </a:r>
          </a:p>
          <a:p>
            <a:pPr algn="l">
              <a:lnSpc>
                <a:spcPts val="4179"/>
              </a:lnSpc>
              <a:spcBef>
                <a:spcPct val="0"/>
              </a:spcBef>
            </a:pPr>
            <a:endParaRPr lang="en-US" sz="2985">
              <a:solidFill>
                <a:srgbClr val="000000"/>
              </a:solidFill>
              <a:latin typeface="Open Sans"/>
              <a:ea typeface="Open Sans"/>
              <a:cs typeface="Open Sans"/>
              <a:sym typeface="Open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4921901" y="2229981"/>
            <a:ext cx="8444198" cy="7028319"/>
          </a:xfrm>
          <a:custGeom>
            <a:avLst/>
            <a:gdLst/>
            <a:ahLst/>
            <a:cxnLst/>
            <a:rect l="l" t="t" r="r" b="b"/>
            <a:pathLst>
              <a:path w="8444198" h="7028319">
                <a:moveTo>
                  <a:pt x="0" y="0"/>
                </a:moveTo>
                <a:lnTo>
                  <a:pt x="8444198" y="0"/>
                </a:lnTo>
                <a:lnTo>
                  <a:pt x="8444198" y="7028319"/>
                </a:lnTo>
                <a:lnTo>
                  <a:pt x="0" y="7028319"/>
                </a:lnTo>
                <a:lnTo>
                  <a:pt x="0" y="0"/>
                </a:lnTo>
                <a:close/>
              </a:path>
            </a:pathLst>
          </a:custGeom>
          <a:blipFill>
            <a:blip r:embed="rId3"/>
            <a:stretch>
              <a:fillRect l="-40" r="-3847" b="-10541"/>
            </a:stretch>
          </a:blipFill>
        </p:spPr>
      </p:sp>
      <p:sp>
        <p:nvSpPr>
          <p:cNvPr id="14" name="TextBox 14"/>
          <p:cNvSpPr txBox="1"/>
          <p:nvPr/>
        </p:nvSpPr>
        <p:spPr>
          <a:xfrm>
            <a:off x="1998879" y="981569"/>
            <a:ext cx="5435449" cy="755017"/>
          </a:xfrm>
          <a:prstGeom prst="rect">
            <a:avLst/>
          </a:prstGeom>
        </p:spPr>
        <p:txBody>
          <a:bodyPr lIns="0" tIns="0" rIns="0" bIns="0" rtlCol="0" anchor="t">
            <a:spAutoFit/>
          </a:bodyPr>
          <a:lstStyle/>
          <a:p>
            <a:pPr algn="ctr">
              <a:lnSpc>
                <a:spcPts val="6159"/>
              </a:lnSpc>
              <a:spcBef>
                <a:spcPct val="0"/>
              </a:spcBef>
            </a:pPr>
            <a:r>
              <a:rPr lang="en-US" sz="4399" b="1">
                <a:solidFill>
                  <a:srgbClr val="000000"/>
                </a:solidFill>
                <a:latin typeface="Open Sans Bold"/>
                <a:ea typeface="Open Sans Bold"/>
                <a:cs typeface="Open Sans Bold"/>
                <a:sym typeface="Open Sans Bold"/>
              </a:rPr>
              <a:t>Roadmap for ETAP</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2372136" y="347454"/>
            <a:ext cx="8576768" cy="4796046"/>
          </a:xfrm>
          <a:custGeom>
            <a:avLst/>
            <a:gdLst/>
            <a:ahLst/>
            <a:cxnLst/>
            <a:rect l="l" t="t" r="r" b="b"/>
            <a:pathLst>
              <a:path w="8576768" h="4796046">
                <a:moveTo>
                  <a:pt x="0" y="0"/>
                </a:moveTo>
                <a:lnTo>
                  <a:pt x="8576768" y="0"/>
                </a:lnTo>
                <a:lnTo>
                  <a:pt x="8576768" y="4796046"/>
                </a:lnTo>
                <a:lnTo>
                  <a:pt x="0" y="4796046"/>
                </a:lnTo>
                <a:lnTo>
                  <a:pt x="0" y="0"/>
                </a:lnTo>
                <a:close/>
              </a:path>
            </a:pathLst>
          </a:custGeom>
          <a:blipFill>
            <a:blip r:embed="rId3"/>
            <a:stretch>
              <a:fillRect l="-3995" t="-3334" r="-1065"/>
            </a:stretch>
          </a:blipFill>
        </p:spPr>
      </p:sp>
      <p:sp>
        <p:nvSpPr>
          <p:cNvPr id="14" name="Freeform 14"/>
          <p:cNvSpPr/>
          <p:nvPr/>
        </p:nvSpPr>
        <p:spPr>
          <a:xfrm>
            <a:off x="2301223" y="4969773"/>
            <a:ext cx="8551089" cy="4660343"/>
          </a:xfrm>
          <a:custGeom>
            <a:avLst/>
            <a:gdLst/>
            <a:ahLst/>
            <a:cxnLst/>
            <a:rect l="l" t="t" r="r" b="b"/>
            <a:pathLst>
              <a:path w="8551089" h="4660343">
                <a:moveTo>
                  <a:pt x="0" y="0"/>
                </a:moveTo>
                <a:lnTo>
                  <a:pt x="8551088" y="0"/>
                </a:lnTo>
                <a:lnTo>
                  <a:pt x="8551088" y="4660343"/>
                </a:lnTo>
                <a:lnTo>
                  <a:pt x="0" y="4660343"/>
                </a:lnTo>
                <a:lnTo>
                  <a:pt x="0" y="0"/>
                </a:lnTo>
                <a:close/>
              </a:path>
            </a:pathLst>
          </a:custGeom>
          <a:blipFill>
            <a:blip r:embed="rId4"/>
            <a:stretch>
              <a:fillRect/>
            </a:stretch>
          </a:blipFill>
        </p:spPr>
      </p:sp>
      <p:sp>
        <p:nvSpPr>
          <p:cNvPr id="15" name="TextBox 15"/>
          <p:cNvSpPr txBox="1"/>
          <p:nvPr/>
        </p:nvSpPr>
        <p:spPr>
          <a:xfrm>
            <a:off x="11270735" y="4193342"/>
            <a:ext cx="3505597" cy="538862"/>
          </a:xfrm>
          <a:prstGeom prst="rect">
            <a:avLst/>
          </a:prstGeom>
        </p:spPr>
        <p:txBody>
          <a:bodyPr lIns="0" tIns="0" rIns="0" bIns="0" rtlCol="0" anchor="t">
            <a:spAutoFit/>
          </a:bodyPr>
          <a:lstStyle/>
          <a:p>
            <a:pPr algn="ctr">
              <a:lnSpc>
                <a:spcPts val="4423"/>
              </a:lnSpc>
              <a:spcBef>
                <a:spcPct val="0"/>
              </a:spcBef>
            </a:pPr>
            <a:r>
              <a:rPr lang="en-US" sz="3159" b="1">
                <a:solidFill>
                  <a:srgbClr val="000000"/>
                </a:solidFill>
                <a:latin typeface="Open Sans Bold"/>
                <a:ea typeface="Open Sans Bold"/>
                <a:cs typeface="Open Sans Bold"/>
                <a:sym typeface="Open Sans Bold"/>
              </a:rPr>
              <a:t>Porosity=2.7428%</a:t>
            </a:r>
          </a:p>
        </p:txBody>
      </p:sp>
      <p:sp>
        <p:nvSpPr>
          <p:cNvPr id="16" name="TextBox 16"/>
          <p:cNvSpPr txBox="1"/>
          <p:nvPr/>
        </p:nvSpPr>
        <p:spPr>
          <a:xfrm>
            <a:off x="11270735" y="5076825"/>
            <a:ext cx="5570141" cy="538935"/>
          </a:xfrm>
          <a:prstGeom prst="rect">
            <a:avLst/>
          </a:prstGeom>
        </p:spPr>
        <p:txBody>
          <a:bodyPr lIns="0" tIns="0" rIns="0" bIns="0" rtlCol="0" anchor="t">
            <a:spAutoFit/>
          </a:bodyPr>
          <a:lstStyle/>
          <a:p>
            <a:pPr algn="ctr">
              <a:lnSpc>
                <a:spcPts val="4419"/>
              </a:lnSpc>
              <a:spcBef>
                <a:spcPct val="0"/>
              </a:spcBef>
            </a:pPr>
            <a:r>
              <a:rPr lang="en-US" sz="3157" b="1">
                <a:solidFill>
                  <a:srgbClr val="000000"/>
                </a:solidFill>
                <a:latin typeface="Open Sans Bold"/>
                <a:ea typeface="Open Sans Bold"/>
                <a:cs typeface="Open Sans Bold"/>
                <a:sym typeface="Open Sans Bold"/>
              </a:rPr>
              <a:t>Average Pore Aspect = 1.854</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Freeform 13"/>
          <p:cNvSpPr/>
          <p:nvPr/>
        </p:nvSpPr>
        <p:spPr>
          <a:xfrm>
            <a:off x="2871858" y="1028700"/>
            <a:ext cx="12544284" cy="8337200"/>
          </a:xfrm>
          <a:custGeom>
            <a:avLst/>
            <a:gdLst/>
            <a:ahLst/>
            <a:cxnLst/>
            <a:rect l="l" t="t" r="r" b="b"/>
            <a:pathLst>
              <a:path w="12544284" h="8337200">
                <a:moveTo>
                  <a:pt x="0" y="0"/>
                </a:moveTo>
                <a:lnTo>
                  <a:pt x="12544284" y="0"/>
                </a:lnTo>
                <a:lnTo>
                  <a:pt x="12544284" y="8337200"/>
                </a:lnTo>
                <a:lnTo>
                  <a:pt x="0" y="8337200"/>
                </a:lnTo>
                <a:lnTo>
                  <a:pt x="0" y="0"/>
                </a:lnTo>
                <a:close/>
              </a:path>
            </a:pathLst>
          </a:custGeom>
          <a:blipFill>
            <a:blip r:embed="rId3"/>
            <a:stretch>
              <a:fillRect t="-122" b="-122"/>
            </a:stretch>
          </a:blipFill>
        </p:spPr>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
        <p:nvSpPr>
          <p:cNvPr id="13" name="TextBox 13"/>
          <p:cNvSpPr txBox="1"/>
          <p:nvPr/>
        </p:nvSpPr>
        <p:spPr>
          <a:xfrm>
            <a:off x="1991343" y="1046897"/>
            <a:ext cx="4294287" cy="920117"/>
          </a:xfrm>
          <a:prstGeom prst="rect">
            <a:avLst/>
          </a:prstGeom>
        </p:spPr>
        <p:txBody>
          <a:bodyPr lIns="0" tIns="0" rIns="0" bIns="0" rtlCol="0" anchor="t">
            <a:spAutoFit/>
          </a:bodyPr>
          <a:lstStyle/>
          <a:p>
            <a:pPr algn="ctr">
              <a:lnSpc>
                <a:spcPts val="7559"/>
              </a:lnSpc>
              <a:spcBef>
                <a:spcPct val="0"/>
              </a:spcBef>
            </a:pPr>
            <a:r>
              <a:rPr lang="en-US" sz="5399" b="1">
                <a:solidFill>
                  <a:srgbClr val="000000"/>
                </a:solidFill>
                <a:latin typeface="Open Sans Bold"/>
                <a:ea typeface="Open Sans Bold"/>
                <a:cs typeface="Open Sans Bold"/>
                <a:sym typeface="Open Sans Bold"/>
              </a:rPr>
              <a:t>Future Work</a:t>
            </a:r>
          </a:p>
        </p:txBody>
      </p:sp>
      <p:sp>
        <p:nvSpPr>
          <p:cNvPr id="14" name="TextBox 14"/>
          <p:cNvSpPr txBox="1"/>
          <p:nvPr/>
        </p:nvSpPr>
        <p:spPr>
          <a:xfrm>
            <a:off x="1860400" y="3300516"/>
            <a:ext cx="14570624" cy="2785745"/>
          </a:xfrm>
          <a:prstGeom prst="rect">
            <a:avLst/>
          </a:prstGeom>
        </p:spPr>
        <p:txBody>
          <a:bodyPr lIns="0" tIns="0" rIns="0" bIns="0" rtlCol="0" anchor="t">
            <a:spAutoFit/>
          </a:bodyPr>
          <a:lstStyle/>
          <a:p>
            <a:pPr marL="690881" lvl="1" indent="-345440" algn="l">
              <a:lnSpc>
                <a:spcPts val="4480"/>
              </a:lnSpc>
              <a:buFont typeface="Arial"/>
              <a:buChar char="•"/>
            </a:pPr>
            <a:r>
              <a:rPr lang="en-US" sz="3200">
                <a:solidFill>
                  <a:srgbClr val="000000"/>
                </a:solidFill>
                <a:latin typeface="Open Sans"/>
                <a:ea typeface="Open Sans"/>
                <a:cs typeface="Open Sans"/>
                <a:sym typeface="Open Sans"/>
              </a:rPr>
              <a:t>Engage with </a:t>
            </a:r>
            <a:r>
              <a:rPr lang="en-US" sz="3200" b="1">
                <a:solidFill>
                  <a:srgbClr val="000000"/>
                </a:solidFill>
                <a:latin typeface="Open Sans Bold"/>
                <a:ea typeface="Open Sans Bold"/>
                <a:cs typeface="Open Sans Bold"/>
                <a:sym typeface="Open Sans Bold"/>
              </a:rPr>
              <a:t>Dr. H. Chris Greenwell,</a:t>
            </a:r>
            <a:r>
              <a:rPr lang="en-US" sz="3200">
                <a:solidFill>
                  <a:srgbClr val="000000"/>
                </a:solidFill>
                <a:latin typeface="Open Sans"/>
                <a:ea typeface="Open Sans"/>
                <a:cs typeface="Open Sans"/>
                <a:sym typeface="Open Sans"/>
              </a:rPr>
              <a:t> co-author of the</a:t>
            </a:r>
            <a:r>
              <a:rPr lang="en-US" sz="3200" b="1">
                <a:solidFill>
                  <a:srgbClr val="000000"/>
                </a:solidFill>
                <a:latin typeface="Open Sans Bold"/>
                <a:ea typeface="Open Sans Bold"/>
                <a:cs typeface="Open Sans Bold"/>
                <a:sym typeface="Open Sans Bold"/>
              </a:rPr>
              <a:t> ETAP method</a:t>
            </a:r>
            <a:r>
              <a:rPr lang="en-US" sz="3200">
                <a:solidFill>
                  <a:srgbClr val="000000"/>
                </a:solidFill>
                <a:latin typeface="Open Sans"/>
                <a:ea typeface="Open Sans"/>
                <a:cs typeface="Open Sans"/>
                <a:sym typeface="Open Sans"/>
              </a:rPr>
              <a:t>: Reach out to discuss technical details, focusing on the observed three distinct peaks in their grayscale histogram versus our single/double peaks.</a:t>
            </a:r>
          </a:p>
          <a:p>
            <a:pPr marL="690881" lvl="1" indent="-345440" algn="l">
              <a:lnSpc>
                <a:spcPts val="4480"/>
              </a:lnSpc>
              <a:buFont typeface="Arial"/>
              <a:buChar char="•"/>
            </a:pPr>
            <a:r>
              <a:rPr lang="en-US" sz="3200">
                <a:solidFill>
                  <a:srgbClr val="000000"/>
                </a:solidFill>
                <a:latin typeface="Open Sans"/>
                <a:ea typeface="Open Sans"/>
                <a:cs typeface="Open Sans"/>
                <a:sym typeface="Open Sans"/>
              </a:rPr>
              <a:t>Developing a deep learning model to identify pores in the SEM images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718943" y="-989670"/>
            <a:ext cx="1080715" cy="2956684"/>
            <a:chOff x="0" y="0"/>
            <a:chExt cx="284633" cy="778715"/>
          </a:xfrm>
        </p:grpSpPr>
        <p:sp>
          <p:nvSpPr>
            <p:cNvPr id="3" name="Freeform 3"/>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4" name="TextBox 4"/>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529352" y="9803843"/>
            <a:ext cx="19346704" cy="821917"/>
            <a:chOff x="0" y="0"/>
            <a:chExt cx="5095428" cy="216472"/>
          </a:xfrm>
        </p:grpSpPr>
        <p:sp>
          <p:nvSpPr>
            <p:cNvPr id="6" name="Freeform 6"/>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7" name="TextBox 7"/>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9" name="Freeform 9"/>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0" name="Group 10"/>
          <p:cNvGrpSpPr/>
          <p:nvPr/>
        </p:nvGrpSpPr>
        <p:grpSpPr>
          <a:xfrm>
            <a:off x="488343" y="-989670"/>
            <a:ext cx="1080715" cy="2956684"/>
            <a:chOff x="0" y="0"/>
            <a:chExt cx="284633" cy="778715"/>
          </a:xfrm>
        </p:grpSpPr>
        <p:sp>
          <p:nvSpPr>
            <p:cNvPr id="11" name="Freeform 11"/>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2" name="TextBox 12"/>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13" name="Group 13"/>
          <p:cNvGrpSpPr/>
          <p:nvPr/>
        </p:nvGrpSpPr>
        <p:grpSpPr>
          <a:xfrm>
            <a:off x="1785986" y="2568285"/>
            <a:ext cx="14932957" cy="9572917"/>
            <a:chOff x="0" y="0"/>
            <a:chExt cx="3932960" cy="2521262"/>
          </a:xfrm>
        </p:grpSpPr>
        <p:sp>
          <p:nvSpPr>
            <p:cNvPr id="14" name="Freeform 14"/>
            <p:cNvSpPr/>
            <p:nvPr/>
          </p:nvSpPr>
          <p:spPr>
            <a:xfrm>
              <a:off x="0" y="0"/>
              <a:ext cx="3932960" cy="2521262"/>
            </a:xfrm>
            <a:custGeom>
              <a:avLst/>
              <a:gdLst/>
              <a:ahLst/>
              <a:cxnLst/>
              <a:rect l="l" t="t" r="r" b="b"/>
              <a:pathLst>
                <a:path w="3932960" h="2521262">
                  <a:moveTo>
                    <a:pt x="0" y="0"/>
                  </a:moveTo>
                  <a:lnTo>
                    <a:pt x="3932960" y="0"/>
                  </a:lnTo>
                  <a:lnTo>
                    <a:pt x="3932960" y="2521262"/>
                  </a:lnTo>
                  <a:lnTo>
                    <a:pt x="0" y="2521262"/>
                  </a:lnTo>
                  <a:close/>
                </a:path>
              </a:pathLst>
            </a:custGeom>
          </p:spPr>
        </p:sp>
        <p:sp>
          <p:nvSpPr>
            <p:cNvPr id="15" name="TextBox 15"/>
            <p:cNvSpPr txBox="1"/>
            <p:nvPr/>
          </p:nvSpPr>
          <p:spPr>
            <a:xfrm>
              <a:off x="0" y="-57150"/>
              <a:ext cx="3932960" cy="2578412"/>
            </a:xfrm>
            <a:prstGeom prst="rect">
              <a:avLst/>
            </a:prstGeom>
          </p:spPr>
          <p:txBody>
            <a:bodyPr lIns="50800" tIns="50800" rIns="50800" bIns="50800" rtlCol="0" anchor="ctr"/>
            <a:lstStyle/>
            <a:p>
              <a:pPr algn="l">
                <a:lnSpc>
                  <a:spcPts val="3919"/>
                </a:lnSpc>
              </a:pPr>
              <a:r>
                <a:rPr lang="en-US" sz="2799">
                  <a:solidFill>
                    <a:srgbClr val="000000"/>
                  </a:solidFill>
                  <a:latin typeface="Open Sans"/>
                  <a:ea typeface="Open Sans"/>
                  <a:cs typeface="Open Sans"/>
                  <a:sym typeface="Open Sans"/>
                </a:rPr>
                <a:t>Hall, B., 2016. Facies classification using machine learning. Lead. Edge 35 (10),  https://doi.org/10.1190/tle35100906.1.</a:t>
              </a:r>
            </a:p>
            <a:p>
              <a:pPr algn="l">
                <a:lnSpc>
                  <a:spcPts val="3919"/>
                </a:lnSpc>
              </a:pPr>
              <a:endParaRPr lang="en-US" sz="2799">
                <a:solidFill>
                  <a:srgbClr val="000000"/>
                </a:solidFill>
                <a:latin typeface="Open Sans"/>
                <a:ea typeface="Open Sans"/>
                <a:cs typeface="Open Sans"/>
                <a:sym typeface="Open Sans"/>
              </a:endParaRPr>
            </a:p>
            <a:p>
              <a:pPr algn="l">
                <a:lnSpc>
                  <a:spcPts val="3919"/>
                </a:lnSpc>
              </a:pPr>
              <a:r>
                <a:rPr lang="en-US" sz="2799">
                  <a:solidFill>
                    <a:srgbClr val="000000"/>
                  </a:solidFill>
                  <a:latin typeface="Open Sans"/>
                  <a:ea typeface="Open Sans"/>
                  <a:cs typeface="Open Sans"/>
                  <a:sym typeface="Open Sans"/>
                </a:rPr>
                <a:t>https://library.seg.org/doi/pdf/10.1190/tle35100906.1</a:t>
              </a:r>
            </a:p>
            <a:p>
              <a:pPr algn="l">
                <a:lnSpc>
                  <a:spcPts val="3919"/>
                </a:lnSpc>
              </a:pPr>
              <a:endParaRPr lang="en-US" sz="2799">
                <a:solidFill>
                  <a:srgbClr val="000000"/>
                </a:solidFill>
                <a:latin typeface="Open Sans"/>
                <a:ea typeface="Open Sans"/>
                <a:cs typeface="Open Sans"/>
                <a:sym typeface="Open Sans"/>
              </a:endParaRPr>
            </a:p>
            <a:p>
              <a:pPr algn="l">
                <a:lnSpc>
                  <a:spcPts val="3919"/>
                </a:lnSpc>
              </a:pPr>
              <a:r>
                <a:rPr lang="en-US" sz="2799">
                  <a:solidFill>
                    <a:srgbClr val="000000"/>
                  </a:solidFill>
                  <a:latin typeface="Open Sans"/>
                  <a:ea typeface="Open Sans"/>
                  <a:cs typeface="Open Sans"/>
                  <a:sym typeface="Open Sans"/>
                </a:rPr>
                <a:t>Babai, Anas Mohamed Abaker, Olugbenga Ajayi Ehinola, and Jing-Hua He. "Clastic facies classification using machine learning-based algorithms: A case study from Rawat Basin, Sudan." Energy Geoscience (2025): 100353. Published by KeAi Communications Co., Ltd</a:t>
              </a:r>
            </a:p>
            <a:p>
              <a:pPr algn="l">
                <a:lnSpc>
                  <a:spcPts val="3919"/>
                </a:lnSpc>
              </a:pPr>
              <a:endParaRPr lang="en-US" sz="2799">
                <a:solidFill>
                  <a:srgbClr val="000000"/>
                </a:solidFill>
                <a:latin typeface="Open Sans"/>
                <a:ea typeface="Open Sans"/>
                <a:cs typeface="Open Sans"/>
                <a:sym typeface="Open Sans"/>
              </a:endParaRPr>
            </a:p>
            <a:p>
              <a:pPr algn="l">
                <a:lnSpc>
                  <a:spcPts val="3919"/>
                </a:lnSpc>
              </a:pPr>
              <a:r>
                <a:rPr lang="en-US" sz="2799">
                  <a:solidFill>
                    <a:srgbClr val="000000"/>
                  </a:solidFill>
                  <a:latin typeface="Open Sans"/>
                  <a:ea typeface="Open Sans"/>
                  <a:cs typeface="Open Sans"/>
                  <a:sym typeface="Open Sans"/>
                </a:rPr>
                <a:t>Tian, Shansi, Leon Bowen, Bo Liu, Fang Zeng, Haitao Xue, Valentina Erastova, H. Chris Greenwell, Zhentao Dong, Rixin Zhao, and Jinzhong Liu. 2025. “A Method for Automatic Shale Porosity Quantification Using an Edge-Threshold Automatic Processing (ETAP) Technique.”</a:t>
              </a:r>
            </a:p>
            <a:p>
              <a:pPr algn="l">
                <a:lnSpc>
                  <a:spcPts val="3919"/>
                </a:lnSpc>
              </a:pPr>
              <a:endParaRPr lang="en-US" sz="2799">
                <a:solidFill>
                  <a:srgbClr val="000000"/>
                </a:solidFill>
                <a:latin typeface="Open Sans"/>
                <a:ea typeface="Open Sans"/>
                <a:cs typeface="Open Sans"/>
                <a:sym typeface="Open Sans"/>
              </a:endParaRPr>
            </a:p>
            <a:p>
              <a:pPr algn="l">
                <a:lnSpc>
                  <a:spcPts val="3919"/>
                </a:lnSpc>
              </a:pPr>
              <a:endParaRPr lang="en-US" sz="2799">
                <a:solidFill>
                  <a:srgbClr val="000000"/>
                </a:solidFill>
                <a:latin typeface="Open Sans"/>
                <a:ea typeface="Open Sans"/>
                <a:cs typeface="Open Sans"/>
                <a:sym typeface="Open Sans"/>
              </a:endParaRPr>
            </a:p>
            <a:p>
              <a:pPr algn="l">
                <a:lnSpc>
                  <a:spcPts val="3919"/>
                </a:lnSpc>
              </a:pPr>
              <a:endParaRPr lang="en-US" sz="2799">
                <a:solidFill>
                  <a:srgbClr val="000000"/>
                </a:solidFill>
                <a:latin typeface="Open Sans"/>
                <a:ea typeface="Open Sans"/>
                <a:cs typeface="Open Sans"/>
                <a:sym typeface="Open Sans"/>
              </a:endParaRPr>
            </a:p>
            <a:p>
              <a:pPr algn="l">
                <a:lnSpc>
                  <a:spcPts val="3919"/>
                </a:lnSpc>
              </a:pPr>
              <a:endParaRPr lang="en-US" sz="2799">
                <a:solidFill>
                  <a:srgbClr val="000000"/>
                </a:solidFill>
                <a:latin typeface="Open Sans"/>
                <a:ea typeface="Open Sans"/>
                <a:cs typeface="Open Sans"/>
                <a:sym typeface="Open Sans"/>
              </a:endParaRPr>
            </a:p>
            <a:p>
              <a:pPr algn="l">
                <a:lnSpc>
                  <a:spcPts val="3919"/>
                </a:lnSpc>
              </a:pPr>
              <a:endParaRPr lang="en-US" sz="2799">
                <a:solidFill>
                  <a:srgbClr val="000000"/>
                </a:solidFill>
                <a:latin typeface="Open Sans"/>
                <a:ea typeface="Open Sans"/>
                <a:cs typeface="Open Sans"/>
                <a:sym typeface="Open Sans"/>
              </a:endParaRPr>
            </a:p>
            <a:p>
              <a:pPr algn="l">
                <a:lnSpc>
                  <a:spcPts val="3919"/>
                </a:lnSpc>
              </a:pPr>
              <a:endParaRPr lang="en-US" sz="2799">
                <a:solidFill>
                  <a:srgbClr val="000000"/>
                </a:solidFill>
                <a:latin typeface="Open Sans"/>
                <a:ea typeface="Open Sans"/>
                <a:cs typeface="Open Sans"/>
                <a:sym typeface="Open Sans"/>
              </a:endParaRPr>
            </a:p>
          </p:txBody>
        </p:sp>
      </p:grpSp>
      <p:sp>
        <p:nvSpPr>
          <p:cNvPr id="16" name="TextBox 16"/>
          <p:cNvSpPr txBox="1"/>
          <p:nvPr/>
        </p:nvSpPr>
        <p:spPr>
          <a:xfrm>
            <a:off x="1785986" y="1082433"/>
            <a:ext cx="9956031" cy="903554"/>
          </a:xfrm>
          <a:prstGeom prst="rect">
            <a:avLst/>
          </a:prstGeom>
        </p:spPr>
        <p:txBody>
          <a:bodyPr lIns="0" tIns="0" rIns="0" bIns="0" rtlCol="0" anchor="t">
            <a:spAutoFit/>
          </a:bodyPr>
          <a:lstStyle/>
          <a:p>
            <a:pPr algn="l">
              <a:lnSpc>
                <a:spcPts val="7422"/>
              </a:lnSpc>
            </a:pPr>
            <a:r>
              <a:rPr lang="en-US" sz="5301" b="1">
                <a:solidFill>
                  <a:srgbClr val="7A7A7C"/>
                </a:solidFill>
                <a:latin typeface="Century Gothic Paneuropean Bold"/>
                <a:ea typeface="Century Gothic Paneuropean Bold"/>
                <a:cs typeface="Century Gothic Paneuropean Bold"/>
                <a:sym typeface="Century Gothic Paneuropean Bold"/>
              </a:rPr>
              <a:t>REFERENCES</a:t>
            </a:r>
          </a:p>
        </p:txBody>
      </p:sp>
      <p:sp>
        <p:nvSpPr>
          <p:cNvPr id="17" name="TextBox 17"/>
          <p:cNvSpPr txBox="1"/>
          <p:nvPr/>
        </p:nvSpPr>
        <p:spPr>
          <a:xfrm>
            <a:off x="9042896" y="4962842"/>
            <a:ext cx="202208" cy="323215"/>
          </a:xfrm>
          <a:prstGeom prst="rect">
            <a:avLst/>
          </a:prstGeom>
        </p:spPr>
        <p:txBody>
          <a:bodyPr lIns="0" tIns="0" rIns="0" bIns="0" rtlCol="0" anchor="t">
            <a:spAutoFit/>
          </a:bodyPr>
          <a:lstStyle/>
          <a:p>
            <a:pPr algn="ctr">
              <a:lnSpc>
                <a:spcPts val="2659"/>
              </a:lnSpc>
              <a:spcBef>
                <a:spcPct val="0"/>
              </a:spcBef>
            </a:pPr>
            <a:r>
              <a:rPr lang="en-US" sz="1899">
                <a:solidFill>
                  <a:srgbClr val="7A7A7C"/>
                </a:solidFill>
                <a:latin typeface="Open Sans"/>
                <a:ea typeface="Open Sans"/>
                <a:cs typeface="Open Sans"/>
                <a:sym typeface="Open Sans"/>
              </a:rPr>
              <a:t>1.</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2950481" y="4013348"/>
            <a:ext cx="12387037" cy="2031703"/>
          </a:xfrm>
          <a:prstGeom prst="rect">
            <a:avLst/>
          </a:prstGeom>
        </p:spPr>
        <p:txBody>
          <a:bodyPr lIns="0" tIns="0" rIns="0" bIns="0" rtlCol="0" anchor="t">
            <a:spAutoFit/>
          </a:bodyPr>
          <a:lstStyle/>
          <a:p>
            <a:pPr algn="ctr">
              <a:lnSpc>
                <a:spcPts val="16641"/>
              </a:lnSpc>
            </a:pPr>
            <a:r>
              <a:rPr lang="en-US" sz="11886" b="1">
                <a:solidFill>
                  <a:srgbClr val="000000"/>
                </a:solidFill>
                <a:latin typeface="Century Gothic Paneuropean Bold"/>
                <a:ea typeface="Century Gothic Paneuropean Bold"/>
                <a:cs typeface="Century Gothic Paneuropean Bold"/>
                <a:sym typeface="Century Gothic Paneuropean Bold"/>
              </a:rPr>
              <a:t>THANK YOU</a:t>
            </a:r>
          </a:p>
        </p:txBody>
      </p:sp>
      <p:grpSp>
        <p:nvGrpSpPr>
          <p:cNvPr id="3" name="Group 3"/>
          <p:cNvGrpSpPr/>
          <p:nvPr/>
        </p:nvGrpSpPr>
        <p:grpSpPr>
          <a:xfrm>
            <a:off x="16718943" y="-989670"/>
            <a:ext cx="1080715" cy="2956684"/>
            <a:chOff x="0" y="0"/>
            <a:chExt cx="284633" cy="778715"/>
          </a:xfrm>
        </p:grpSpPr>
        <p:sp>
          <p:nvSpPr>
            <p:cNvPr id="4" name="Freeform 4"/>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5" name="TextBox 5"/>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p:cNvGrpSpPr/>
          <p:nvPr/>
        </p:nvGrpSpPr>
        <p:grpSpPr>
          <a:xfrm>
            <a:off x="-529352" y="9803843"/>
            <a:ext cx="19346704" cy="821917"/>
            <a:chOff x="0" y="0"/>
            <a:chExt cx="5095428" cy="216472"/>
          </a:xfrm>
        </p:grpSpPr>
        <p:sp>
          <p:nvSpPr>
            <p:cNvPr id="7" name="Freeform 7"/>
            <p:cNvSpPr/>
            <p:nvPr/>
          </p:nvSpPr>
          <p:spPr>
            <a:xfrm>
              <a:off x="0" y="0"/>
              <a:ext cx="5095428" cy="216472"/>
            </a:xfrm>
            <a:custGeom>
              <a:avLst/>
              <a:gdLst/>
              <a:ahLst/>
              <a:cxnLst/>
              <a:rect l="l" t="t" r="r" b="b"/>
              <a:pathLst>
                <a:path w="5095428" h="216472">
                  <a:moveTo>
                    <a:pt x="20409" y="0"/>
                  </a:moveTo>
                  <a:lnTo>
                    <a:pt x="5075020" y="0"/>
                  </a:lnTo>
                  <a:cubicBezTo>
                    <a:pt x="5086291" y="0"/>
                    <a:pt x="5095428" y="9137"/>
                    <a:pt x="5095428" y="20409"/>
                  </a:cubicBezTo>
                  <a:lnTo>
                    <a:pt x="5095428" y="196063"/>
                  </a:lnTo>
                  <a:cubicBezTo>
                    <a:pt x="5095428" y="201476"/>
                    <a:pt x="5093278" y="206667"/>
                    <a:pt x="5089451" y="210494"/>
                  </a:cubicBezTo>
                  <a:cubicBezTo>
                    <a:pt x="5085623" y="214322"/>
                    <a:pt x="5080432" y="216472"/>
                    <a:pt x="5075020" y="216472"/>
                  </a:cubicBezTo>
                  <a:lnTo>
                    <a:pt x="20409" y="216472"/>
                  </a:lnTo>
                  <a:cubicBezTo>
                    <a:pt x="14996" y="216472"/>
                    <a:pt x="9805" y="214322"/>
                    <a:pt x="5978" y="210494"/>
                  </a:cubicBezTo>
                  <a:cubicBezTo>
                    <a:pt x="2150" y="206667"/>
                    <a:pt x="0" y="201476"/>
                    <a:pt x="0" y="196063"/>
                  </a:cubicBezTo>
                  <a:lnTo>
                    <a:pt x="0" y="20409"/>
                  </a:lnTo>
                  <a:cubicBezTo>
                    <a:pt x="0" y="14996"/>
                    <a:pt x="2150" y="9805"/>
                    <a:pt x="5978" y="5978"/>
                  </a:cubicBezTo>
                  <a:cubicBezTo>
                    <a:pt x="9805" y="2150"/>
                    <a:pt x="14996" y="0"/>
                    <a:pt x="20409" y="0"/>
                  </a:cubicBezTo>
                  <a:close/>
                </a:path>
              </a:pathLst>
            </a:custGeom>
            <a:solidFill>
              <a:srgbClr val="FAE7BC"/>
            </a:solidFill>
            <a:ln w="85725" cap="rnd">
              <a:solidFill>
                <a:srgbClr val="000000"/>
              </a:solidFill>
              <a:prstDash val="solid"/>
              <a:round/>
            </a:ln>
          </p:spPr>
        </p:sp>
        <p:sp>
          <p:nvSpPr>
            <p:cNvPr id="8" name="TextBox 8"/>
            <p:cNvSpPr txBox="1"/>
            <p:nvPr/>
          </p:nvSpPr>
          <p:spPr>
            <a:xfrm>
              <a:off x="0" y="-38100"/>
              <a:ext cx="5095428" cy="254572"/>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flipH="1">
            <a:off x="17259300" y="3085173"/>
            <a:ext cx="4518707" cy="3939865"/>
          </a:xfrm>
          <a:custGeom>
            <a:avLst/>
            <a:gdLst/>
            <a:ahLst/>
            <a:cxnLst/>
            <a:rect l="l" t="t" r="r" b="b"/>
            <a:pathLst>
              <a:path w="4518707" h="3939865">
                <a:moveTo>
                  <a:pt x="4518707" y="0"/>
                </a:moveTo>
                <a:lnTo>
                  <a:pt x="0" y="0"/>
                </a:lnTo>
                <a:lnTo>
                  <a:pt x="0" y="3939864"/>
                </a:lnTo>
                <a:lnTo>
                  <a:pt x="4518707" y="3939864"/>
                </a:lnTo>
                <a:lnTo>
                  <a:pt x="4518707" y="0"/>
                </a:lnTo>
                <a:close/>
              </a:path>
            </a:pathLst>
          </a:custGeom>
          <a:blipFill>
            <a:blip>
              <a:extLst>
                <a:ext uri="{96DAC541-7B7A-43D3-8B79-37D633B846F1}">
                  <asvg:svgBlip xmlns:asvg="http://schemas.microsoft.com/office/drawing/2016/SVG/main" r:embed="rId2"/>
                </a:ext>
              </a:extLst>
            </a:blip>
            <a:stretch>
              <a:fillRect/>
            </a:stretch>
          </a:blipFill>
        </p:spPr>
      </p:sp>
      <p:sp>
        <p:nvSpPr>
          <p:cNvPr id="10" name="Freeform 10"/>
          <p:cNvSpPr/>
          <p:nvPr/>
        </p:nvSpPr>
        <p:spPr>
          <a:xfrm>
            <a:off x="-3486583" y="3085173"/>
            <a:ext cx="4518707" cy="3939865"/>
          </a:xfrm>
          <a:custGeom>
            <a:avLst/>
            <a:gdLst/>
            <a:ahLst/>
            <a:cxnLst/>
            <a:rect l="l" t="t" r="r" b="b"/>
            <a:pathLst>
              <a:path w="4518707" h="3939865">
                <a:moveTo>
                  <a:pt x="0" y="0"/>
                </a:moveTo>
                <a:lnTo>
                  <a:pt x="4518707" y="0"/>
                </a:lnTo>
                <a:lnTo>
                  <a:pt x="4518707" y="3939864"/>
                </a:lnTo>
                <a:lnTo>
                  <a:pt x="0" y="3939864"/>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488343" y="-989670"/>
            <a:ext cx="1080715" cy="2956684"/>
            <a:chOff x="0" y="0"/>
            <a:chExt cx="284633" cy="778715"/>
          </a:xfrm>
        </p:grpSpPr>
        <p:sp>
          <p:nvSpPr>
            <p:cNvPr id="12" name="Freeform 12"/>
            <p:cNvSpPr/>
            <p:nvPr/>
          </p:nvSpPr>
          <p:spPr>
            <a:xfrm>
              <a:off x="0" y="0"/>
              <a:ext cx="284633" cy="778715"/>
            </a:xfrm>
            <a:custGeom>
              <a:avLst/>
              <a:gdLst/>
              <a:ahLst/>
              <a:cxnLst/>
              <a:rect l="l" t="t" r="r" b="b"/>
              <a:pathLst>
                <a:path w="284633" h="778715">
                  <a:moveTo>
                    <a:pt x="142316" y="0"/>
                  </a:moveTo>
                  <a:lnTo>
                    <a:pt x="142316" y="0"/>
                  </a:lnTo>
                  <a:cubicBezTo>
                    <a:pt x="220916" y="0"/>
                    <a:pt x="284633" y="63717"/>
                    <a:pt x="284633" y="142316"/>
                  </a:cubicBezTo>
                  <a:lnTo>
                    <a:pt x="284633" y="636399"/>
                  </a:lnTo>
                  <a:cubicBezTo>
                    <a:pt x="284633" y="714998"/>
                    <a:pt x="220916" y="778715"/>
                    <a:pt x="142316" y="778715"/>
                  </a:cubicBezTo>
                  <a:lnTo>
                    <a:pt x="142316" y="778715"/>
                  </a:lnTo>
                  <a:cubicBezTo>
                    <a:pt x="63717" y="778715"/>
                    <a:pt x="0" y="714998"/>
                    <a:pt x="0" y="636399"/>
                  </a:cubicBezTo>
                  <a:lnTo>
                    <a:pt x="0" y="142316"/>
                  </a:lnTo>
                  <a:cubicBezTo>
                    <a:pt x="0" y="63717"/>
                    <a:pt x="63717" y="0"/>
                    <a:pt x="142316" y="0"/>
                  </a:cubicBezTo>
                  <a:close/>
                </a:path>
              </a:pathLst>
            </a:custGeom>
            <a:solidFill>
              <a:srgbClr val="FAE7BC"/>
            </a:solidFill>
          </p:spPr>
        </p:sp>
        <p:sp>
          <p:nvSpPr>
            <p:cNvPr id="13" name="TextBox 13"/>
            <p:cNvSpPr txBox="1"/>
            <p:nvPr/>
          </p:nvSpPr>
          <p:spPr>
            <a:xfrm>
              <a:off x="0" y="-38100"/>
              <a:ext cx="284633" cy="816815"/>
            </a:xfrm>
            <a:prstGeom prst="rect">
              <a:avLst/>
            </a:prstGeom>
          </p:spPr>
          <p:txBody>
            <a:bodyPr lIns="50800" tIns="50800" rIns="50800" bIns="50800" rtlCol="0" anchor="ctr"/>
            <a:lstStyle/>
            <a:p>
              <a:pPr algn="ctr">
                <a:lnSpc>
                  <a:spcPts val="2659"/>
                </a:lnSpc>
                <a:spcBef>
                  <a:spcPct val="0"/>
                </a:spcBef>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2080</Words>
  <Application>Microsoft Office PowerPoint</Application>
  <PresentationFormat>Custom</PresentationFormat>
  <Paragraphs>411</Paragraphs>
  <Slides>63</Slides>
  <Notes>0</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63</vt:i4>
      </vt:variant>
    </vt:vector>
  </HeadingPairs>
  <TitlesOfParts>
    <vt:vector size="74" baseType="lpstr">
      <vt:lpstr>Arial</vt:lpstr>
      <vt:lpstr>Canva Sans</vt:lpstr>
      <vt:lpstr>League Spartan</vt:lpstr>
      <vt:lpstr>Open Sans</vt:lpstr>
      <vt:lpstr>Century Gothic Paneuropean</vt:lpstr>
      <vt:lpstr>Open Sans Bold</vt:lpstr>
      <vt:lpstr>Calibri</vt:lpstr>
      <vt:lpstr>Century Gothic Paneuropean Bold</vt:lpstr>
      <vt:lpstr>Arimo</vt:lpstr>
      <vt:lpstr>Arimo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Facies classification</dc:title>
  <cp:lastModifiedBy>Sameer Modi</cp:lastModifiedBy>
  <cp:revision>2</cp:revision>
  <dcterms:created xsi:type="dcterms:W3CDTF">2006-08-16T00:00:00Z</dcterms:created>
  <dcterms:modified xsi:type="dcterms:W3CDTF">2026-06-08T07:54:49Z</dcterms:modified>
  <dc:identifier>DAGrQU367tE</dc:identifier>
</cp:coreProperties>
</file>